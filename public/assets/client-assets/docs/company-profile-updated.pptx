
<file path=[Content_Types].xml><?xml version="1.0" encoding="utf-8"?>
<Types xmlns="http://schemas.openxmlformats.org/package/2006/content-types">
  <Default Extension="png" ContentType="image/png"/>
  <Default Extension="svg" ContentType="image/svg+xml"/>
  <Default Extension="wmf" ContentType="image/x-wmf"/>
  <Default Extension="emf" ContentType="image/x-emf"/>
  <Default Extension="jpeg" ContentType="image/jpeg"/>
  <Default Extension="webp" ContentType="image/pn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57" r:id="rId4"/>
    <p:sldId id="258" r:id="rId5"/>
    <p:sldId id="266" r:id="rId6"/>
    <p:sldId id="267" r:id="rId7"/>
    <p:sldId id="259" r:id="rId8"/>
    <p:sldId id="260" r:id="rId9"/>
    <p:sldId id="268" r:id="rId10"/>
    <p:sldId id="275" r:id="rId11"/>
    <p:sldId id="276" r:id="rId12"/>
    <p:sldId id="270" r:id="rId13"/>
    <p:sldId id="263" r:id="rId14"/>
    <p:sldId id="265" r:id="rId15"/>
    <p:sldId id="261" r:id="rId16"/>
    <p:sldId id="271" r:id="rId17"/>
    <p:sldId id="272" r:id="rId18"/>
    <p:sldId id="273" r:id="rId19"/>
    <p:sldId id="274" r:id="rId20"/>
    <p:sldId id="269" r:id="rId21"/>
    <p:sldId id="26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6" d="100"/>
          <a:sy n="116" d="100"/>
        </p:scale>
        <p:origin x="39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0"/>
    <c:plotArea>
      <c:layout>
        <c:manualLayout>
          <c:layoutTarget val="inner"/>
          <c:xMode val="edge"/>
          <c:yMode val="edge"/>
          <c:x val="7.7548771847149187E-2"/>
          <c:y val="6.6681146152504783E-2"/>
          <c:w val="0.78562819317252219"/>
          <c:h val="0.75248097426699545"/>
        </c:manualLayout>
      </c:layout>
      <c:barChart>
        <c:barDir val="col"/>
        <c:grouping val="clustered"/>
        <c:varyColors val="0"/>
        <c:ser>
          <c:idx val="0"/>
          <c:order val="0"/>
          <c:tx>
            <c:strRef>
              <c:f>Sheet1!$D$1</c:f>
              <c:strCache>
                <c:ptCount val="1"/>
                <c:pt idx="0">
                  <c:v>Plan</c:v>
                </c:pt>
              </c:strCache>
            </c:strRef>
          </c:tx>
          <c:spPr>
            <a:solidFill>
              <a:schemeClr val="accent5">
                <a:lumMod val="75000"/>
              </a:schemeClr>
            </a:solidFill>
            <a:ln>
              <a:noFill/>
            </a:ln>
            <a:effectLst>
              <a:outerShdw blurRad="57150" dist="19050" dir="5400000" algn="ctr" rotWithShape="0">
                <a:srgbClr val="000000">
                  <a:alpha val="63000"/>
                </a:srgbClr>
              </a:outerShdw>
            </a:effectLst>
          </c:spPr>
          <c:invertIfNegative val="0"/>
          <c:dLbls>
            <c:dLbl>
              <c:idx val="0"/>
              <c:layout/>
              <c:tx>
                <c:rich>
                  <a:bodyPr/>
                  <a:lstStyle/>
                  <a:p>
                    <a:r>
                      <a:rPr lang="en-US" dirty="0"/>
                      <a:t>4 C</a:t>
                    </a:r>
                    <a:r>
                      <a:rPr lang="en-US" dirty="0" smtClean="0"/>
                      <a:t>r</a:t>
                    </a:r>
                    <a:endParaRPr lang="en-US" dirty="0"/>
                  </a:p>
                </c:rich>
              </c:tx>
              <c:showLegendKey val="0"/>
              <c:showVal val="1"/>
              <c:showCatName val="0"/>
              <c:showSerName val="1"/>
              <c:showPercent val="0"/>
              <c:showBubbleSize val="0"/>
              <c:extLst xmlns:c16r2="http://schemas.microsoft.com/office/drawing/2015/06/chart">
                <c:ext xmlns:c16="http://schemas.microsoft.com/office/drawing/2014/chart" uri="{C3380CC4-5D6E-409C-BE32-E72D297353CC}">
                  <c16:uniqueId val="{00000000-75A0-4348-8635-DD83963E526E}"/>
                </c:ext>
                <c:ext xmlns:c15="http://schemas.microsoft.com/office/drawing/2012/chart" uri="{CE6537A1-D6FC-4f65-9D91-7224C49458BB}">
                  <c15:layout/>
                </c:ext>
              </c:extLst>
            </c:dLbl>
            <c:dLbl>
              <c:idx val="1"/>
              <c:layout/>
              <c:tx>
                <c:rich>
                  <a:bodyPr/>
                  <a:lstStyle/>
                  <a:p>
                    <a:r>
                      <a:rPr lang="en-US" dirty="0"/>
                      <a:t>5 C</a:t>
                    </a:r>
                    <a:r>
                      <a:rPr lang="en-US" dirty="0" smtClean="0"/>
                      <a:t>r</a:t>
                    </a:r>
                    <a:endParaRPr lang="en-US" dirty="0"/>
                  </a:p>
                </c:rich>
              </c:tx>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75A0-4348-8635-DD83963E526E}"/>
                </c:ext>
                <c:ext xmlns:c15="http://schemas.microsoft.com/office/drawing/2012/chart" uri="{CE6537A1-D6FC-4f65-9D91-7224C49458BB}">
                  <c15:layout/>
                </c:ext>
              </c:extLst>
            </c:dLbl>
            <c:dLbl>
              <c:idx val="2"/>
              <c:layout/>
              <c:tx>
                <c:rich>
                  <a:bodyPr/>
                  <a:lstStyle/>
                  <a:p>
                    <a:r>
                      <a:rPr lang="en-US" dirty="0"/>
                      <a:t>6 C</a:t>
                    </a:r>
                    <a:r>
                      <a:rPr lang="en-US" dirty="0" smtClean="0"/>
                      <a:t>r</a:t>
                    </a:r>
                    <a:endParaRPr lang="en-US" dirty="0"/>
                  </a:p>
                </c:rich>
              </c:tx>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2-75A0-4348-8635-DD83963E526E}"/>
                </c:ext>
                <c:ext xmlns:c15="http://schemas.microsoft.com/office/drawing/2012/chart" uri="{CE6537A1-D6FC-4f65-9D91-7224C49458BB}">
                  <c15:layout/>
                </c:ext>
              </c:extLst>
            </c:dLbl>
            <c:dLbl>
              <c:idx val="3"/>
              <c:layout>
                <c:manualLayout>
                  <c:x val="-9.6585698425905796E-17"/>
                  <c:y val="0"/>
                </c:manualLayout>
              </c:layout>
              <c:tx>
                <c:rich>
                  <a:bodyPr/>
                  <a:lstStyle/>
                  <a:p>
                    <a:fld id="{53509B6F-D426-4D85-80BA-49ECA2E2C037}" type="VALUE">
                      <a:rPr lang="en-US" smtClean="0"/>
                      <a:pPr/>
                      <a:t>[VALUE]</a:t>
                    </a:fld>
                    <a:r>
                      <a:rPr lang="en-US" dirty="0" smtClean="0"/>
                      <a:t> Cr</a:t>
                    </a:r>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Lst>
            </c:dLbl>
            <c:dLbl>
              <c:idx val="4"/>
              <c:layout/>
              <c:tx>
                <c:rich>
                  <a:bodyPr/>
                  <a:lstStyle/>
                  <a:p>
                    <a:r>
                      <a:rPr lang="en-US" dirty="0" smtClean="0"/>
                      <a:t>12 Cr</a:t>
                    </a:r>
                    <a:endParaRPr lang="en-US" dirty="0"/>
                  </a:p>
                </c:rich>
              </c:tx>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75A0-4348-8635-DD83963E526E}"/>
                </c:ex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Sheet1!$C$2:$C$7</c:f>
              <c:strCache>
                <c:ptCount val="6"/>
                <c:pt idx="0">
                  <c:v>2021-22</c:v>
                </c:pt>
                <c:pt idx="1">
                  <c:v>2022-23</c:v>
                </c:pt>
                <c:pt idx="2">
                  <c:v>2023-24</c:v>
                </c:pt>
                <c:pt idx="3">
                  <c:v>2024-25</c:v>
                </c:pt>
                <c:pt idx="4">
                  <c:v>2025-26</c:v>
                </c:pt>
                <c:pt idx="5">
                  <c:v>2026-27</c:v>
                </c:pt>
              </c:strCache>
            </c:strRef>
          </c:cat>
          <c:val>
            <c:numRef>
              <c:f>Sheet1!$D$2:$D$7</c:f>
              <c:numCache>
                <c:formatCode>General</c:formatCode>
                <c:ptCount val="6"/>
                <c:pt idx="0">
                  <c:v>4</c:v>
                </c:pt>
                <c:pt idx="1">
                  <c:v>5</c:v>
                </c:pt>
                <c:pt idx="2">
                  <c:v>6</c:v>
                </c:pt>
                <c:pt idx="3">
                  <c:v>8</c:v>
                </c:pt>
                <c:pt idx="4">
                  <c:v>12</c:v>
                </c:pt>
                <c:pt idx="5">
                  <c:v>15</c:v>
                </c:pt>
              </c:numCache>
            </c:numRef>
          </c:val>
          <c:extLst xmlns:c16r2="http://schemas.microsoft.com/office/drawing/2015/06/chart">
            <c:ext xmlns:c16="http://schemas.microsoft.com/office/drawing/2014/chart" uri="{C3380CC4-5D6E-409C-BE32-E72D297353CC}">
              <c16:uniqueId val="{00000004-75A0-4348-8635-DD83963E526E}"/>
            </c:ext>
          </c:extLst>
        </c:ser>
        <c:ser>
          <c:idx val="1"/>
          <c:order val="1"/>
          <c:tx>
            <c:strRef>
              <c:f>Sheet1!$E$1</c:f>
              <c:strCache>
                <c:ptCount val="1"/>
                <c:pt idx="0">
                  <c:v>Actual</c:v>
                </c:pt>
              </c:strCache>
            </c:strRef>
          </c:tx>
          <c:spPr>
            <a:gradFill rotWithShape="1">
              <a:gsLst>
                <a:gs pos="0">
                  <a:schemeClr val="accent6">
                    <a:tint val="77000"/>
                    <a:satMod val="103000"/>
                    <a:lumMod val="102000"/>
                    <a:tint val="94000"/>
                  </a:schemeClr>
                </a:gs>
                <a:gs pos="50000">
                  <a:schemeClr val="accent6">
                    <a:tint val="77000"/>
                    <a:satMod val="110000"/>
                    <a:lumMod val="100000"/>
                    <a:shade val="100000"/>
                  </a:schemeClr>
                </a:gs>
                <a:gs pos="100000">
                  <a:schemeClr val="accent6">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layout>
                <c:manualLayout>
                  <c:x val="3.9046309424960565E-3"/>
                  <c:y val="8.4614173228346537E-3"/>
                </c:manualLayout>
              </c:layout>
              <c:tx>
                <c:rich>
                  <a:bodyPr/>
                  <a:lstStyle/>
                  <a:p>
                    <a:r>
                      <a:rPr lang="en-US" dirty="0"/>
                      <a:t>3.6 C</a:t>
                    </a:r>
                    <a:r>
                      <a:rPr lang="en-US" dirty="0" smtClean="0"/>
                      <a:t>r</a:t>
                    </a:r>
                    <a:endParaRPr lang="en-US" dirty="0"/>
                  </a:p>
                </c:rich>
              </c:tx>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75A0-4348-8635-DD83963E526E}"/>
                </c:ext>
                <c:ext xmlns:c15="http://schemas.microsoft.com/office/drawing/2012/chart" uri="{CE6537A1-D6FC-4f65-9D91-7224C49458BB}">
                  <c15:layout/>
                </c:ext>
              </c:extLst>
            </c:dLbl>
            <c:dLbl>
              <c:idx val="1"/>
              <c:layout/>
              <c:tx>
                <c:rich>
                  <a:bodyPr/>
                  <a:lstStyle/>
                  <a:p>
                    <a:r>
                      <a:rPr lang="en-US" dirty="0"/>
                      <a:t>4.4 C</a:t>
                    </a:r>
                    <a:r>
                      <a:rPr lang="en-US" dirty="0" smtClean="0"/>
                      <a:t>r</a:t>
                    </a:r>
                    <a:endParaRPr lang="en-US" dirty="0"/>
                  </a:p>
                </c:rich>
              </c:tx>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75A0-4348-8635-DD83963E526E}"/>
                </c:ext>
                <c:ext xmlns:c15="http://schemas.microsoft.com/office/drawing/2012/chart" uri="{CE6537A1-D6FC-4f65-9D91-7224C49458BB}">
                  <c15:layout/>
                </c:ext>
              </c:extLst>
            </c:dLbl>
            <c:dLbl>
              <c:idx val="2"/>
              <c:layout/>
              <c:tx>
                <c:rich>
                  <a:bodyPr/>
                  <a:lstStyle/>
                  <a:p>
                    <a:r>
                      <a:rPr lang="en-US" dirty="0"/>
                      <a:t>5 C</a:t>
                    </a:r>
                    <a:r>
                      <a:rPr lang="en-US" dirty="0" smtClean="0"/>
                      <a:t>r</a:t>
                    </a:r>
                    <a:endParaRPr lang="en-US" dirty="0"/>
                  </a:p>
                </c:rich>
              </c:tx>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7-75A0-4348-8635-DD83963E526E}"/>
                </c:ext>
                <c:ext xmlns:c15="http://schemas.microsoft.com/office/drawing/2012/chart" uri="{CE6537A1-D6FC-4f65-9D91-7224C49458BB}">
                  <c15:layout/>
                </c:ext>
              </c:extLst>
            </c:dLbl>
            <c:dLbl>
              <c:idx val="3"/>
              <c:layout/>
              <c:tx>
                <c:rich>
                  <a:bodyPr/>
                  <a:lstStyle/>
                  <a:p>
                    <a:fld id="{7CEA7D70-2585-4BC3-9883-6174B812608C}" type="VALUE">
                      <a:rPr lang="en-US" smtClean="0"/>
                      <a:pPr/>
                      <a:t>[VALUE]</a:t>
                    </a:fld>
                    <a:r>
                      <a:rPr lang="en-US" dirty="0" smtClean="0"/>
                      <a:t> Cr</a:t>
                    </a:r>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Sheet1!$C$2:$C$7</c:f>
              <c:strCache>
                <c:ptCount val="6"/>
                <c:pt idx="0">
                  <c:v>2021-22</c:v>
                </c:pt>
                <c:pt idx="1">
                  <c:v>2022-23</c:v>
                </c:pt>
                <c:pt idx="2">
                  <c:v>2023-24</c:v>
                </c:pt>
                <c:pt idx="3">
                  <c:v>2024-25</c:v>
                </c:pt>
                <c:pt idx="4">
                  <c:v>2025-26</c:v>
                </c:pt>
                <c:pt idx="5">
                  <c:v>2026-27</c:v>
                </c:pt>
              </c:strCache>
            </c:strRef>
          </c:cat>
          <c:val>
            <c:numRef>
              <c:f>Sheet1!$E$2:$E$7</c:f>
              <c:numCache>
                <c:formatCode>General</c:formatCode>
                <c:ptCount val="6"/>
                <c:pt idx="0">
                  <c:v>3.8</c:v>
                </c:pt>
                <c:pt idx="1">
                  <c:v>4</c:v>
                </c:pt>
                <c:pt idx="2">
                  <c:v>5</c:v>
                </c:pt>
                <c:pt idx="3">
                  <c:v>7.6</c:v>
                </c:pt>
                <c:pt idx="4">
                  <c:v>11</c:v>
                </c:pt>
                <c:pt idx="5">
                  <c:v>0</c:v>
                </c:pt>
              </c:numCache>
            </c:numRef>
          </c:val>
          <c:extLst xmlns:c16r2="http://schemas.microsoft.com/office/drawing/2015/06/chart">
            <c:ext xmlns:c16="http://schemas.microsoft.com/office/drawing/2014/chart" uri="{C3380CC4-5D6E-409C-BE32-E72D297353CC}">
              <c16:uniqueId val="{00000008-75A0-4348-8635-DD83963E526E}"/>
            </c:ext>
          </c:extLst>
        </c:ser>
        <c:dLbls>
          <c:showLegendKey val="0"/>
          <c:showVal val="0"/>
          <c:showCatName val="0"/>
          <c:showSerName val="0"/>
          <c:showPercent val="0"/>
          <c:showBubbleSize val="0"/>
        </c:dLbls>
        <c:gapWidth val="100"/>
        <c:overlap val="-34"/>
        <c:axId val="367454896"/>
        <c:axId val="367456856"/>
      </c:barChart>
      <c:catAx>
        <c:axId val="367454896"/>
        <c:scaling>
          <c:orientation val="minMax"/>
        </c:scaling>
        <c:delete val="0"/>
        <c:axPos val="b"/>
        <c:numFmt formatCode="General" sourceLinked="0"/>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7456856"/>
        <c:crosses val="autoZero"/>
        <c:auto val="1"/>
        <c:lblAlgn val="ctr"/>
        <c:lblOffset val="100"/>
        <c:noMultiLvlLbl val="0"/>
      </c:catAx>
      <c:valAx>
        <c:axId val="3674568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7454896"/>
        <c:crosses val="autoZero"/>
        <c:crossBetween val="between"/>
      </c:valAx>
      <c:spPr>
        <a:noFill/>
        <a:ln>
          <a:noFill/>
        </a:ln>
        <a:effectLst/>
      </c:spPr>
    </c:plotArea>
    <c:legend>
      <c:legendPos val="b"/>
      <c:layout>
        <c:manualLayout>
          <c:xMode val="edge"/>
          <c:yMode val="edge"/>
          <c:x val="0.69386155880747291"/>
          <c:y val="0.91234617492464443"/>
          <c:w val="0.12330883194806962"/>
          <c:h val="5.0579335126921254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withinLinear" id="19">
  <a:schemeClr val="accent6"/>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drawing1.xml><?xml version="1.0" encoding="utf-8"?>
<c:userShapes xmlns:c="http://schemas.openxmlformats.org/drawingml/2006/chart">
  <cdr:relSizeAnchor xmlns:cdr="http://schemas.openxmlformats.org/drawingml/2006/chartDrawing">
    <cdr:from>
      <cdr:x>0.00509</cdr:x>
      <cdr:y>0.09311</cdr:y>
    </cdr:from>
    <cdr:to>
      <cdr:x>0.03849</cdr:x>
      <cdr:y>0.7996</cdr:y>
    </cdr:to>
    <cdr:sp macro="" textlink="">
      <cdr:nvSpPr>
        <cdr:cNvPr id="2" name="TextBox 1"/>
        <cdr:cNvSpPr txBox="1"/>
      </cdr:nvSpPr>
      <cdr:spPr>
        <a:xfrm xmlns:a="http://schemas.openxmlformats.org/drawingml/2006/main">
          <a:off x="49058" y="478419"/>
          <a:ext cx="322061" cy="3630168"/>
        </a:xfrm>
        <a:prstGeom xmlns:a="http://schemas.openxmlformats.org/drawingml/2006/main" prst="rect">
          <a:avLst/>
        </a:prstGeom>
      </cdr:spPr>
      <cdr:txBody>
        <a:bodyPr xmlns:a="http://schemas.openxmlformats.org/drawingml/2006/main" vertOverflow="clip" vert="vert270" wrap="square" rtlCol="0"/>
        <a:lstStyle xmlns:a="http://schemas.openxmlformats.org/drawingml/2006/main"/>
        <a:p xmlns:a="http://schemas.openxmlformats.org/drawingml/2006/main">
          <a:pPr algn="ctr"/>
          <a:r>
            <a:rPr lang="en-US" sz="1600" b="1" dirty="0" smtClean="0">
              <a:solidFill>
                <a:schemeClr val="accent3">
                  <a:lumMod val="75000"/>
                </a:schemeClr>
              </a:solidFill>
            </a:rPr>
            <a:t>Values in Cr</a:t>
          </a:r>
          <a:endParaRPr lang="en-IN" sz="1600" b="1" dirty="0">
            <a:solidFill>
              <a:schemeClr val="accent3">
                <a:lumMod val="75000"/>
              </a:schemeClr>
            </a:solidFill>
          </a:endParaRPr>
        </a:p>
      </cdr:txBody>
    </cdr:sp>
  </cdr:relSizeAnchor>
  <cdr:relSizeAnchor xmlns:cdr="http://schemas.openxmlformats.org/drawingml/2006/chartDrawing">
    <cdr:from>
      <cdr:x>0.33812</cdr:x>
      <cdr:y>0.89856</cdr:y>
    </cdr:from>
    <cdr:to>
      <cdr:x>0.623</cdr:x>
      <cdr:y>0.96775</cdr:y>
    </cdr:to>
    <cdr:sp macro="" textlink="">
      <cdr:nvSpPr>
        <cdr:cNvPr id="3" name="TextBox 1"/>
        <cdr:cNvSpPr txBox="1"/>
      </cdr:nvSpPr>
      <cdr:spPr>
        <a:xfrm xmlns:a="http://schemas.openxmlformats.org/drawingml/2006/main">
          <a:off x="3260344" y="4617096"/>
          <a:ext cx="2746934" cy="355508"/>
        </a:xfrm>
        <a:prstGeom xmlns:a="http://schemas.openxmlformats.org/drawingml/2006/main" prst="rect">
          <a:avLst/>
        </a:prstGeom>
      </cdr:spPr>
      <cdr:txBody>
        <a:bodyPr xmlns:a="http://schemas.openxmlformats.org/drawingml/2006/main" vert="horz"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600" b="1" dirty="0" smtClean="0">
              <a:solidFill>
                <a:schemeClr val="bg1">
                  <a:lumMod val="50000"/>
                </a:schemeClr>
              </a:solidFill>
            </a:rPr>
            <a:t>Financial Years</a:t>
          </a:r>
          <a:endParaRPr lang="en-IN" sz="1600" b="1" dirty="0">
            <a:solidFill>
              <a:schemeClr val="bg1">
                <a:lumMod val="50000"/>
              </a:schemeClr>
            </a:solidFill>
          </a:endParaRP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3584B18-B232-4DE0-9B71-0D622390E575}"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B4E500-88F7-4234-A722-55CD593E1EEB}" type="slidenum">
              <a:rPr lang="en-IN" smtClean="0"/>
              <a:t>‹#›</a:t>
            </a:fld>
            <a:endParaRPr lang="en-IN"/>
          </a:p>
        </p:txBody>
      </p:sp>
    </p:spTree>
    <p:extLst>
      <p:ext uri="{BB962C8B-B14F-4D97-AF65-F5344CB8AC3E}">
        <p14:creationId xmlns:p14="http://schemas.microsoft.com/office/powerpoint/2010/main" val="1181591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3584B18-B232-4DE0-9B71-0D622390E575}"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B4E500-88F7-4234-A722-55CD593E1EEB}" type="slidenum">
              <a:rPr lang="en-IN" smtClean="0"/>
              <a:t>‹#›</a:t>
            </a:fld>
            <a:endParaRPr lang="en-IN"/>
          </a:p>
        </p:txBody>
      </p:sp>
    </p:spTree>
    <p:extLst>
      <p:ext uri="{BB962C8B-B14F-4D97-AF65-F5344CB8AC3E}">
        <p14:creationId xmlns:p14="http://schemas.microsoft.com/office/powerpoint/2010/main" val="275026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3584B18-B232-4DE0-9B71-0D622390E575}"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B4E500-88F7-4234-A722-55CD593E1EEB}" type="slidenum">
              <a:rPr lang="en-IN" smtClean="0"/>
              <a:t>‹#›</a:t>
            </a:fld>
            <a:endParaRPr lang="en-IN"/>
          </a:p>
        </p:txBody>
      </p:sp>
    </p:spTree>
    <p:extLst>
      <p:ext uri="{BB962C8B-B14F-4D97-AF65-F5344CB8AC3E}">
        <p14:creationId xmlns:p14="http://schemas.microsoft.com/office/powerpoint/2010/main" val="1800684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3584B18-B232-4DE0-9B71-0D622390E575}"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B4E500-88F7-4234-A722-55CD593E1EEB}" type="slidenum">
              <a:rPr lang="en-IN" smtClean="0"/>
              <a:t>‹#›</a:t>
            </a:fld>
            <a:endParaRPr lang="en-IN"/>
          </a:p>
        </p:txBody>
      </p:sp>
    </p:spTree>
    <p:extLst>
      <p:ext uri="{BB962C8B-B14F-4D97-AF65-F5344CB8AC3E}">
        <p14:creationId xmlns:p14="http://schemas.microsoft.com/office/powerpoint/2010/main" val="1667107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3584B18-B232-4DE0-9B71-0D622390E575}" type="datetimeFigureOut">
              <a:rPr lang="en-IN" smtClean="0"/>
              <a:t>05-08-2026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DB4E500-88F7-4234-A722-55CD593E1EEB}" type="slidenum">
              <a:rPr lang="en-IN" smtClean="0"/>
              <a:t>‹#›</a:t>
            </a:fld>
            <a:endParaRPr lang="en-IN"/>
          </a:p>
        </p:txBody>
      </p:sp>
    </p:spTree>
    <p:extLst>
      <p:ext uri="{BB962C8B-B14F-4D97-AF65-F5344CB8AC3E}">
        <p14:creationId xmlns:p14="http://schemas.microsoft.com/office/powerpoint/2010/main" val="1495377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3584B18-B232-4DE0-9B71-0D622390E575}" type="datetimeFigureOut">
              <a:rPr lang="en-IN" smtClean="0"/>
              <a:t>05-08-2026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DB4E500-88F7-4234-A722-55CD593E1EEB}" type="slidenum">
              <a:rPr lang="en-IN" smtClean="0"/>
              <a:t>‹#›</a:t>
            </a:fld>
            <a:endParaRPr lang="en-IN"/>
          </a:p>
        </p:txBody>
      </p:sp>
    </p:spTree>
    <p:extLst>
      <p:ext uri="{BB962C8B-B14F-4D97-AF65-F5344CB8AC3E}">
        <p14:creationId xmlns:p14="http://schemas.microsoft.com/office/powerpoint/2010/main" val="1940676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584B18-B232-4DE0-9B71-0D622390E575}" type="datetimeFigureOut">
              <a:rPr lang="en-IN" smtClean="0"/>
              <a:t>05-08-2026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DB4E500-88F7-4234-A722-55CD593E1EEB}" type="slidenum">
              <a:rPr lang="en-IN" smtClean="0"/>
              <a:t>‹#›</a:t>
            </a:fld>
            <a:endParaRPr lang="en-IN"/>
          </a:p>
        </p:txBody>
      </p:sp>
    </p:spTree>
    <p:extLst>
      <p:ext uri="{BB962C8B-B14F-4D97-AF65-F5344CB8AC3E}">
        <p14:creationId xmlns:p14="http://schemas.microsoft.com/office/powerpoint/2010/main" val="889376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3584B18-B232-4DE0-9B71-0D622390E575}"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B4E500-88F7-4234-A722-55CD593E1EEB}" type="slidenum">
              <a:rPr lang="en-IN" smtClean="0"/>
              <a:t>‹#›</a:t>
            </a:fld>
            <a:endParaRPr lang="en-IN"/>
          </a:p>
        </p:txBody>
      </p:sp>
    </p:spTree>
    <p:extLst>
      <p:ext uri="{BB962C8B-B14F-4D97-AF65-F5344CB8AC3E}">
        <p14:creationId xmlns:p14="http://schemas.microsoft.com/office/powerpoint/2010/main" val="3060992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3584B18-B232-4DE0-9B71-0D622390E575}"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B4E500-88F7-4234-A722-55CD593E1EEB}" type="slidenum">
              <a:rPr lang="en-IN" smtClean="0"/>
              <a:t>‹#›</a:t>
            </a:fld>
            <a:endParaRPr lang="en-IN"/>
          </a:p>
        </p:txBody>
      </p:sp>
    </p:spTree>
    <p:extLst>
      <p:ext uri="{BB962C8B-B14F-4D97-AF65-F5344CB8AC3E}">
        <p14:creationId xmlns:p14="http://schemas.microsoft.com/office/powerpoint/2010/main" val="2062968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3584B18-B232-4DE0-9B71-0D622390E575}"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B4E500-88F7-4234-A722-55CD593E1EEB}" type="slidenum">
              <a:rPr lang="en-IN" smtClean="0"/>
              <a:t>‹#›</a:t>
            </a:fld>
            <a:endParaRPr lang="en-IN"/>
          </a:p>
        </p:txBody>
      </p:sp>
    </p:spTree>
    <p:extLst>
      <p:ext uri="{BB962C8B-B14F-4D97-AF65-F5344CB8AC3E}">
        <p14:creationId xmlns:p14="http://schemas.microsoft.com/office/powerpoint/2010/main" val="2120290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3584B18-B232-4DE0-9B71-0D622390E575}"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B4E500-88F7-4234-A722-55CD593E1EEB}" type="slidenum">
              <a:rPr lang="en-IN" smtClean="0"/>
              <a:t>‹#›</a:t>
            </a:fld>
            <a:endParaRPr lang="en-IN"/>
          </a:p>
        </p:txBody>
      </p:sp>
    </p:spTree>
    <p:extLst>
      <p:ext uri="{BB962C8B-B14F-4D97-AF65-F5344CB8AC3E}">
        <p14:creationId xmlns:p14="http://schemas.microsoft.com/office/powerpoint/2010/main" val="356514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584B18-B232-4DE0-9B71-0D622390E575}" type="datetimeFigureOut">
              <a:rPr lang="en-IN" smtClean="0"/>
              <a:t>05-08-2026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B4E500-88F7-4234-A722-55CD593E1EEB}" type="slidenum">
              <a:rPr lang="en-IN" smtClean="0"/>
              <a:t>‹#›</a:t>
            </a:fld>
            <a:endParaRPr lang="en-IN"/>
          </a:p>
        </p:txBody>
      </p:sp>
    </p:spTree>
    <p:extLst>
      <p:ext uri="{BB962C8B-B14F-4D97-AF65-F5344CB8AC3E}">
        <p14:creationId xmlns:p14="http://schemas.microsoft.com/office/powerpoint/2010/main" val="36227883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wmf"/><Relationship Id="rId3" Type="http://schemas.openxmlformats.org/officeDocument/2006/relationships/image" Target="../media/image7.png"/><Relationship Id="rId7" Type="http://schemas.microsoft.com/office/2007/relationships/hdphoto" Target="../media/hdphoto2.wdp"/><Relationship Id="rId12" Type="http://schemas.openxmlformats.org/officeDocument/2006/relationships/oleObject" Target="file:///D:\PARAG%20PATIL\Gtech%20Certificates\Gtech%20Enterprises%20ISO%209001-2015.pdf" TargetMode="External"/><Relationship Id="rId17" Type="http://schemas.openxmlformats.org/officeDocument/2006/relationships/image" Target="../media/image6.wmf"/><Relationship Id="rId2" Type="http://schemas.openxmlformats.org/officeDocument/2006/relationships/slideLayout" Target="../slideLayouts/slideLayout1.xml"/><Relationship Id="rId16" Type="http://schemas.openxmlformats.org/officeDocument/2006/relationships/oleObject" Target="file:///D:\PARAG%20PATIL\Gtech%20Certificates\Gtech%20Enterprises%20ISO%2014001-2015.pdf" TargetMode="External"/><Relationship Id="rId1" Type="http://schemas.openxmlformats.org/officeDocument/2006/relationships/vmlDrawing" Target="../drawings/vmlDrawing1.vml"/><Relationship Id="rId6" Type="http://schemas.openxmlformats.org/officeDocument/2006/relationships/image" Target="../media/image10.png"/><Relationship Id="rId11" Type="http://schemas.openxmlformats.org/officeDocument/2006/relationships/image" Target="../media/image13.emf"/><Relationship Id="rId5" Type="http://schemas.openxmlformats.org/officeDocument/2006/relationships/image" Target="../media/image9.png"/><Relationship Id="rId15" Type="http://schemas.openxmlformats.org/officeDocument/2006/relationships/image" Target="../media/image5.wmf"/><Relationship Id="rId10" Type="http://schemas.openxmlformats.org/officeDocument/2006/relationships/image" Target="../media/image12.emf"/><Relationship Id="rId4" Type="http://schemas.openxmlformats.org/officeDocument/2006/relationships/image" Target="../media/image8.png"/><Relationship Id="rId9" Type="http://schemas.openxmlformats.org/officeDocument/2006/relationships/image" Target="../media/image11.emf"/><Relationship Id="rId14" Type="http://schemas.openxmlformats.org/officeDocument/2006/relationships/oleObject" Target="file:///D:\PARAG%20PATIL\Gtech%20Certificates\Gtech%20Enterprises%203834.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21.webp"/><Relationship Id="rId5" Type="http://schemas.openxmlformats.org/officeDocument/2006/relationships/image" Target="../media/image17.jpeg"/><Relationship Id="rId10" Type="http://schemas.openxmlformats.org/officeDocument/2006/relationships/image" Target="../media/image20.jpg"/><Relationship Id="rId4" Type="http://schemas.openxmlformats.org/officeDocument/2006/relationships/image" Target="../media/image8.png"/><Relationship Id="rId9" Type="http://schemas.openxmlformats.org/officeDocument/2006/relationships/image" Target="../media/image19.webp"/></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jpeg"/><Relationship Id="rId3" Type="http://schemas.openxmlformats.org/officeDocument/2006/relationships/image" Target="../media/image8.png"/><Relationship Id="rId7" Type="http://schemas.openxmlformats.org/officeDocument/2006/relationships/image" Target="../media/image3.png"/><Relationship Id="rId12" Type="http://schemas.openxmlformats.org/officeDocument/2006/relationships/image" Target="../media/image26.jpeg"/><Relationship Id="rId2" Type="http://schemas.openxmlformats.org/officeDocument/2006/relationships/image" Target="../media/image7.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25.png"/><Relationship Id="rId5" Type="http://schemas.openxmlformats.org/officeDocument/2006/relationships/image" Target="../media/image10.png"/><Relationship Id="rId10" Type="http://schemas.openxmlformats.org/officeDocument/2006/relationships/image" Target="../media/image24.jpeg"/><Relationship Id="rId4" Type="http://schemas.openxmlformats.org/officeDocument/2006/relationships/image" Target="../media/image9.png"/><Relationship Id="rId9" Type="http://schemas.openxmlformats.org/officeDocument/2006/relationships/image" Target="../media/image23.jpeg"/></Relationships>
</file>

<file path=ppt/slides/_rels/slide11.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29.jpeg"/></Relationships>
</file>

<file path=ppt/slides/_rels/slide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8.png"/><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36.png"/><Relationship Id="rId3" Type="http://schemas.openxmlformats.org/officeDocument/2006/relationships/image" Target="../media/image9.png"/><Relationship Id="rId7" Type="http://schemas.openxmlformats.org/officeDocument/2006/relationships/image" Target="../media/image33.jpeg"/><Relationship Id="rId12" Type="http://schemas.openxmlformats.org/officeDocument/2006/relationships/image" Target="../media/image35.jp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4.svg"/><Relationship Id="rId11" Type="http://schemas.openxmlformats.org/officeDocument/2006/relationships/image" Target="../media/image34.jpg"/><Relationship Id="rId5" Type="http://schemas.openxmlformats.org/officeDocument/2006/relationships/image" Target="../media/image32.png"/><Relationship Id="rId10" Type="http://schemas.openxmlformats.org/officeDocument/2006/relationships/image" Target="../media/image3.png"/><Relationship Id="rId4" Type="http://schemas.openxmlformats.org/officeDocument/2006/relationships/image" Target="../media/image8.png"/><Relationship Id="rId9" Type="http://schemas.microsoft.com/office/2007/relationships/hdphoto" Target="../media/hdphoto2.wdp"/><Relationship Id="rId14" Type="http://schemas.openxmlformats.org/officeDocument/2006/relationships/image" Target="../media/image37.jpeg"/></Relationships>
</file>

<file path=ppt/slides/_rels/slide14.xml.rels><?xml version="1.0" encoding="UTF-8" standalone="yes"?>
<Relationships xmlns="http://schemas.openxmlformats.org/package/2006/relationships"><Relationship Id="rId8" Type="http://schemas.openxmlformats.org/officeDocument/2006/relationships/image" Target="../media/image41.jpg"/><Relationship Id="rId13" Type="http://schemas.openxmlformats.org/officeDocument/2006/relationships/image" Target="../media/image3.png"/><Relationship Id="rId3" Type="http://schemas.openxmlformats.org/officeDocument/2006/relationships/image" Target="../media/image9.png"/><Relationship Id="rId7" Type="http://schemas.openxmlformats.org/officeDocument/2006/relationships/image" Target="../media/image40.jpg"/><Relationship Id="rId12" Type="http://schemas.openxmlformats.org/officeDocument/2006/relationships/image" Target="../media/image43.jpe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39.jpg"/><Relationship Id="rId11" Type="http://schemas.microsoft.com/office/2007/relationships/hdphoto" Target="../media/hdphoto2.wdp"/><Relationship Id="rId5" Type="http://schemas.openxmlformats.org/officeDocument/2006/relationships/image" Target="../media/image38.jp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42.jpg"/></Relationships>
</file>

<file path=ppt/slides/_rels/slide15.xml.rels><?xml version="1.0" encoding="UTF-8" standalone="yes"?>
<Relationships xmlns="http://schemas.openxmlformats.org/package/2006/relationships"><Relationship Id="rId8" Type="http://schemas.openxmlformats.org/officeDocument/2006/relationships/image" Target="../media/image48.png"/><Relationship Id="rId13" Type="http://schemas.microsoft.com/office/2007/relationships/hdphoto" Target="../media/hdphoto2.wdp"/><Relationship Id="rId3" Type="http://schemas.openxmlformats.org/officeDocument/2006/relationships/image" Target="../media/image9.png"/><Relationship Id="rId7" Type="http://schemas.openxmlformats.org/officeDocument/2006/relationships/image" Target="../media/image47.jpeg"/><Relationship Id="rId12"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46.jpeg"/><Relationship Id="rId11" Type="http://schemas.openxmlformats.org/officeDocument/2006/relationships/image" Target="../media/image8.png"/><Relationship Id="rId5" Type="http://schemas.openxmlformats.org/officeDocument/2006/relationships/image" Target="../media/image45.jpeg"/><Relationship Id="rId10" Type="http://schemas.openxmlformats.org/officeDocument/2006/relationships/image" Target="../media/image49.jpeg"/><Relationship Id="rId4" Type="http://schemas.openxmlformats.org/officeDocument/2006/relationships/image" Target="../media/image44.jpeg"/><Relationship Id="rId9" Type="http://schemas.microsoft.com/office/2007/relationships/hdphoto" Target="../media/hdphoto3.wdp"/><Relationship Id="rId1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53.jpeg"/><Relationship Id="rId13" Type="http://schemas.openxmlformats.org/officeDocument/2006/relationships/image" Target="../media/image10.png"/><Relationship Id="rId3" Type="http://schemas.openxmlformats.org/officeDocument/2006/relationships/image" Target="../media/image9.png"/><Relationship Id="rId7" Type="http://schemas.openxmlformats.org/officeDocument/2006/relationships/image" Target="../media/image52.jpeg"/><Relationship Id="rId12" Type="http://schemas.openxmlformats.org/officeDocument/2006/relationships/image" Target="../media/image57.jpeg"/><Relationship Id="rId2" Type="http://schemas.openxmlformats.org/officeDocument/2006/relationships/image" Target="../media/image7.png"/><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51.jpeg"/><Relationship Id="rId11" Type="http://schemas.openxmlformats.org/officeDocument/2006/relationships/image" Target="../media/image56.jpeg"/><Relationship Id="rId5" Type="http://schemas.openxmlformats.org/officeDocument/2006/relationships/image" Target="../media/image50.jpeg"/><Relationship Id="rId15" Type="http://schemas.openxmlformats.org/officeDocument/2006/relationships/image" Target="../media/image58.jpeg"/><Relationship Id="rId10" Type="http://schemas.openxmlformats.org/officeDocument/2006/relationships/image" Target="../media/image55.jpeg"/><Relationship Id="rId4" Type="http://schemas.openxmlformats.org/officeDocument/2006/relationships/image" Target="../media/image8.png"/><Relationship Id="rId9" Type="http://schemas.openxmlformats.org/officeDocument/2006/relationships/image" Target="../media/image54.jpeg"/><Relationship Id="rId14" Type="http://schemas.microsoft.com/office/2007/relationships/hdphoto" Target="../media/hdphoto2.wdp"/></Relationships>
</file>

<file path=ppt/slides/_rels/slide17.xml.rels><?xml version="1.0" encoding="UTF-8" standalone="yes"?>
<Relationships xmlns="http://schemas.openxmlformats.org/package/2006/relationships"><Relationship Id="rId8" Type="http://schemas.openxmlformats.org/officeDocument/2006/relationships/image" Target="../media/image62.jpeg"/><Relationship Id="rId13" Type="http://schemas.openxmlformats.org/officeDocument/2006/relationships/image" Target="../media/image3.png"/><Relationship Id="rId3" Type="http://schemas.openxmlformats.org/officeDocument/2006/relationships/image" Target="../media/image9.png"/><Relationship Id="rId7" Type="http://schemas.openxmlformats.org/officeDocument/2006/relationships/image" Target="../media/image61.jpeg"/><Relationship Id="rId12"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60.jpeg"/><Relationship Id="rId11" Type="http://schemas.openxmlformats.org/officeDocument/2006/relationships/image" Target="../media/image10.png"/><Relationship Id="rId5" Type="http://schemas.openxmlformats.org/officeDocument/2006/relationships/image" Target="../media/image59.jpeg"/><Relationship Id="rId10" Type="http://schemas.openxmlformats.org/officeDocument/2006/relationships/image" Target="../media/image64.jpeg"/><Relationship Id="rId4" Type="http://schemas.openxmlformats.org/officeDocument/2006/relationships/image" Target="../media/image8.png"/><Relationship Id="rId9" Type="http://schemas.openxmlformats.org/officeDocument/2006/relationships/image" Target="../media/image63.jpeg"/></Relationships>
</file>

<file path=ppt/slides/_rels/slide18.xml.rels><?xml version="1.0" encoding="UTF-8" standalone="yes"?>
<Relationships xmlns="http://schemas.openxmlformats.org/package/2006/relationships"><Relationship Id="rId8" Type="http://schemas.openxmlformats.org/officeDocument/2006/relationships/image" Target="../media/image68.jpeg"/><Relationship Id="rId13" Type="http://schemas.openxmlformats.org/officeDocument/2006/relationships/image" Target="../media/image3.png"/><Relationship Id="rId3" Type="http://schemas.openxmlformats.org/officeDocument/2006/relationships/image" Target="../media/image9.png"/><Relationship Id="rId7" Type="http://schemas.openxmlformats.org/officeDocument/2006/relationships/image" Target="../media/image67.jpeg"/><Relationship Id="rId12"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66.jpeg"/><Relationship Id="rId11" Type="http://schemas.openxmlformats.org/officeDocument/2006/relationships/image" Target="../media/image10.png"/><Relationship Id="rId5" Type="http://schemas.openxmlformats.org/officeDocument/2006/relationships/image" Target="../media/image65.jpeg"/><Relationship Id="rId10" Type="http://schemas.openxmlformats.org/officeDocument/2006/relationships/image" Target="../media/image70.jpeg"/><Relationship Id="rId4" Type="http://schemas.openxmlformats.org/officeDocument/2006/relationships/image" Target="../media/image8.png"/><Relationship Id="rId9" Type="http://schemas.openxmlformats.org/officeDocument/2006/relationships/image" Target="../media/image69.jpeg"/></Relationships>
</file>

<file path=ppt/slides/_rels/slide19.xml.rels><?xml version="1.0" encoding="UTF-8" standalone="yes"?>
<Relationships xmlns="http://schemas.openxmlformats.org/package/2006/relationships"><Relationship Id="rId8" Type="http://schemas.openxmlformats.org/officeDocument/2006/relationships/image" Target="../media/image72.jpeg"/><Relationship Id="rId3" Type="http://schemas.openxmlformats.org/officeDocument/2006/relationships/image" Target="../media/image9.png"/><Relationship Id="rId7" Type="http://schemas.openxmlformats.org/officeDocument/2006/relationships/image" Target="../media/image71.jpg"/><Relationship Id="rId12"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75.jpeg"/><Relationship Id="rId5" Type="http://schemas.openxmlformats.org/officeDocument/2006/relationships/image" Target="../media/image10.png"/><Relationship Id="rId10" Type="http://schemas.openxmlformats.org/officeDocument/2006/relationships/image" Target="../media/image74.jpeg"/><Relationship Id="rId4" Type="http://schemas.openxmlformats.org/officeDocument/2006/relationships/image" Target="../media/image8.png"/><Relationship Id="rId9" Type="http://schemas.openxmlformats.org/officeDocument/2006/relationships/image" Target="../media/image73.jpeg"/></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9.png"/><Relationship Id="rId7"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chart" Target="../charts/chart1.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xml"/><Relationship Id="rId6" Type="http://schemas.microsoft.com/office/2007/relationships/hdphoto" Target="../media/hdphoto4.wdp"/><Relationship Id="rId5" Type="http://schemas.openxmlformats.org/officeDocument/2006/relationships/image" Target="../media/image76.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0" y="-1"/>
            <a:ext cx="12191999" cy="6858002"/>
            <a:chOff x="0" y="-1"/>
            <a:chExt cx="12191999" cy="6858002"/>
          </a:xfrm>
        </p:grpSpPr>
        <p:sp>
          <p:nvSpPr>
            <p:cNvPr id="4" name="Right Triangle 3"/>
            <p:cNvSpPr/>
            <p:nvPr/>
          </p:nvSpPr>
          <p:spPr>
            <a:xfrm>
              <a:off x="0" y="1582995"/>
              <a:ext cx="3463636" cy="5275006"/>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p:cNvSpPr/>
            <p:nvPr/>
          </p:nvSpPr>
          <p:spPr>
            <a:xfrm>
              <a:off x="6701610" y="4115218"/>
              <a:ext cx="3165987" cy="2738285"/>
            </a:xfrm>
            <a:prstGeom prst="triangle">
              <a:avLst>
                <a:gd name="adj" fmla="val 51553"/>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Isosceles Triangle 5"/>
            <p:cNvSpPr/>
            <p:nvPr/>
          </p:nvSpPr>
          <p:spPr>
            <a:xfrm rot="10800000">
              <a:off x="5997677" y="-1"/>
              <a:ext cx="6194322" cy="5683045"/>
            </a:xfrm>
            <a:prstGeom prst="triangle">
              <a:avLst>
                <a:gd name="adj" fmla="val 48433"/>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2" name="Picture 1"/>
          <p:cNvPicPr>
            <a:picLocks noChangeAspect="1"/>
          </p:cNvPicPr>
          <p:nvPr/>
        </p:nvPicPr>
        <p:blipFill>
          <a:blip r:embed="rId2"/>
          <a:stretch>
            <a:fillRect/>
          </a:stretch>
        </p:blipFill>
        <p:spPr>
          <a:xfrm>
            <a:off x="5114770" y="-1591"/>
            <a:ext cx="6860981" cy="6859591"/>
          </a:xfrm>
          <a:prstGeom prst="rect">
            <a:avLst/>
          </a:prstGeom>
        </p:spPr>
      </p:pic>
      <p:grpSp>
        <p:nvGrpSpPr>
          <p:cNvPr id="9" name="Group 8"/>
          <p:cNvGrpSpPr/>
          <p:nvPr/>
        </p:nvGrpSpPr>
        <p:grpSpPr>
          <a:xfrm>
            <a:off x="1521631" y="1218918"/>
            <a:ext cx="6170039" cy="4007235"/>
            <a:chOff x="1175421" y="178096"/>
            <a:chExt cx="6170039" cy="4007235"/>
          </a:xfrm>
        </p:grpSpPr>
        <p:sp>
          <p:nvSpPr>
            <p:cNvPr id="22" name="TextBox 21"/>
            <p:cNvSpPr txBox="1"/>
            <p:nvPr/>
          </p:nvSpPr>
          <p:spPr>
            <a:xfrm>
              <a:off x="3269985" y="3754444"/>
              <a:ext cx="4075475" cy="430887"/>
            </a:xfrm>
            <a:prstGeom prst="rect">
              <a:avLst/>
            </a:prstGeom>
            <a:noFill/>
          </p:spPr>
          <p:txBody>
            <a:bodyPr wrap="none" rtlCol="0">
              <a:spAutoFit/>
            </a:bodyPr>
            <a:lstStyle/>
            <a:p>
              <a:r>
                <a:rPr lang="en-IN" sz="2200" b="1" spc="180" dirty="0" smtClean="0">
                  <a:solidFill>
                    <a:srgbClr val="00B0F0"/>
                  </a:solidFill>
                  <a:latin typeface="Ink Free" panose="03080402000500000000" pitchFamily="66" charset="0"/>
                </a:rPr>
                <a:t>... A manufacturing solution</a:t>
              </a:r>
              <a:endParaRPr lang="en-IN" sz="2200" b="1" spc="180" dirty="0">
                <a:solidFill>
                  <a:srgbClr val="00B0F0"/>
                </a:solidFill>
                <a:latin typeface="Ink Free" panose="03080402000500000000" pitchFamily="66" charset="0"/>
              </a:endParaRPr>
            </a:p>
          </p:txBody>
        </p:sp>
        <p:sp>
          <p:nvSpPr>
            <p:cNvPr id="18" name="TextBox 17"/>
            <p:cNvSpPr txBox="1"/>
            <p:nvPr/>
          </p:nvSpPr>
          <p:spPr>
            <a:xfrm>
              <a:off x="1175421" y="178096"/>
              <a:ext cx="5619509" cy="3293209"/>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lnSpc>
                  <a:spcPct val="130000"/>
                </a:lnSpc>
              </a:pPr>
              <a:r>
                <a:rPr lang="en-IN" sz="8000" b="1" dirty="0" smtClean="0">
                  <a:ln/>
                  <a:solidFill>
                    <a:schemeClr val="accent3"/>
                  </a:solidFill>
                </a:rPr>
                <a:t>GTech Enterprises</a:t>
              </a:r>
              <a:endParaRPr lang="en-IN" sz="8000" b="1" dirty="0">
                <a:ln/>
                <a:solidFill>
                  <a:schemeClr val="accent3"/>
                </a:solidFill>
              </a:endParaRPr>
            </a:p>
          </p:txBody>
        </p:sp>
      </p:grpSp>
      <p:grpSp>
        <p:nvGrpSpPr>
          <p:cNvPr id="8" name="Group 7"/>
          <p:cNvGrpSpPr/>
          <p:nvPr/>
        </p:nvGrpSpPr>
        <p:grpSpPr>
          <a:xfrm>
            <a:off x="9203449" y="4664325"/>
            <a:ext cx="3195998" cy="1878159"/>
            <a:chOff x="3518987" y="5122411"/>
            <a:chExt cx="3288483" cy="1435756"/>
          </a:xfrm>
        </p:grpSpPr>
        <p:sp>
          <p:nvSpPr>
            <p:cNvPr id="21" name="Trapezoid 20"/>
            <p:cNvSpPr/>
            <p:nvPr/>
          </p:nvSpPr>
          <p:spPr>
            <a:xfrm>
              <a:off x="3518987" y="5387709"/>
              <a:ext cx="3288483" cy="1170458"/>
            </a:xfrm>
            <a:prstGeom prst="trapezoid">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122363"/>
              <a:r>
                <a:rPr lang="en-US" dirty="0">
                  <a:solidFill>
                    <a:schemeClr val="bg2">
                      <a:lumMod val="10000"/>
                    </a:schemeClr>
                  </a:solidFill>
                </a:rPr>
                <a:t>Gat No. 1652</a:t>
              </a:r>
            </a:p>
            <a:p>
              <a:pPr defTabSz="1122363"/>
              <a:r>
                <a:rPr lang="en-US" dirty="0">
                  <a:solidFill>
                    <a:schemeClr val="bg2">
                      <a:lumMod val="10000"/>
                    </a:schemeClr>
                  </a:solidFill>
                </a:rPr>
                <a:t>Patil Nagar, Behind MNGL Pump,</a:t>
              </a:r>
            </a:p>
            <a:p>
              <a:pPr defTabSz="1122363"/>
              <a:r>
                <a:rPr lang="en-US" dirty="0">
                  <a:solidFill>
                    <a:schemeClr val="bg2">
                      <a:lumMod val="10000"/>
                    </a:schemeClr>
                  </a:solidFill>
                </a:rPr>
                <a:t>Dehu - Alandi Road, </a:t>
              </a:r>
            </a:p>
            <a:p>
              <a:pPr defTabSz="1122363"/>
              <a:r>
                <a:rPr lang="en-US" dirty="0">
                  <a:solidFill>
                    <a:schemeClr val="bg2">
                      <a:lumMod val="10000"/>
                    </a:schemeClr>
                  </a:solidFill>
                </a:rPr>
                <a:t>Chikhali, Pune - 411062, </a:t>
              </a:r>
              <a:endParaRPr lang="en-US" dirty="0" smtClean="0">
                <a:solidFill>
                  <a:schemeClr val="bg2">
                    <a:lumMod val="10000"/>
                  </a:schemeClr>
                </a:solidFill>
              </a:endParaRPr>
            </a:p>
            <a:p>
              <a:pPr defTabSz="1122363"/>
              <a:r>
                <a:rPr lang="en-US" dirty="0" smtClean="0">
                  <a:solidFill>
                    <a:schemeClr val="bg2">
                      <a:lumMod val="10000"/>
                    </a:schemeClr>
                  </a:solidFill>
                </a:rPr>
                <a:t>  </a:t>
              </a:r>
              <a:endParaRPr lang="en-US" dirty="0">
                <a:solidFill>
                  <a:schemeClr val="bg2">
                    <a:lumMod val="10000"/>
                  </a:schemeClr>
                </a:solidFill>
              </a:endParaRPr>
            </a:p>
          </p:txBody>
        </p:sp>
        <p:sp>
          <p:nvSpPr>
            <p:cNvPr id="7" name="TextBox 6"/>
            <p:cNvSpPr txBox="1"/>
            <p:nvPr/>
          </p:nvSpPr>
          <p:spPr>
            <a:xfrm>
              <a:off x="4236641" y="5122411"/>
              <a:ext cx="1899559" cy="369332"/>
            </a:xfrm>
            <a:prstGeom prst="rect">
              <a:avLst/>
            </a:prstGeom>
            <a:noFill/>
          </p:spPr>
          <p:txBody>
            <a:bodyPr wrap="none" rtlCol="0">
              <a:spAutoFit/>
            </a:bodyPr>
            <a:lstStyle/>
            <a:p>
              <a:r>
                <a:rPr lang="en-IN" b="1" dirty="0" smtClean="0">
                  <a:solidFill>
                    <a:schemeClr val="bg1">
                      <a:lumMod val="50000"/>
                    </a:schemeClr>
                  </a:solidFill>
                </a:rPr>
                <a:t>Company Address</a:t>
              </a:r>
              <a:endParaRPr lang="en-IN" b="1" dirty="0">
                <a:solidFill>
                  <a:schemeClr val="bg1">
                    <a:lumMod val="50000"/>
                  </a:schemeClr>
                </a:solidFill>
              </a:endParaRPr>
            </a:p>
          </p:txBody>
        </p:sp>
      </p:grpSp>
      <p:pic>
        <p:nvPicPr>
          <p:cNvPr id="24" name="Picture 23"/>
          <p:cNvPicPr>
            <a:picLocks noChangeAspect="1"/>
          </p:cNvPicPr>
          <p:nvPr/>
        </p:nvPicPr>
        <p:blipFill rotWithShape="1">
          <a:blip r:embed="rId3" cstate="print">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8284603" y="492053"/>
            <a:ext cx="2449676" cy="1453731"/>
          </a:xfrm>
          <a:prstGeom prst="rect">
            <a:avLst/>
          </a:prstGeom>
        </p:spPr>
      </p:pic>
      <p:pic>
        <p:nvPicPr>
          <p:cNvPr id="10" name="Picture 9"/>
          <p:cNvPicPr>
            <a:picLocks noChangeAspect="1"/>
          </p:cNvPicPr>
          <p:nvPr/>
        </p:nvPicPr>
        <p:blipFill rotWithShape="1">
          <a:blip r:embed="rId5">
            <a:extLst>
              <a:ext uri="{28A0092B-C50C-407E-A947-70E740481C1C}">
                <a14:useLocalDpi xmlns:a14="http://schemas.microsoft.com/office/drawing/2010/main" val="0"/>
              </a:ext>
            </a:extLst>
          </a:blip>
          <a:srcRect l="17091" t="13530" r="17243" b="21140"/>
          <a:stretch/>
        </p:blipFill>
        <p:spPr>
          <a:xfrm>
            <a:off x="234063" y="5032637"/>
            <a:ext cx="1475999" cy="1584000"/>
          </a:xfrm>
          <a:prstGeom prst="rect">
            <a:avLst/>
          </a:prstGeom>
        </p:spPr>
      </p:pic>
    </p:spTree>
    <p:extLst>
      <p:ext uri="{BB962C8B-B14F-4D97-AF65-F5344CB8AC3E}">
        <p14:creationId xmlns:p14="http://schemas.microsoft.com/office/powerpoint/2010/main" val="38173021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4206557" y="-13706"/>
            <a:ext cx="3572773"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Gtech Certificates</a:t>
            </a:r>
            <a:endParaRPr lang="en-IN" sz="3600" b="1" dirty="0">
              <a:ln/>
              <a:solidFill>
                <a:schemeClr val="accent3"/>
              </a:solidFill>
            </a:endParaRPr>
          </a:p>
        </p:txBody>
      </p:sp>
      <p:pic>
        <p:nvPicPr>
          <p:cNvPr id="8" name="Picture 7"/>
          <p:cNvPicPr>
            <a:picLocks noChangeAspect="1"/>
          </p:cNvPicPr>
          <p:nvPr/>
        </p:nvPicPr>
        <p:blipFill>
          <a:blip r:embed="rId3"/>
          <a:stretch>
            <a:fillRect/>
          </a:stretch>
        </p:blipFill>
        <p:spPr>
          <a:xfrm>
            <a:off x="11430000" y="0"/>
            <a:ext cx="762000" cy="6858957"/>
          </a:xfrm>
          <a:prstGeom prst="rect">
            <a:avLst/>
          </a:prstGeom>
        </p:spPr>
      </p:pic>
      <p:pic>
        <p:nvPicPr>
          <p:cNvPr id="15" name="Picture 14"/>
          <p:cNvPicPr>
            <a:picLocks noChangeAspect="1"/>
          </p:cNvPicPr>
          <p:nvPr/>
        </p:nvPicPr>
        <p:blipFill>
          <a:blip r:embed="rId4"/>
          <a:stretch>
            <a:fillRect/>
          </a:stretch>
        </p:blipFill>
        <p:spPr>
          <a:xfrm>
            <a:off x="0" y="3666836"/>
            <a:ext cx="2160005" cy="3191163"/>
          </a:xfrm>
          <a:prstGeom prst="rect">
            <a:avLst/>
          </a:prstGeom>
        </p:spPr>
      </p:pic>
      <p:pic>
        <p:nvPicPr>
          <p:cNvPr id="9" name="Picture 8"/>
          <p:cNvPicPr>
            <a:picLocks noChangeAspect="1"/>
          </p:cNvPicPr>
          <p:nvPr/>
        </p:nvPicPr>
        <p:blipFill>
          <a:blip r:embed="rId5"/>
          <a:stretch>
            <a:fillRect/>
          </a:stretch>
        </p:blipFill>
        <p:spPr>
          <a:xfrm>
            <a:off x="11298407" y="0"/>
            <a:ext cx="638264" cy="6858957"/>
          </a:xfrm>
          <a:prstGeom prst="rect">
            <a:avLst/>
          </a:prstGeom>
        </p:spPr>
      </p:pic>
      <p:sp>
        <p:nvSpPr>
          <p:cNvPr id="5" name="Rectangle 5"/>
          <p:cNvSpPr>
            <a:spLocks noChangeArrowheads="1"/>
          </p:cNvSpPr>
          <p:nvPr/>
        </p:nvSpPr>
        <p:spPr bwMode="auto">
          <a:xfrm>
            <a:off x="7223443" y="42283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6" name="TextBox 15"/>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20" name="Picture 19"/>
          <p:cNvPicPr>
            <a:picLocks noChangeAspect="1"/>
          </p:cNvPicPr>
          <p:nvPr/>
        </p:nvPicPr>
        <p:blipFill rotWithShape="1">
          <a:blip r:embed="rId6" cstate="print">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2" name="Picture 11"/>
          <p:cNvPicPr>
            <a:picLocks noChangeAspect="1"/>
          </p:cNvPicPr>
          <p:nvPr/>
        </p:nvPicPr>
        <p:blipFill rotWithShape="1">
          <a:blip r:embed="rId8">
            <a:extLst>
              <a:ext uri="{28A0092B-C50C-407E-A947-70E740481C1C}">
                <a14:useLocalDpi xmlns:a14="http://schemas.microsoft.com/office/drawing/2010/main" val="0"/>
              </a:ext>
            </a:extLst>
          </a:blip>
          <a:srcRect l="17091" t="13530" r="17243" b="21140"/>
          <a:stretch/>
        </p:blipFill>
        <p:spPr>
          <a:xfrm>
            <a:off x="218795" y="5645336"/>
            <a:ext cx="905726" cy="972000"/>
          </a:xfrm>
          <a:prstGeom prst="rect">
            <a:avLst/>
          </a:prstGeom>
        </p:spPr>
      </p:pic>
      <p:pic>
        <p:nvPicPr>
          <p:cNvPr id="2" name="Picture 1"/>
          <p:cNvPicPr>
            <a:picLocks noChangeAspect="1"/>
          </p:cNvPicPr>
          <p:nvPr/>
        </p:nvPicPr>
        <p:blipFill>
          <a:blip r:embed="rId9"/>
          <a:stretch>
            <a:fillRect/>
          </a:stretch>
        </p:blipFill>
        <p:spPr>
          <a:xfrm>
            <a:off x="432721" y="1120637"/>
            <a:ext cx="3487124" cy="4114348"/>
          </a:xfrm>
          <a:prstGeom prst="rect">
            <a:avLst/>
          </a:prstGeom>
        </p:spPr>
      </p:pic>
      <p:pic>
        <p:nvPicPr>
          <p:cNvPr id="3" name="Picture 2"/>
          <p:cNvPicPr>
            <a:picLocks noChangeAspect="1"/>
          </p:cNvPicPr>
          <p:nvPr/>
        </p:nvPicPr>
        <p:blipFill>
          <a:blip r:embed="rId10"/>
          <a:stretch>
            <a:fillRect/>
          </a:stretch>
        </p:blipFill>
        <p:spPr>
          <a:xfrm>
            <a:off x="4352566" y="2007697"/>
            <a:ext cx="3169562" cy="4114348"/>
          </a:xfrm>
          <a:prstGeom prst="rect">
            <a:avLst/>
          </a:prstGeom>
        </p:spPr>
      </p:pic>
      <p:pic>
        <p:nvPicPr>
          <p:cNvPr id="6" name="Picture 5"/>
          <p:cNvPicPr>
            <a:picLocks noChangeAspect="1"/>
          </p:cNvPicPr>
          <p:nvPr/>
        </p:nvPicPr>
        <p:blipFill>
          <a:blip r:embed="rId11"/>
          <a:stretch>
            <a:fillRect/>
          </a:stretch>
        </p:blipFill>
        <p:spPr>
          <a:xfrm>
            <a:off x="8030650" y="1221221"/>
            <a:ext cx="3036923" cy="4114348"/>
          </a:xfrm>
          <a:prstGeom prst="rect">
            <a:avLst/>
          </a:prstGeom>
        </p:spPr>
      </p:pic>
      <p:sp>
        <p:nvSpPr>
          <p:cNvPr id="21" name="TextBox 20"/>
          <p:cNvSpPr txBox="1"/>
          <p:nvPr/>
        </p:nvSpPr>
        <p:spPr>
          <a:xfrm>
            <a:off x="432721" y="440330"/>
            <a:ext cx="3175869"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rgbClr val="002060"/>
                </a:solidFill>
              </a:rPr>
              <a:t>ISO 14001:2015</a:t>
            </a:r>
            <a:endParaRPr lang="en-IN" sz="3600" b="1" dirty="0">
              <a:ln/>
              <a:solidFill>
                <a:srgbClr val="002060"/>
              </a:solidFill>
            </a:endParaRPr>
          </a:p>
        </p:txBody>
      </p:sp>
      <p:sp>
        <p:nvSpPr>
          <p:cNvPr id="22" name="TextBox 21"/>
          <p:cNvSpPr txBox="1"/>
          <p:nvPr/>
        </p:nvSpPr>
        <p:spPr>
          <a:xfrm>
            <a:off x="4352566" y="1379562"/>
            <a:ext cx="2941831"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rgbClr val="002060"/>
                </a:solidFill>
              </a:rPr>
              <a:t>ISO 9001:2015</a:t>
            </a:r>
            <a:endParaRPr lang="en-IN" sz="3600" b="1" dirty="0">
              <a:ln/>
              <a:solidFill>
                <a:srgbClr val="002060"/>
              </a:solidFill>
            </a:endParaRPr>
          </a:p>
        </p:txBody>
      </p:sp>
      <p:sp>
        <p:nvSpPr>
          <p:cNvPr id="23" name="TextBox 22"/>
          <p:cNvSpPr txBox="1"/>
          <p:nvPr/>
        </p:nvSpPr>
        <p:spPr>
          <a:xfrm>
            <a:off x="7954562" y="591703"/>
            <a:ext cx="3316934"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rgbClr val="002060"/>
                </a:solidFill>
              </a:rPr>
              <a:t>ISO 3434-2:2016</a:t>
            </a:r>
            <a:endParaRPr lang="en-IN" sz="3600" b="1" dirty="0">
              <a:ln/>
              <a:solidFill>
                <a:srgbClr val="002060"/>
              </a:solidFill>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2340520871"/>
              </p:ext>
            </p:extLst>
          </p:nvPr>
        </p:nvGraphicFramePr>
        <p:xfrm>
          <a:off x="7675245" y="5581236"/>
          <a:ext cx="731120" cy="615914"/>
        </p:xfrm>
        <a:graphic>
          <a:graphicData uri="http://schemas.openxmlformats.org/presentationml/2006/ole">
            <mc:AlternateContent xmlns:mc="http://schemas.openxmlformats.org/markup-compatibility/2006">
              <mc:Choice xmlns:v="urn:schemas-microsoft-com:vml" Requires="v">
                <p:oleObj spid="_x0000_s1128" name="Acrobat Document" showAsIcon="1" r:id="rId12" imgW="914400" imgH="771480" progId="Acrobat.Document.DC">
                  <p:link updateAutomatic="1"/>
                </p:oleObj>
              </mc:Choice>
              <mc:Fallback>
                <p:oleObj name="Acrobat Document" showAsIcon="1" r:id="rId12" imgW="914400" imgH="771480" progId="Acrobat.Document.DC">
                  <p:link updateAutomatic="1"/>
                  <p:pic>
                    <p:nvPicPr>
                      <p:cNvPr id="0" name=""/>
                      <p:cNvPicPr/>
                      <p:nvPr/>
                    </p:nvPicPr>
                    <p:blipFill>
                      <a:blip r:embed="rId13"/>
                      <a:stretch>
                        <a:fillRect/>
                      </a:stretch>
                    </p:blipFill>
                    <p:spPr>
                      <a:xfrm>
                        <a:off x="7675245" y="5581236"/>
                        <a:ext cx="731120" cy="615914"/>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987175265"/>
              </p:ext>
            </p:extLst>
          </p:nvPr>
        </p:nvGraphicFramePr>
        <p:xfrm>
          <a:off x="9395186" y="5602731"/>
          <a:ext cx="914400" cy="572924"/>
        </p:xfrm>
        <a:graphic>
          <a:graphicData uri="http://schemas.openxmlformats.org/presentationml/2006/ole">
            <mc:AlternateContent xmlns:mc="http://schemas.openxmlformats.org/markup-compatibility/2006">
              <mc:Choice xmlns:v="urn:schemas-microsoft-com:vml" Requires="v">
                <p:oleObj spid="_x0000_s1129" name="Acrobat Document" showAsIcon="1" r:id="rId14" imgW="914400" imgH="771480" progId="Acrobat.Document.DC">
                  <p:link updateAutomatic="1"/>
                </p:oleObj>
              </mc:Choice>
              <mc:Fallback>
                <p:oleObj name="Acrobat Document" showAsIcon="1" r:id="rId14" imgW="914400" imgH="771480" progId="Acrobat.Document.DC">
                  <p:link updateAutomatic="1"/>
                  <p:pic>
                    <p:nvPicPr>
                      <p:cNvPr id="0" name=""/>
                      <p:cNvPicPr/>
                      <p:nvPr/>
                    </p:nvPicPr>
                    <p:blipFill>
                      <a:blip r:embed="rId15"/>
                      <a:stretch>
                        <a:fillRect/>
                      </a:stretch>
                    </p:blipFill>
                    <p:spPr>
                      <a:xfrm>
                        <a:off x="9395186" y="5602731"/>
                        <a:ext cx="914400" cy="572924"/>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861755444"/>
              </p:ext>
            </p:extLst>
          </p:nvPr>
        </p:nvGraphicFramePr>
        <p:xfrm>
          <a:off x="2390839" y="5532820"/>
          <a:ext cx="787354" cy="664330"/>
        </p:xfrm>
        <a:graphic>
          <a:graphicData uri="http://schemas.openxmlformats.org/presentationml/2006/ole">
            <mc:AlternateContent xmlns:mc="http://schemas.openxmlformats.org/markup-compatibility/2006">
              <mc:Choice xmlns:v="urn:schemas-microsoft-com:vml" Requires="v">
                <p:oleObj spid="_x0000_s1130" name="Acrobat Document" showAsIcon="1" r:id="rId16" imgW="914400" imgH="771480" progId="Acrobat.Document.DC">
                  <p:link updateAutomatic="1"/>
                </p:oleObj>
              </mc:Choice>
              <mc:Fallback>
                <p:oleObj name="Acrobat Document" showAsIcon="1" r:id="rId16" imgW="914400" imgH="771480" progId="Acrobat.Document.DC">
                  <p:link updateAutomatic="1"/>
                  <p:pic>
                    <p:nvPicPr>
                      <p:cNvPr id="0" name=""/>
                      <p:cNvPicPr/>
                      <p:nvPr/>
                    </p:nvPicPr>
                    <p:blipFill>
                      <a:blip r:embed="rId17"/>
                      <a:stretch>
                        <a:fillRect/>
                      </a:stretch>
                    </p:blipFill>
                    <p:spPr>
                      <a:xfrm>
                        <a:off x="2390839" y="5532820"/>
                        <a:ext cx="787354" cy="664330"/>
                      </a:xfrm>
                      <a:prstGeom prst="rect">
                        <a:avLst/>
                      </a:prstGeom>
                    </p:spPr>
                  </p:pic>
                </p:oleObj>
              </mc:Fallback>
            </mc:AlternateContent>
          </a:graphicData>
        </a:graphic>
      </p:graphicFrame>
    </p:spTree>
    <p:extLst>
      <p:ext uri="{BB962C8B-B14F-4D97-AF65-F5344CB8AC3E}">
        <p14:creationId xmlns:p14="http://schemas.microsoft.com/office/powerpoint/2010/main" val="20340147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a:off x="0" y="3546763"/>
            <a:ext cx="2140466" cy="3311237"/>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179673" y="105167"/>
            <a:ext cx="1960793"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About Us</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15" name="Picture 14"/>
          <p:cNvPicPr>
            <a:picLocks noChangeAspect="1"/>
          </p:cNvPicPr>
          <p:nvPr/>
        </p:nvPicPr>
        <p:blipFill>
          <a:blip r:embed="rId3"/>
          <a:stretch>
            <a:fillRect/>
          </a:stretch>
        </p:blipFill>
        <p:spPr>
          <a:xfrm>
            <a:off x="0" y="3546764"/>
            <a:ext cx="2241279" cy="3311236"/>
          </a:xfrm>
          <a:prstGeom prst="rect">
            <a:avLst/>
          </a:prstGeom>
        </p:spPr>
      </p:pic>
      <p:pic>
        <p:nvPicPr>
          <p:cNvPr id="5" name="Picture 4"/>
          <p:cNvPicPr>
            <a:picLocks noChangeAspect="1"/>
          </p:cNvPicPr>
          <p:nvPr/>
        </p:nvPicPr>
        <p:blipFill>
          <a:blip r:embed="rId4"/>
          <a:stretch>
            <a:fillRect/>
          </a:stretch>
        </p:blipFill>
        <p:spPr>
          <a:xfrm>
            <a:off x="11298407" y="0"/>
            <a:ext cx="638264" cy="6858957"/>
          </a:xfrm>
          <a:prstGeom prst="rect">
            <a:avLst/>
          </a:prstGeom>
        </p:spPr>
      </p:pic>
      <p:sp>
        <p:nvSpPr>
          <p:cNvPr id="2" name="TextBox 1"/>
          <p:cNvSpPr txBox="1"/>
          <p:nvPr/>
        </p:nvSpPr>
        <p:spPr>
          <a:xfrm>
            <a:off x="1782618" y="819718"/>
            <a:ext cx="9414976" cy="6047809"/>
          </a:xfrm>
          <a:prstGeom prst="rect">
            <a:avLst/>
          </a:prstGeom>
          <a:noFill/>
        </p:spPr>
        <p:txBody>
          <a:bodyPr wrap="square" rtlCol="0">
            <a:spAutoFit/>
          </a:bodyPr>
          <a:lstStyle/>
          <a:p>
            <a:pPr algn="just">
              <a:lnSpc>
                <a:spcPct val="120000"/>
              </a:lnSpc>
              <a:spcBef>
                <a:spcPts val="1200"/>
              </a:spcBef>
              <a:spcAft>
                <a:spcPts val="600"/>
              </a:spcAft>
            </a:pPr>
            <a:r>
              <a:rPr lang="en-US" b="1" dirty="0" smtClean="0">
                <a:solidFill>
                  <a:srgbClr val="C00000"/>
                </a:solidFill>
              </a:rPr>
              <a:t>GTech </a:t>
            </a:r>
            <a:r>
              <a:rPr lang="en-US" b="1" dirty="0">
                <a:solidFill>
                  <a:srgbClr val="C00000"/>
                </a:solidFill>
              </a:rPr>
              <a:t>Enterprises </a:t>
            </a:r>
            <a:r>
              <a:rPr lang="en-US" dirty="0"/>
              <a:t>is a forward-thinking, quality-focused manufacturing company specializing in </a:t>
            </a:r>
            <a:r>
              <a:rPr lang="en-US" b="1" dirty="0" smtClean="0"/>
              <a:t>precision </a:t>
            </a:r>
            <a:r>
              <a:rPr lang="en-US" b="1" dirty="0"/>
              <a:t>machining </a:t>
            </a:r>
            <a:r>
              <a:rPr lang="en-US" b="1" dirty="0" smtClean="0"/>
              <a:t> and </a:t>
            </a:r>
            <a:r>
              <a:rPr lang="en-US" b="1" dirty="0"/>
              <a:t> </a:t>
            </a:r>
            <a:r>
              <a:rPr lang="en-US" b="1" dirty="0" smtClean="0"/>
              <a:t>manufacturing solutions</a:t>
            </a:r>
            <a:r>
              <a:rPr lang="en-US" dirty="0"/>
              <a:t>. Based in </a:t>
            </a:r>
            <a:r>
              <a:rPr lang="en-US" dirty="0" smtClean="0"/>
              <a:t>Pune, Maharashtra state and </a:t>
            </a:r>
            <a:r>
              <a:rPr lang="en-US" dirty="0"/>
              <a:t>established in </a:t>
            </a:r>
            <a:r>
              <a:rPr lang="en-US" dirty="0" smtClean="0"/>
              <a:t>2018, </a:t>
            </a:r>
            <a:r>
              <a:rPr lang="en-US" dirty="0"/>
              <a:t>we have built a strong reputation for delivering high-performance engineering components and assemblies tailored to meet the diverse needs of industries such as automotive, aerospace, energy, construction, and heavy machinery.</a:t>
            </a:r>
          </a:p>
          <a:p>
            <a:pPr algn="just">
              <a:lnSpc>
                <a:spcPct val="120000"/>
              </a:lnSpc>
              <a:spcBef>
                <a:spcPts val="1200"/>
              </a:spcBef>
              <a:spcAft>
                <a:spcPts val="600"/>
              </a:spcAft>
            </a:pPr>
            <a:r>
              <a:rPr lang="en-US" dirty="0"/>
              <a:t>Our </a:t>
            </a:r>
            <a:r>
              <a:rPr lang="en-US" b="1" dirty="0" smtClean="0"/>
              <a:t>manufacturing </a:t>
            </a:r>
            <a:r>
              <a:rPr lang="en-US" b="1" dirty="0"/>
              <a:t>capabilities</a:t>
            </a:r>
            <a:r>
              <a:rPr lang="en-US" dirty="0"/>
              <a:t> span a wide range of processes including </a:t>
            </a:r>
            <a:r>
              <a:rPr lang="en-US" b="1" dirty="0"/>
              <a:t>sheet metal forming, structural steel fabrication, welding (MIG, TIG, and arc), laser cutting, plasma cutting, bending, rolling, and assembly of complex structures</a:t>
            </a:r>
            <a:r>
              <a:rPr lang="en-US" dirty="0"/>
              <a:t>. Whether it's prototyping or full-scale production, our team combines technical expertise with advanced tools and machinery to deliver consistent quality, dimensional accuracy, and durability.</a:t>
            </a:r>
          </a:p>
          <a:p>
            <a:pPr algn="just">
              <a:lnSpc>
                <a:spcPct val="120000"/>
              </a:lnSpc>
              <a:spcBef>
                <a:spcPts val="1200"/>
              </a:spcBef>
              <a:spcAft>
                <a:spcPts val="600"/>
              </a:spcAft>
            </a:pPr>
            <a:r>
              <a:rPr lang="en-US" dirty="0" smtClean="0"/>
              <a:t>At </a:t>
            </a:r>
            <a:r>
              <a:rPr lang="en-US" b="1" dirty="0" smtClean="0">
                <a:solidFill>
                  <a:srgbClr val="C00000"/>
                </a:solidFill>
              </a:rPr>
              <a:t>GTech </a:t>
            </a:r>
            <a:r>
              <a:rPr lang="en-US" b="1" dirty="0">
                <a:solidFill>
                  <a:srgbClr val="C00000"/>
                </a:solidFill>
              </a:rPr>
              <a:t>Enterprises</a:t>
            </a:r>
            <a:r>
              <a:rPr lang="en-US" dirty="0"/>
              <a:t>, we are committed to excellence, continuous improvement, and customer satisfaction. We pride ourselves on timely delivery, transparent communication, and fostering long-term partnerships built on trust and performance. As we grow, we continue to invest in technology, talent, and sustainable practices to serve our clients better and contribute to the future of smart manufacturing.</a:t>
            </a:r>
          </a:p>
          <a:p>
            <a:pPr algn="just">
              <a:spcBef>
                <a:spcPts val="1200"/>
              </a:spcBef>
              <a:spcAft>
                <a:spcPts val="600"/>
              </a:spcAft>
            </a:pPr>
            <a:endParaRPr lang="en-IN" dirty="0"/>
          </a:p>
        </p:txBody>
      </p:sp>
      <p:sp>
        <p:nvSpPr>
          <p:cNvPr id="11" name="TextBox 10"/>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20" name="Picture 19"/>
          <p:cNvPicPr>
            <a:picLocks noChangeAspect="1"/>
          </p:cNvPicPr>
          <p:nvPr/>
        </p:nvPicPr>
        <p:blipFill rotWithShape="1">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2" name="Picture 11"/>
          <p:cNvPicPr>
            <a:picLocks noChangeAspect="1"/>
          </p:cNvPicPr>
          <p:nvPr/>
        </p:nvPicPr>
        <p:blipFill rotWithShape="1">
          <a:blip r:embed="rId7">
            <a:extLst>
              <a:ext uri="{28A0092B-C50C-407E-A947-70E740481C1C}">
                <a14:useLocalDpi xmlns:a14="http://schemas.microsoft.com/office/drawing/2010/main" val="0"/>
              </a:ext>
            </a:extLst>
          </a:blip>
          <a:srcRect l="17091" t="13530" r="17243" b="21140"/>
          <a:stretch/>
        </p:blipFill>
        <p:spPr>
          <a:xfrm>
            <a:off x="169451" y="5636192"/>
            <a:ext cx="1008000" cy="1081757"/>
          </a:xfrm>
          <a:prstGeom prst="rect">
            <a:avLst/>
          </a:prstGeom>
        </p:spPr>
      </p:pic>
    </p:spTree>
    <p:extLst>
      <p:ext uri="{BB962C8B-B14F-4D97-AF65-F5344CB8AC3E}">
        <p14:creationId xmlns:p14="http://schemas.microsoft.com/office/powerpoint/2010/main" val="34538492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a:off x="0" y="1582995"/>
            <a:ext cx="3463636" cy="5275006"/>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179673" y="105167"/>
            <a:ext cx="3900427"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Vision</a:t>
            </a:r>
            <a:r>
              <a:rPr lang="en-IN" sz="3600" b="1" dirty="0">
                <a:ln/>
                <a:solidFill>
                  <a:schemeClr val="accent3"/>
                </a:solidFill>
              </a:rPr>
              <a:t> </a:t>
            </a:r>
            <a:r>
              <a:rPr lang="en-IN" sz="3600" b="1" dirty="0" smtClean="0">
                <a:ln/>
                <a:solidFill>
                  <a:schemeClr val="accent3"/>
                </a:solidFill>
              </a:rPr>
              <a:t>and Mission </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15" name="Picture 14"/>
          <p:cNvPicPr>
            <a:picLocks noChangeAspect="1"/>
          </p:cNvPicPr>
          <p:nvPr/>
        </p:nvPicPr>
        <p:blipFill>
          <a:blip r:embed="rId3"/>
          <a:stretch>
            <a:fillRect/>
          </a:stretch>
        </p:blipFill>
        <p:spPr>
          <a:xfrm>
            <a:off x="0" y="1573746"/>
            <a:ext cx="3576757" cy="5284254"/>
          </a:xfrm>
          <a:prstGeom prst="rect">
            <a:avLst/>
          </a:prstGeom>
        </p:spPr>
      </p:pic>
      <p:pic>
        <p:nvPicPr>
          <p:cNvPr id="9" name="Picture 8"/>
          <p:cNvPicPr>
            <a:picLocks noChangeAspect="1"/>
          </p:cNvPicPr>
          <p:nvPr/>
        </p:nvPicPr>
        <p:blipFill>
          <a:blip r:embed="rId4"/>
          <a:stretch>
            <a:fillRect/>
          </a:stretch>
        </p:blipFill>
        <p:spPr>
          <a:xfrm>
            <a:off x="11298407" y="0"/>
            <a:ext cx="638264" cy="6858957"/>
          </a:xfrm>
          <a:prstGeom prst="rect">
            <a:avLst/>
          </a:prstGeom>
        </p:spPr>
      </p:pic>
      <p:sp>
        <p:nvSpPr>
          <p:cNvPr id="2" name="TextBox 1"/>
          <p:cNvSpPr txBox="1"/>
          <p:nvPr/>
        </p:nvSpPr>
        <p:spPr>
          <a:xfrm>
            <a:off x="1893454" y="1105229"/>
            <a:ext cx="9051686" cy="1354217"/>
          </a:xfrm>
          <a:prstGeom prst="rect">
            <a:avLst/>
          </a:prstGeom>
          <a:noFill/>
        </p:spPr>
        <p:txBody>
          <a:bodyPr wrap="square" rtlCol="0">
            <a:spAutoFit/>
          </a:bodyPr>
          <a:lstStyle/>
          <a:p>
            <a:pPr algn="just">
              <a:spcBef>
                <a:spcPts val="600"/>
              </a:spcBef>
              <a:spcAft>
                <a:spcPts val="600"/>
              </a:spcAft>
            </a:pPr>
            <a:r>
              <a:rPr lang="en-US" b="1" dirty="0">
                <a:solidFill>
                  <a:schemeClr val="accent4">
                    <a:lumMod val="50000"/>
                  </a:schemeClr>
                </a:solidFill>
              </a:rPr>
              <a:t>Vision Statement:</a:t>
            </a:r>
          </a:p>
          <a:p>
            <a:pPr algn="just">
              <a:spcBef>
                <a:spcPts val="600"/>
              </a:spcBef>
              <a:spcAft>
                <a:spcPts val="600"/>
              </a:spcAft>
            </a:pPr>
            <a:r>
              <a:rPr lang="en-US" dirty="0"/>
              <a:t>"To be a leading and innovative manufacturing company delivering world-class </a:t>
            </a:r>
            <a:r>
              <a:rPr lang="en-US" dirty="0" smtClean="0"/>
              <a:t>machining and manufacturing </a:t>
            </a:r>
            <a:r>
              <a:rPr lang="en-US" dirty="0"/>
              <a:t>solutions, committed to excellence, precision, and sustainability in every project we undertake</a:t>
            </a:r>
            <a:r>
              <a:rPr lang="en-US" dirty="0" smtClean="0"/>
              <a:t>."</a:t>
            </a:r>
            <a:endParaRPr lang="en-US" dirty="0"/>
          </a:p>
        </p:txBody>
      </p:sp>
      <p:sp>
        <p:nvSpPr>
          <p:cNvPr id="3" name="Rectangle 2"/>
          <p:cNvSpPr/>
          <p:nvPr/>
        </p:nvSpPr>
        <p:spPr>
          <a:xfrm>
            <a:off x="3000913" y="2813177"/>
            <a:ext cx="8131476" cy="3200876"/>
          </a:xfrm>
          <a:prstGeom prst="rect">
            <a:avLst/>
          </a:prstGeom>
        </p:spPr>
        <p:txBody>
          <a:bodyPr wrap="square">
            <a:spAutoFit/>
          </a:bodyPr>
          <a:lstStyle/>
          <a:p>
            <a:pPr algn="just">
              <a:spcBef>
                <a:spcPts val="600"/>
              </a:spcBef>
              <a:spcAft>
                <a:spcPts val="600"/>
              </a:spcAft>
            </a:pPr>
            <a:r>
              <a:rPr lang="en-US" b="1" dirty="0">
                <a:solidFill>
                  <a:schemeClr val="accent4">
                    <a:lumMod val="50000"/>
                  </a:schemeClr>
                </a:solidFill>
              </a:rPr>
              <a:t>Mission Statement:</a:t>
            </a:r>
          </a:p>
          <a:p>
            <a:pPr>
              <a:spcBef>
                <a:spcPts val="600"/>
              </a:spcBef>
              <a:spcAft>
                <a:spcPts val="600"/>
              </a:spcAft>
              <a:buFont typeface="+mj-lt"/>
              <a:buAutoNum type="arabicPeriod"/>
            </a:pPr>
            <a:r>
              <a:rPr lang="en-US" dirty="0"/>
              <a:t>To provide high-quality, reliable, and </a:t>
            </a:r>
            <a:r>
              <a:rPr lang="en-US" dirty="0" smtClean="0"/>
              <a:t>cost-effective products and </a:t>
            </a:r>
            <a:r>
              <a:rPr lang="en-US" dirty="0"/>
              <a:t>services tailored to customer needs across diverse industries.</a:t>
            </a:r>
          </a:p>
          <a:p>
            <a:pPr>
              <a:spcBef>
                <a:spcPts val="600"/>
              </a:spcBef>
              <a:spcAft>
                <a:spcPts val="600"/>
              </a:spcAft>
              <a:buFont typeface="+mj-lt"/>
              <a:buAutoNum type="arabicPeriod"/>
            </a:pPr>
            <a:r>
              <a:rPr lang="en-US" dirty="0"/>
              <a:t>To embrace cutting-edge technologies and continuous improvement for enhancing product quality, process efficiency, and customer satisfaction.</a:t>
            </a:r>
          </a:p>
          <a:p>
            <a:pPr>
              <a:spcBef>
                <a:spcPts val="600"/>
              </a:spcBef>
              <a:spcAft>
                <a:spcPts val="600"/>
              </a:spcAft>
              <a:buFont typeface="+mj-lt"/>
              <a:buAutoNum type="arabicPeriod"/>
            </a:pPr>
            <a:r>
              <a:rPr lang="en-US" dirty="0" smtClean="0"/>
              <a:t>To </a:t>
            </a:r>
            <a:r>
              <a:rPr lang="en-US" dirty="0"/>
              <a:t>build long-term partnerships with clients through integrity, transparency, and on-time delivery.</a:t>
            </a:r>
          </a:p>
          <a:p>
            <a:pPr>
              <a:spcBef>
                <a:spcPts val="600"/>
              </a:spcBef>
              <a:spcAft>
                <a:spcPts val="600"/>
              </a:spcAft>
              <a:buFont typeface="+mj-lt"/>
              <a:buAutoNum type="arabicPeriod"/>
            </a:pPr>
            <a:r>
              <a:rPr lang="en-US" dirty="0"/>
              <a:t>To contribute to sustainable manufacturing practices by optimizing resources and reducing waste.</a:t>
            </a:r>
          </a:p>
        </p:txBody>
      </p:sp>
      <p:sp>
        <p:nvSpPr>
          <p:cNvPr id="11" name="TextBox 10"/>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14" name="Picture 13"/>
          <p:cNvPicPr>
            <a:picLocks noChangeAspect="1"/>
          </p:cNvPicPr>
          <p:nvPr/>
        </p:nvPicPr>
        <p:blipFill rotWithShape="1">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2" name="Picture 11"/>
          <p:cNvPicPr>
            <a:picLocks noChangeAspect="1"/>
          </p:cNvPicPr>
          <p:nvPr/>
        </p:nvPicPr>
        <p:blipFill rotWithShape="1">
          <a:blip r:embed="rId7">
            <a:extLst>
              <a:ext uri="{28A0092B-C50C-407E-A947-70E740481C1C}">
                <a14:useLocalDpi xmlns:a14="http://schemas.microsoft.com/office/drawing/2010/main" val="0"/>
              </a:ext>
            </a:extLst>
          </a:blip>
          <a:srcRect l="17091" t="13530" r="17243" b="21140"/>
          <a:stretch/>
        </p:blipFill>
        <p:spPr>
          <a:xfrm>
            <a:off x="288325" y="5016928"/>
            <a:ext cx="1442453" cy="1548000"/>
          </a:xfrm>
          <a:prstGeom prst="rect">
            <a:avLst/>
          </a:prstGeom>
        </p:spPr>
      </p:pic>
    </p:spTree>
    <p:extLst>
      <p:ext uri="{BB962C8B-B14F-4D97-AF65-F5344CB8AC3E}">
        <p14:creationId xmlns:p14="http://schemas.microsoft.com/office/powerpoint/2010/main" val="26381250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a:off x="0" y="1582995"/>
            <a:ext cx="3463636" cy="5275006"/>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179673" y="105167"/>
            <a:ext cx="2814168"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Quality Policy</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15" name="Picture 14"/>
          <p:cNvPicPr>
            <a:picLocks noChangeAspect="1"/>
          </p:cNvPicPr>
          <p:nvPr/>
        </p:nvPicPr>
        <p:blipFill>
          <a:blip r:embed="rId3"/>
          <a:stretch>
            <a:fillRect/>
          </a:stretch>
        </p:blipFill>
        <p:spPr>
          <a:xfrm>
            <a:off x="0" y="1582890"/>
            <a:ext cx="3576757" cy="5284254"/>
          </a:xfrm>
          <a:prstGeom prst="rect">
            <a:avLst/>
          </a:prstGeom>
        </p:spPr>
      </p:pic>
      <p:pic>
        <p:nvPicPr>
          <p:cNvPr id="9" name="Picture 8"/>
          <p:cNvPicPr>
            <a:picLocks noChangeAspect="1"/>
          </p:cNvPicPr>
          <p:nvPr/>
        </p:nvPicPr>
        <p:blipFill>
          <a:blip r:embed="rId4"/>
          <a:stretch>
            <a:fillRect/>
          </a:stretch>
        </p:blipFill>
        <p:spPr>
          <a:xfrm>
            <a:off x="11298407" y="0"/>
            <a:ext cx="638264" cy="6858957"/>
          </a:xfrm>
          <a:prstGeom prst="rect">
            <a:avLst/>
          </a:prstGeom>
        </p:spPr>
      </p:pic>
      <p:sp>
        <p:nvSpPr>
          <p:cNvPr id="2" name="TextBox 1"/>
          <p:cNvSpPr txBox="1"/>
          <p:nvPr/>
        </p:nvSpPr>
        <p:spPr>
          <a:xfrm>
            <a:off x="3291840" y="1582995"/>
            <a:ext cx="7682279" cy="4862870"/>
          </a:xfrm>
          <a:prstGeom prst="rect">
            <a:avLst/>
          </a:prstGeom>
          <a:noFill/>
        </p:spPr>
        <p:txBody>
          <a:bodyPr wrap="square" rtlCol="0">
            <a:spAutoFit/>
          </a:bodyPr>
          <a:lstStyle/>
          <a:p>
            <a:pPr algn="just">
              <a:lnSpc>
                <a:spcPct val="150000"/>
              </a:lnSpc>
              <a:spcBef>
                <a:spcPts val="1200"/>
              </a:spcBef>
              <a:spcAft>
                <a:spcPts val="1200"/>
              </a:spcAft>
            </a:pPr>
            <a:r>
              <a:rPr lang="en-US" sz="2000" smtClean="0"/>
              <a:t> </a:t>
            </a:r>
            <a:r>
              <a:rPr lang="en-US" sz="2000" dirty="0"/>
              <a:t>We at </a:t>
            </a:r>
            <a:r>
              <a:rPr lang="en-US" sz="2000" b="1" dirty="0" smtClean="0">
                <a:solidFill>
                  <a:srgbClr val="C00000"/>
                </a:solidFill>
              </a:rPr>
              <a:t>“Gtech Enterprises” </a:t>
            </a:r>
            <a:r>
              <a:rPr lang="en-US" sz="2000" dirty="0"/>
              <a:t>are committed to manufacture &amp; supply of Machined Components meeting customer specifications, within stipulated time and cost effectiveness</a:t>
            </a:r>
            <a:r>
              <a:rPr lang="en-US" sz="2000" dirty="0" smtClean="0"/>
              <a:t>.</a:t>
            </a:r>
          </a:p>
          <a:p>
            <a:pPr algn="just">
              <a:lnSpc>
                <a:spcPct val="150000"/>
              </a:lnSpc>
              <a:spcBef>
                <a:spcPts val="1200"/>
              </a:spcBef>
              <a:spcAft>
                <a:spcPts val="1200"/>
              </a:spcAft>
            </a:pPr>
            <a:r>
              <a:rPr lang="en-US" sz="2000" b="1" dirty="0">
                <a:solidFill>
                  <a:srgbClr val="660033"/>
                </a:solidFill>
              </a:rPr>
              <a:t> </a:t>
            </a:r>
            <a:r>
              <a:rPr lang="en-US" sz="2000" dirty="0"/>
              <a:t>We are committed to maintain effective quality management systems through continual improvement of our products, process with enhance customer satisfaction. And We will provide training periodically as per need of our employees.</a:t>
            </a:r>
          </a:p>
          <a:p>
            <a:pPr algn="just">
              <a:lnSpc>
                <a:spcPct val="150000"/>
              </a:lnSpc>
              <a:spcBef>
                <a:spcPts val="1200"/>
              </a:spcBef>
              <a:spcAft>
                <a:spcPts val="1200"/>
              </a:spcAft>
            </a:pPr>
            <a:r>
              <a:rPr lang="en-US" sz="2000" dirty="0"/>
              <a:t>The objective will be maintained, measured &amp; analyzed periodically to achieve our target.”</a:t>
            </a:r>
          </a:p>
        </p:txBody>
      </p:sp>
      <p:sp>
        <p:nvSpPr>
          <p:cNvPr id="11" name="TextBox 10"/>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14" name="Picture 13"/>
          <p:cNvPicPr>
            <a:picLocks noChangeAspect="1"/>
          </p:cNvPicPr>
          <p:nvPr/>
        </p:nvPicPr>
        <p:blipFill rotWithShape="1">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2" name="Picture 11"/>
          <p:cNvPicPr>
            <a:picLocks noChangeAspect="1"/>
          </p:cNvPicPr>
          <p:nvPr/>
        </p:nvPicPr>
        <p:blipFill rotWithShape="1">
          <a:blip r:embed="rId7">
            <a:extLst>
              <a:ext uri="{28A0092B-C50C-407E-A947-70E740481C1C}">
                <a14:useLocalDpi xmlns:a14="http://schemas.microsoft.com/office/drawing/2010/main" val="0"/>
              </a:ext>
            </a:extLst>
          </a:blip>
          <a:srcRect l="17091" t="13530" r="17243" b="21140"/>
          <a:stretch/>
        </p:blipFill>
        <p:spPr>
          <a:xfrm>
            <a:off x="357030" y="5074508"/>
            <a:ext cx="1408908" cy="1512000"/>
          </a:xfrm>
          <a:prstGeom prst="rect">
            <a:avLst/>
          </a:prstGeom>
        </p:spPr>
      </p:pic>
    </p:spTree>
    <p:extLst>
      <p:ext uri="{BB962C8B-B14F-4D97-AF65-F5344CB8AC3E}">
        <p14:creationId xmlns:p14="http://schemas.microsoft.com/office/powerpoint/2010/main" val="974057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a:off x="0" y="1582995"/>
            <a:ext cx="3463636" cy="5275006"/>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179673" y="105167"/>
            <a:ext cx="4516236"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Organization Structure</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15" name="Picture 14"/>
          <p:cNvPicPr>
            <a:picLocks noChangeAspect="1"/>
          </p:cNvPicPr>
          <p:nvPr/>
        </p:nvPicPr>
        <p:blipFill>
          <a:blip r:embed="rId3"/>
          <a:stretch>
            <a:fillRect/>
          </a:stretch>
        </p:blipFill>
        <p:spPr>
          <a:xfrm>
            <a:off x="0" y="1573746"/>
            <a:ext cx="3576757" cy="5284254"/>
          </a:xfrm>
          <a:prstGeom prst="rect">
            <a:avLst/>
          </a:prstGeom>
        </p:spPr>
      </p:pic>
      <p:pic>
        <p:nvPicPr>
          <p:cNvPr id="9" name="Picture 8"/>
          <p:cNvPicPr>
            <a:picLocks noChangeAspect="1"/>
          </p:cNvPicPr>
          <p:nvPr/>
        </p:nvPicPr>
        <p:blipFill>
          <a:blip r:embed="rId4"/>
          <a:stretch>
            <a:fillRect/>
          </a:stretch>
        </p:blipFill>
        <p:spPr>
          <a:xfrm>
            <a:off x="11298407" y="0"/>
            <a:ext cx="638264" cy="6858957"/>
          </a:xfrm>
          <a:prstGeom prst="rect">
            <a:avLst/>
          </a:prstGeom>
        </p:spPr>
      </p:pic>
      <p:sp>
        <p:nvSpPr>
          <p:cNvPr id="11" name="TextBox 10"/>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14" name="Picture 13"/>
          <p:cNvPicPr>
            <a:picLocks noChangeAspect="1"/>
          </p:cNvPicPr>
          <p:nvPr/>
        </p:nvPicPr>
        <p:blipFill rotWithShape="1">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2" name="Picture 11">
            <a:extLst>
              <a:ext uri="{FF2B5EF4-FFF2-40B4-BE49-F238E27FC236}">
                <a16:creationId xmlns:a16="http://schemas.microsoft.com/office/drawing/2014/main" xmlns="" id="{F810941B-FBAC-19BC-F6C2-5C4518879B7B}"/>
              </a:ext>
            </a:extLst>
          </p:cNvPr>
          <p:cNvPicPr>
            <a:picLocks noChangeAspect="1"/>
          </p:cNvPicPr>
          <p:nvPr/>
        </p:nvPicPr>
        <p:blipFill rotWithShape="1">
          <a:blip r:embed="rId7" cstate="print"/>
          <a:srcRect l="2718" t="5983" r="4377" b="5296"/>
          <a:stretch/>
        </p:blipFill>
        <p:spPr>
          <a:xfrm>
            <a:off x="3063240" y="751498"/>
            <a:ext cx="8073026" cy="5341986"/>
          </a:xfrm>
          <a:prstGeom prst="rect">
            <a:avLst/>
          </a:prstGeom>
        </p:spPr>
      </p:pic>
      <p:pic>
        <p:nvPicPr>
          <p:cNvPr id="16" name="Picture 15"/>
          <p:cNvPicPr>
            <a:picLocks noChangeAspect="1"/>
          </p:cNvPicPr>
          <p:nvPr/>
        </p:nvPicPr>
        <p:blipFill rotWithShape="1">
          <a:blip r:embed="rId8">
            <a:extLst>
              <a:ext uri="{28A0092B-C50C-407E-A947-70E740481C1C}">
                <a14:useLocalDpi xmlns:a14="http://schemas.microsoft.com/office/drawing/2010/main" val="0"/>
              </a:ext>
            </a:extLst>
          </a:blip>
          <a:srcRect l="17091" t="13530" r="17243" b="21140"/>
          <a:stretch/>
        </p:blipFill>
        <p:spPr>
          <a:xfrm>
            <a:off x="378943" y="5000368"/>
            <a:ext cx="1424101" cy="1528304"/>
          </a:xfrm>
          <a:prstGeom prst="rect">
            <a:avLst/>
          </a:prstGeom>
        </p:spPr>
      </p:pic>
    </p:spTree>
    <p:extLst>
      <p:ext uri="{BB962C8B-B14F-4D97-AF65-F5344CB8AC3E}">
        <p14:creationId xmlns:p14="http://schemas.microsoft.com/office/powerpoint/2010/main" val="982401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179673" y="105167"/>
            <a:ext cx="5822235"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Machining Facilities Available</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15" name="Picture 14"/>
          <p:cNvPicPr>
            <a:picLocks noChangeAspect="1"/>
          </p:cNvPicPr>
          <p:nvPr/>
        </p:nvPicPr>
        <p:blipFill>
          <a:blip r:embed="rId3"/>
          <a:stretch>
            <a:fillRect/>
          </a:stretch>
        </p:blipFill>
        <p:spPr>
          <a:xfrm>
            <a:off x="0" y="3666836"/>
            <a:ext cx="2160005" cy="3191163"/>
          </a:xfrm>
          <a:prstGeom prst="rect">
            <a:avLst/>
          </a:prstGeom>
        </p:spPr>
      </p:pic>
      <p:pic>
        <p:nvPicPr>
          <p:cNvPr id="9" name="Picture 8"/>
          <p:cNvPicPr>
            <a:picLocks noChangeAspect="1"/>
          </p:cNvPicPr>
          <p:nvPr/>
        </p:nvPicPr>
        <p:blipFill>
          <a:blip r:embed="rId4"/>
          <a:stretch>
            <a:fillRect/>
          </a:stretch>
        </p:blipFill>
        <p:spPr>
          <a:xfrm>
            <a:off x="11298407" y="0"/>
            <a:ext cx="638264" cy="6858957"/>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2301002530"/>
              </p:ext>
            </p:extLst>
          </p:nvPr>
        </p:nvGraphicFramePr>
        <p:xfrm>
          <a:off x="2087418" y="4697369"/>
          <a:ext cx="4340790" cy="1889760"/>
        </p:xfrm>
        <a:graphic>
          <a:graphicData uri="http://schemas.openxmlformats.org/drawingml/2006/table">
            <a:tbl>
              <a:tblPr/>
              <a:tblGrid>
                <a:gridCol w="2435396">
                  <a:extLst>
                    <a:ext uri="{9D8B030D-6E8A-4147-A177-3AD203B41FA5}">
                      <a16:colId xmlns:a16="http://schemas.microsoft.com/office/drawing/2014/main" xmlns="" val="2462314929"/>
                    </a:ext>
                  </a:extLst>
                </a:gridCol>
                <a:gridCol w="706056">
                  <a:extLst>
                    <a:ext uri="{9D8B030D-6E8A-4147-A177-3AD203B41FA5}">
                      <a16:colId xmlns:a16="http://schemas.microsoft.com/office/drawing/2014/main" xmlns="" val="3581172010"/>
                    </a:ext>
                  </a:extLst>
                </a:gridCol>
                <a:gridCol w="1199338">
                  <a:extLst>
                    <a:ext uri="{9D8B030D-6E8A-4147-A177-3AD203B41FA5}">
                      <a16:colId xmlns:a16="http://schemas.microsoft.com/office/drawing/2014/main" xmlns="" val="1985743090"/>
                    </a:ext>
                  </a:extLst>
                </a:gridCol>
              </a:tblGrid>
              <a:tr h="0">
                <a:tc>
                  <a:txBody>
                    <a:bodyPr/>
                    <a:lstStyle/>
                    <a:p>
                      <a:pPr algn="ctr" fontAlgn="t"/>
                      <a:r>
                        <a:rPr lang="en-IN" sz="1400" b="1" dirty="0">
                          <a:effectLst/>
                        </a:rPr>
                        <a:t>CAPACITY</a:t>
                      </a:r>
                    </a:p>
                  </a:txBody>
                  <a:tcPr marR="7620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r>
                        <a:rPr lang="en-IN" sz="1400" b="1" dirty="0">
                          <a:effectLst/>
                        </a:rPr>
                        <a:t>UNIT</a:t>
                      </a:r>
                    </a:p>
                  </a:txBody>
                  <a:tcPr marL="76200" marR="7620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r>
                        <a:rPr lang="en-IN" sz="1400" b="1" dirty="0">
                          <a:effectLst/>
                        </a:rPr>
                        <a:t>BMV50 TC24</a:t>
                      </a:r>
                    </a:p>
                  </a:txBody>
                  <a:tcPr marL="76200" marR="7620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723063779"/>
                  </a:ext>
                </a:extLst>
              </a:tr>
              <a:tr h="0">
                <a:tc>
                  <a:txBody>
                    <a:bodyPr/>
                    <a:lstStyle/>
                    <a:p>
                      <a:r>
                        <a:rPr lang="en-IN" sz="1400" dirty="0">
                          <a:effectLst/>
                        </a:rPr>
                        <a:t>Head stock travel(Z- axis)</a:t>
                      </a:r>
                    </a:p>
                  </a:txBody>
                  <a:tcPr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IN" sz="1400" dirty="0">
                          <a:effectLst/>
                        </a:rPr>
                        <a:t>mm</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IN" sz="1400" dirty="0">
                          <a:effectLst/>
                        </a:rPr>
                        <a:t>510</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1134384416"/>
                  </a:ext>
                </a:extLst>
              </a:tr>
              <a:tr h="0">
                <a:tc>
                  <a:txBody>
                    <a:bodyPr/>
                    <a:lstStyle/>
                    <a:p>
                      <a:r>
                        <a:rPr lang="en-US" sz="1400" dirty="0">
                          <a:effectLst/>
                        </a:rPr>
                        <a:t>Spindle nose face to table top</a:t>
                      </a:r>
                    </a:p>
                  </a:txBody>
                  <a:tcPr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IN" sz="1400" dirty="0">
                          <a:effectLst/>
                        </a:rPr>
                        <a:t>mm</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IN" sz="1400">
                          <a:effectLst/>
                        </a:rPr>
                        <a:t>100-610</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3590142409"/>
                  </a:ext>
                </a:extLst>
              </a:tr>
              <a:tr h="0">
                <a:tc>
                  <a:txBody>
                    <a:bodyPr/>
                    <a:lstStyle/>
                    <a:p>
                      <a:r>
                        <a:rPr lang="en-US" sz="1400" dirty="0">
                          <a:effectLst/>
                        </a:rPr>
                        <a:t>Increased daylight area with column height block(optional)</a:t>
                      </a:r>
                    </a:p>
                  </a:txBody>
                  <a:tcPr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IN" sz="1400" dirty="0">
                          <a:effectLst/>
                        </a:rPr>
                        <a:t>mm</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IN" sz="1400" dirty="0">
                          <a:effectLst/>
                        </a:rPr>
                        <a:t>300-810</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2841834873"/>
                  </a:ext>
                </a:extLst>
              </a:tr>
              <a:tr h="0">
                <a:tc>
                  <a:txBody>
                    <a:bodyPr/>
                    <a:lstStyle/>
                    <a:p>
                      <a:r>
                        <a:rPr lang="en-US" sz="1400">
                          <a:effectLst/>
                        </a:rPr>
                        <a:t>Distance from floor to table</a:t>
                      </a:r>
                    </a:p>
                  </a:txBody>
                  <a:tcPr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IN" sz="1400" dirty="0">
                          <a:effectLst/>
                        </a:rPr>
                        <a:t>mm</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IN" sz="1400" dirty="0">
                          <a:effectLst/>
                        </a:rPr>
                        <a:t>950</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3193992385"/>
                  </a:ext>
                </a:extLst>
              </a:tr>
            </a:tbl>
          </a:graphicData>
        </a:graphic>
      </p:graphicFrame>
      <p:pic>
        <p:nvPicPr>
          <p:cNvPr id="1026" name="Picture 2" descr="BFW BMV 50TC24 Vertical Machining Centers - MachineTools.co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5307" y="995454"/>
            <a:ext cx="4762500" cy="36671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uy New LMW CNC Lathe for Metal Cutting in India - ZatpatMachines"/>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9659" t="5827" r="16217" b="12245"/>
          <a:stretch/>
        </p:blipFill>
        <p:spPr bwMode="auto">
          <a:xfrm>
            <a:off x="7070170" y="937249"/>
            <a:ext cx="4137016" cy="352559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3739376347"/>
              </p:ext>
            </p:extLst>
          </p:nvPr>
        </p:nvGraphicFramePr>
        <p:xfrm>
          <a:off x="6920576" y="4697369"/>
          <a:ext cx="4286610" cy="1889760"/>
        </p:xfrm>
        <a:graphic>
          <a:graphicData uri="http://schemas.openxmlformats.org/drawingml/2006/table">
            <a:tbl>
              <a:tblPr/>
              <a:tblGrid>
                <a:gridCol w="2110442">
                  <a:extLst>
                    <a:ext uri="{9D8B030D-6E8A-4147-A177-3AD203B41FA5}">
                      <a16:colId xmlns:a16="http://schemas.microsoft.com/office/drawing/2014/main" xmlns="" val="1470215470"/>
                    </a:ext>
                  </a:extLst>
                </a:gridCol>
                <a:gridCol w="951346">
                  <a:extLst>
                    <a:ext uri="{9D8B030D-6E8A-4147-A177-3AD203B41FA5}">
                      <a16:colId xmlns:a16="http://schemas.microsoft.com/office/drawing/2014/main" xmlns="" val="11018701"/>
                    </a:ext>
                  </a:extLst>
                </a:gridCol>
                <a:gridCol w="1224822">
                  <a:extLst>
                    <a:ext uri="{9D8B030D-6E8A-4147-A177-3AD203B41FA5}">
                      <a16:colId xmlns:a16="http://schemas.microsoft.com/office/drawing/2014/main" xmlns="" val="2694858146"/>
                    </a:ext>
                  </a:extLst>
                </a:gridCol>
              </a:tblGrid>
              <a:tr h="175169">
                <a:tc>
                  <a:txBody>
                    <a:bodyPr/>
                    <a:lstStyle/>
                    <a:p>
                      <a:pPr marL="0" algn="ctr" defTabSz="914400" rtl="0" eaLnBrk="1" fontAlgn="t" latinLnBrk="0" hangingPunct="1"/>
                      <a:r>
                        <a:rPr lang="en-IN" sz="1400" b="1" kern="1200" dirty="0">
                          <a:solidFill>
                            <a:schemeClr val="tx1"/>
                          </a:solidFill>
                          <a:effectLst/>
                          <a:latin typeface="+mn-lt"/>
                          <a:ea typeface="+mn-ea"/>
                          <a:cs typeface="+mn-cs"/>
                        </a:rPr>
                        <a:t>DESCRIPTION</a:t>
                      </a:r>
                    </a:p>
                  </a:txBody>
                  <a:tcPr marR="7620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fontAlgn="t" latinLnBrk="0" hangingPunct="1"/>
                      <a:r>
                        <a:rPr lang="en-IN" sz="1400" b="1" kern="1200" dirty="0">
                          <a:solidFill>
                            <a:schemeClr val="tx1"/>
                          </a:solidFill>
                          <a:effectLst/>
                          <a:latin typeface="+mn-lt"/>
                          <a:ea typeface="+mn-ea"/>
                          <a:cs typeface="+mn-cs"/>
                        </a:rPr>
                        <a:t>UNIT</a:t>
                      </a:r>
                    </a:p>
                  </a:txBody>
                  <a:tcPr marL="76200" marR="7620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fontAlgn="t" latinLnBrk="0" hangingPunct="1"/>
                      <a:r>
                        <a:rPr lang="en-IN" sz="1400" b="1" kern="1200" dirty="0" smtClean="0">
                          <a:solidFill>
                            <a:schemeClr val="tx1"/>
                          </a:solidFill>
                          <a:effectLst/>
                          <a:latin typeface="+mn-lt"/>
                          <a:ea typeface="+mn-ea"/>
                          <a:cs typeface="+mn-cs"/>
                        </a:rPr>
                        <a:t>LMW</a:t>
                      </a:r>
                      <a:r>
                        <a:rPr lang="en-IN" sz="1400" b="1" kern="1200" baseline="0" dirty="0" smtClean="0">
                          <a:solidFill>
                            <a:schemeClr val="tx1"/>
                          </a:solidFill>
                          <a:effectLst/>
                          <a:latin typeface="+mn-lt"/>
                          <a:ea typeface="+mn-ea"/>
                          <a:cs typeface="+mn-cs"/>
                        </a:rPr>
                        <a:t> Make</a:t>
                      </a:r>
                      <a:endParaRPr lang="en-IN" sz="1400" b="1" kern="1200" dirty="0">
                        <a:solidFill>
                          <a:schemeClr val="tx1"/>
                        </a:solidFill>
                        <a:effectLst/>
                        <a:latin typeface="+mn-lt"/>
                        <a:ea typeface="+mn-ea"/>
                        <a:cs typeface="+mn-cs"/>
                      </a:endParaRPr>
                    </a:p>
                  </a:txBody>
                  <a:tcPr marL="76200" marR="7620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558643724"/>
                  </a:ext>
                </a:extLst>
              </a:tr>
              <a:tr h="198120">
                <a:tc>
                  <a:txBody>
                    <a:bodyPr/>
                    <a:lstStyle/>
                    <a:p>
                      <a:pPr marL="0" algn="l" defTabSz="914400" rtl="0" eaLnBrk="1" latinLnBrk="0" hangingPunct="1"/>
                      <a:r>
                        <a:rPr lang="en-IN" sz="1400" kern="1200" dirty="0">
                          <a:solidFill>
                            <a:schemeClr val="tx1"/>
                          </a:solidFill>
                          <a:effectLst/>
                          <a:latin typeface="+mn-lt"/>
                          <a:ea typeface="+mn-ea"/>
                          <a:cs typeface="+mn-cs"/>
                        </a:rPr>
                        <a:t>No. of Stations</a:t>
                      </a:r>
                    </a:p>
                  </a:txBody>
                  <a:tcPr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r>
                        <a:rPr lang="en-IN" sz="1400" kern="1200" dirty="0">
                          <a:solidFill>
                            <a:schemeClr val="tx1"/>
                          </a:solidFill>
                          <a:effectLst/>
                          <a:latin typeface="+mn-lt"/>
                          <a:ea typeface="+mn-ea"/>
                          <a:cs typeface="+mn-cs"/>
                        </a:rPr>
                        <a:t>Nos</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r>
                        <a:rPr lang="en-IN" sz="1400" kern="1200">
                          <a:solidFill>
                            <a:schemeClr val="tx1"/>
                          </a:solidFill>
                          <a:effectLst/>
                          <a:latin typeface="+mn-lt"/>
                          <a:ea typeface="+mn-ea"/>
                          <a:cs typeface="+mn-cs"/>
                        </a:rPr>
                        <a:t>8</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2904858520"/>
                  </a:ext>
                </a:extLst>
              </a:tr>
              <a:tr h="198120">
                <a:tc>
                  <a:txBody>
                    <a:bodyPr/>
                    <a:lstStyle/>
                    <a:p>
                      <a:pPr marL="0" algn="l" defTabSz="914400" rtl="0" eaLnBrk="1" latinLnBrk="0" hangingPunct="1"/>
                      <a:r>
                        <a:rPr lang="en-IN" sz="1400" kern="1200" dirty="0" smtClean="0">
                          <a:solidFill>
                            <a:schemeClr val="tx1"/>
                          </a:solidFill>
                          <a:effectLst/>
                          <a:latin typeface="+mn-lt"/>
                          <a:ea typeface="+mn-ea"/>
                          <a:cs typeface="+mn-cs"/>
                        </a:rPr>
                        <a:t>Chuck Diameter</a:t>
                      </a:r>
                      <a:endParaRPr lang="en-IN" sz="1400" kern="1200" dirty="0">
                        <a:solidFill>
                          <a:schemeClr val="tx1"/>
                        </a:solidFill>
                        <a:effectLst/>
                        <a:latin typeface="+mn-lt"/>
                        <a:ea typeface="+mn-ea"/>
                        <a:cs typeface="+mn-cs"/>
                      </a:endParaRPr>
                    </a:p>
                  </a:txBody>
                  <a:tcPr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r>
                        <a:rPr lang="en-IN" sz="1400" kern="1200" dirty="0">
                          <a:solidFill>
                            <a:schemeClr val="tx1"/>
                          </a:solidFill>
                          <a:effectLst/>
                          <a:latin typeface="+mn-lt"/>
                          <a:ea typeface="+mn-ea"/>
                          <a:cs typeface="+mn-cs"/>
                        </a:rPr>
                        <a:t>mm</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r>
                        <a:rPr lang="en-IN" sz="1400" kern="1200" dirty="0" smtClean="0">
                          <a:solidFill>
                            <a:schemeClr val="tx1"/>
                          </a:solidFill>
                          <a:effectLst/>
                          <a:latin typeface="+mn-lt"/>
                          <a:ea typeface="+mn-ea"/>
                          <a:cs typeface="+mn-cs"/>
                        </a:rPr>
                        <a:t>165, 200,300</a:t>
                      </a:r>
                      <a:endParaRPr lang="en-IN" sz="1400" kern="1200" dirty="0">
                        <a:solidFill>
                          <a:schemeClr val="tx1"/>
                        </a:solidFill>
                        <a:effectLst/>
                        <a:latin typeface="+mn-lt"/>
                        <a:ea typeface="+mn-ea"/>
                        <a:cs typeface="+mn-cs"/>
                      </a:endParaRP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1483147280"/>
                  </a:ext>
                </a:extLst>
              </a:tr>
              <a:tr h="0">
                <a:tc>
                  <a:txBody>
                    <a:bodyPr/>
                    <a:lstStyle/>
                    <a:p>
                      <a:pPr marL="0" algn="l" defTabSz="914400" rtl="0" eaLnBrk="1" latinLnBrk="0" hangingPunct="1"/>
                      <a:r>
                        <a:rPr lang="en-IN" sz="1400" kern="1200" dirty="0">
                          <a:solidFill>
                            <a:schemeClr val="tx1"/>
                          </a:solidFill>
                          <a:effectLst/>
                          <a:latin typeface="+mn-lt"/>
                          <a:ea typeface="+mn-ea"/>
                          <a:cs typeface="+mn-cs"/>
                        </a:rPr>
                        <a:t>Maximum Boring Bar Diameter</a:t>
                      </a:r>
                    </a:p>
                  </a:txBody>
                  <a:tcPr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r>
                        <a:rPr lang="en-IN" sz="1400" kern="1200" dirty="0">
                          <a:solidFill>
                            <a:schemeClr val="tx1"/>
                          </a:solidFill>
                          <a:effectLst/>
                          <a:latin typeface="+mn-lt"/>
                          <a:ea typeface="+mn-ea"/>
                          <a:cs typeface="+mn-cs"/>
                        </a:rPr>
                        <a:t>mm</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r>
                        <a:rPr lang="en-IN" sz="1400" kern="1200" dirty="0">
                          <a:solidFill>
                            <a:schemeClr val="tx1"/>
                          </a:solidFill>
                          <a:effectLst/>
                          <a:latin typeface="+mn-lt"/>
                          <a:ea typeface="+mn-ea"/>
                          <a:cs typeface="+mn-cs"/>
                        </a:rPr>
                        <a:t>Ø 32</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2858825902"/>
                  </a:ext>
                </a:extLst>
              </a:tr>
              <a:tr h="198120">
                <a:tc>
                  <a:txBody>
                    <a:bodyPr/>
                    <a:lstStyle/>
                    <a:p>
                      <a:pPr marL="0" algn="l" defTabSz="914400" rtl="0" eaLnBrk="1" latinLnBrk="0" hangingPunct="1"/>
                      <a:r>
                        <a:rPr lang="en-IN" sz="1400" kern="1200">
                          <a:solidFill>
                            <a:schemeClr val="tx1"/>
                          </a:solidFill>
                          <a:effectLst/>
                          <a:latin typeface="+mn-lt"/>
                          <a:ea typeface="+mn-ea"/>
                          <a:cs typeface="+mn-cs"/>
                        </a:rPr>
                        <a:t>Turret Indexing</a:t>
                      </a:r>
                    </a:p>
                  </a:txBody>
                  <a:tcPr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r>
                        <a:rPr lang="en-IN" sz="1400" kern="1200" dirty="0">
                          <a:solidFill>
                            <a:schemeClr val="tx1"/>
                          </a:solidFill>
                          <a:effectLst/>
                          <a:latin typeface="+mn-lt"/>
                          <a:ea typeface="+mn-ea"/>
                          <a:cs typeface="+mn-cs"/>
                        </a:rPr>
                        <a:t>Type</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r>
                        <a:rPr lang="en-IN" sz="1400" kern="1200" dirty="0">
                          <a:solidFill>
                            <a:schemeClr val="tx1"/>
                          </a:solidFill>
                          <a:effectLst/>
                          <a:latin typeface="+mn-lt"/>
                          <a:ea typeface="+mn-ea"/>
                          <a:cs typeface="+mn-cs"/>
                        </a:rPr>
                        <a:t>Hydraulic</a:t>
                      </a:r>
                    </a:p>
                  </a:txBody>
                  <a:tcPr marL="76200" marR="762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3654623086"/>
                  </a:ext>
                </a:extLst>
              </a:tr>
            </a:tbl>
          </a:graphicData>
        </a:graphic>
      </p:graphicFrame>
      <p:sp>
        <p:nvSpPr>
          <p:cNvPr id="5" name="Rectangle 5"/>
          <p:cNvSpPr>
            <a:spLocks noChangeArrowheads="1"/>
          </p:cNvSpPr>
          <p:nvPr/>
        </p:nvSpPr>
        <p:spPr bwMode="auto">
          <a:xfrm>
            <a:off x="7223443" y="42283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7" name="TextBox 16"/>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21" name="Picture 20"/>
          <p:cNvPicPr>
            <a:picLocks noChangeAspect="1"/>
          </p:cNvPicPr>
          <p:nvPr/>
        </p:nvPicPr>
        <p:blipFill rotWithShape="1">
          <a:blip r:embed="rId7" cstate="print">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6" name="Picture 15"/>
          <p:cNvPicPr>
            <a:picLocks noChangeAspect="1"/>
          </p:cNvPicPr>
          <p:nvPr/>
        </p:nvPicPr>
        <p:blipFill rotWithShape="1">
          <a:blip r:embed="rId9">
            <a:extLst>
              <a:ext uri="{28A0092B-C50C-407E-A947-70E740481C1C}">
                <a14:useLocalDpi xmlns:a14="http://schemas.microsoft.com/office/drawing/2010/main" val="0"/>
              </a:ext>
            </a:extLst>
          </a:blip>
          <a:srcRect l="17091" t="13530" r="17243" b="21140"/>
          <a:stretch/>
        </p:blipFill>
        <p:spPr>
          <a:xfrm>
            <a:off x="223659" y="5595003"/>
            <a:ext cx="831629" cy="892480"/>
          </a:xfrm>
          <a:prstGeom prst="rect">
            <a:avLst/>
          </a:prstGeom>
        </p:spPr>
      </p:pic>
    </p:spTree>
    <p:extLst>
      <p:ext uri="{BB962C8B-B14F-4D97-AF65-F5344CB8AC3E}">
        <p14:creationId xmlns:p14="http://schemas.microsoft.com/office/powerpoint/2010/main" val="25198122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179673" y="105167"/>
            <a:ext cx="6187335"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Facilities Available - Fabrication</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9" name="Picture 8"/>
          <p:cNvPicPr>
            <a:picLocks noChangeAspect="1"/>
          </p:cNvPicPr>
          <p:nvPr/>
        </p:nvPicPr>
        <p:blipFill>
          <a:blip r:embed="rId3"/>
          <a:stretch>
            <a:fillRect/>
          </a:stretch>
        </p:blipFill>
        <p:spPr>
          <a:xfrm>
            <a:off x="11298407" y="0"/>
            <a:ext cx="638264" cy="6858957"/>
          </a:xfrm>
          <a:prstGeom prst="rect">
            <a:avLst/>
          </a:prstGeom>
        </p:spPr>
      </p:pic>
      <p:sp>
        <p:nvSpPr>
          <p:cNvPr id="10" name="Right Triangle 9"/>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p:cNvPicPr>
            <a:picLocks noChangeAspect="1"/>
          </p:cNvPicPr>
          <p:nvPr/>
        </p:nvPicPr>
        <p:blipFill>
          <a:blip r:embed="rId4"/>
          <a:stretch>
            <a:fillRect/>
          </a:stretch>
        </p:blipFill>
        <p:spPr>
          <a:xfrm>
            <a:off x="0" y="3666836"/>
            <a:ext cx="2160005" cy="3191163"/>
          </a:xfrm>
          <a:prstGeom prst="rect">
            <a:avLst/>
          </a:prstGeom>
        </p:spPr>
      </p:pic>
      <p:sp>
        <p:nvSpPr>
          <p:cNvPr id="2" name="TextBox 1"/>
          <p:cNvSpPr txBox="1"/>
          <p:nvPr/>
        </p:nvSpPr>
        <p:spPr>
          <a:xfrm>
            <a:off x="540331" y="3829862"/>
            <a:ext cx="2454454" cy="369332"/>
          </a:xfrm>
          <a:prstGeom prst="rect">
            <a:avLst/>
          </a:prstGeom>
          <a:noFill/>
        </p:spPr>
        <p:txBody>
          <a:bodyPr wrap="none" rtlCol="0">
            <a:spAutoFit/>
          </a:bodyPr>
          <a:lstStyle/>
          <a:p>
            <a:r>
              <a:rPr lang="en-IN" dirty="0" smtClean="0"/>
              <a:t>Plasma Cutting Machine</a:t>
            </a:r>
            <a:endParaRPr lang="en-IN" dirty="0"/>
          </a:p>
        </p:txBody>
      </p:sp>
      <p:sp>
        <p:nvSpPr>
          <p:cNvPr id="14" name="TextBox 13"/>
          <p:cNvSpPr txBox="1"/>
          <p:nvPr/>
        </p:nvSpPr>
        <p:spPr>
          <a:xfrm>
            <a:off x="3364992" y="3829862"/>
            <a:ext cx="3127248" cy="369332"/>
          </a:xfrm>
          <a:prstGeom prst="rect">
            <a:avLst/>
          </a:prstGeom>
          <a:noFill/>
        </p:spPr>
        <p:txBody>
          <a:bodyPr wrap="square" rtlCol="0">
            <a:spAutoFit/>
          </a:bodyPr>
          <a:lstStyle/>
          <a:p>
            <a:pPr algn="ctr"/>
            <a:r>
              <a:rPr lang="en-IN" dirty="0" smtClean="0"/>
              <a:t>Welding Machine – 600 Amp</a:t>
            </a:r>
            <a:endParaRPr lang="en-IN" dirty="0"/>
          </a:p>
        </p:txBody>
      </p:sp>
      <p:pic>
        <p:nvPicPr>
          <p:cNvPr id="6148" name="Picture 4" descr="Adjustable Movable Gantry Crane 2 Ton 5 Ton 6 Ton Gantry Crane for Workshop|  Alibaba."/>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1737" t="10788" r="10663" b="7761"/>
          <a:stretch/>
        </p:blipFill>
        <p:spPr bwMode="auto">
          <a:xfrm>
            <a:off x="7214355" y="1286148"/>
            <a:ext cx="3108202" cy="238068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7018817" y="3797777"/>
            <a:ext cx="2442598" cy="369332"/>
          </a:xfrm>
          <a:prstGeom prst="rect">
            <a:avLst/>
          </a:prstGeom>
          <a:noFill/>
        </p:spPr>
        <p:txBody>
          <a:bodyPr wrap="square" rtlCol="0">
            <a:spAutoFit/>
          </a:bodyPr>
          <a:lstStyle/>
          <a:p>
            <a:pPr algn="ctr"/>
            <a:r>
              <a:rPr lang="en-IN" dirty="0" smtClean="0"/>
              <a:t>Crane – 5 Ton</a:t>
            </a:r>
            <a:endParaRPr lang="en-IN" dirty="0"/>
          </a:p>
        </p:txBody>
      </p:sp>
      <p:sp>
        <p:nvSpPr>
          <p:cNvPr id="17" name="TextBox 16"/>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21" name="Picture 20"/>
          <p:cNvPicPr>
            <a:picLocks noChangeAspect="1"/>
          </p:cNvPicPr>
          <p:nvPr/>
        </p:nvPicPr>
        <p:blipFill rotWithShape="1">
          <a:blip r:embed="rId6" cstate="print">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22" name="Picture 2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6549" y="1171057"/>
            <a:ext cx="3339907" cy="2350420"/>
          </a:xfrm>
          <a:prstGeom prst="rect">
            <a:avLst/>
          </a:prstGeom>
        </p:spPr>
      </p:pic>
      <p:pic>
        <p:nvPicPr>
          <p:cNvPr id="4" name="Picture 3"/>
          <p:cNvPicPr>
            <a:picLocks noChangeAspect="1"/>
          </p:cNvPicPr>
          <p:nvPr/>
        </p:nvPicPr>
        <p:blipFill rotWithShape="1">
          <a:blip r:embed="rId9">
            <a:extLst>
              <a:ext uri="{28A0092B-C50C-407E-A947-70E740481C1C}">
                <a14:useLocalDpi xmlns:a14="http://schemas.microsoft.com/office/drawing/2010/main" val="0"/>
              </a:ext>
            </a:extLst>
          </a:blip>
          <a:srcRect l="25835" t="8368" r="26874" b="9063"/>
          <a:stretch/>
        </p:blipFill>
        <p:spPr>
          <a:xfrm>
            <a:off x="3856168" y="1171056"/>
            <a:ext cx="2636072" cy="2672441"/>
          </a:xfrm>
          <a:prstGeom prst="rect">
            <a:avLst/>
          </a:prstGeom>
        </p:spPr>
      </p:pic>
      <p:pic>
        <p:nvPicPr>
          <p:cNvPr id="5" name="Picture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560653" y="4325522"/>
            <a:ext cx="3513323" cy="2459326"/>
          </a:xfrm>
          <a:prstGeom prst="rect">
            <a:avLst/>
          </a:prstGeom>
        </p:spPr>
      </p:pic>
      <p:pic>
        <p:nvPicPr>
          <p:cNvPr id="6" name="Picture 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816554" y="4114800"/>
            <a:ext cx="3735621" cy="2743200"/>
          </a:xfrm>
          <a:prstGeom prst="rect">
            <a:avLst/>
          </a:prstGeom>
        </p:spPr>
      </p:pic>
      <p:sp>
        <p:nvSpPr>
          <p:cNvPr id="24" name="TextBox 23"/>
          <p:cNvSpPr txBox="1"/>
          <p:nvPr/>
        </p:nvSpPr>
        <p:spPr>
          <a:xfrm>
            <a:off x="7463065" y="6415516"/>
            <a:ext cx="2442598" cy="369332"/>
          </a:xfrm>
          <a:prstGeom prst="rect">
            <a:avLst/>
          </a:prstGeom>
          <a:noFill/>
        </p:spPr>
        <p:txBody>
          <a:bodyPr wrap="square" rtlCol="0">
            <a:spAutoFit/>
          </a:bodyPr>
          <a:lstStyle/>
          <a:p>
            <a:pPr algn="ctr"/>
            <a:r>
              <a:rPr lang="en-IN" dirty="0" smtClean="0"/>
              <a:t>Press Break 220 Ton</a:t>
            </a:r>
            <a:endParaRPr lang="en-IN" dirty="0"/>
          </a:p>
        </p:txBody>
      </p:sp>
      <p:pic>
        <p:nvPicPr>
          <p:cNvPr id="19" name="Picture 18"/>
          <p:cNvPicPr>
            <a:picLocks noChangeAspect="1"/>
          </p:cNvPicPr>
          <p:nvPr/>
        </p:nvPicPr>
        <p:blipFill rotWithShape="1">
          <a:blip r:embed="rId12">
            <a:extLst>
              <a:ext uri="{28A0092B-C50C-407E-A947-70E740481C1C}">
                <a14:useLocalDpi xmlns:a14="http://schemas.microsoft.com/office/drawing/2010/main" val="0"/>
              </a:ext>
            </a:extLst>
          </a:blip>
          <a:srcRect l="17091" t="13530" r="17243" b="21140"/>
          <a:stretch/>
        </p:blipFill>
        <p:spPr>
          <a:xfrm>
            <a:off x="193790" y="5600731"/>
            <a:ext cx="936000" cy="1004489"/>
          </a:xfrm>
          <a:prstGeom prst="rect">
            <a:avLst/>
          </a:prstGeom>
        </p:spPr>
      </p:pic>
    </p:spTree>
    <p:extLst>
      <p:ext uri="{BB962C8B-B14F-4D97-AF65-F5344CB8AC3E}">
        <p14:creationId xmlns:p14="http://schemas.microsoft.com/office/powerpoint/2010/main" val="7905336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179673" y="105167"/>
            <a:ext cx="4013856"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Machines Available</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15" name="Picture 14"/>
          <p:cNvPicPr>
            <a:picLocks noChangeAspect="1"/>
          </p:cNvPicPr>
          <p:nvPr/>
        </p:nvPicPr>
        <p:blipFill>
          <a:blip r:embed="rId3"/>
          <a:stretch>
            <a:fillRect/>
          </a:stretch>
        </p:blipFill>
        <p:spPr>
          <a:xfrm>
            <a:off x="0" y="3666836"/>
            <a:ext cx="2160005" cy="3191163"/>
          </a:xfrm>
          <a:prstGeom prst="rect">
            <a:avLst/>
          </a:prstGeom>
        </p:spPr>
      </p:pic>
      <p:pic>
        <p:nvPicPr>
          <p:cNvPr id="9" name="Picture 8"/>
          <p:cNvPicPr>
            <a:picLocks noChangeAspect="1"/>
          </p:cNvPicPr>
          <p:nvPr/>
        </p:nvPicPr>
        <p:blipFill>
          <a:blip r:embed="rId4"/>
          <a:stretch>
            <a:fillRect/>
          </a:stretch>
        </p:blipFill>
        <p:spPr>
          <a:xfrm>
            <a:off x="11298407" y="0"/>
            <a:ext cx="638264" cy="6858957"/>
          </a:xfrm>
          <a:prstGeom prst="rect">
            <a:avLst/>
          </a:prstGeom>
        </p:spPr>
      </p:pic>
      <p:sp>
        <p:nvSpPr>
          <p:cNvPr id="5" name="Rectangle 5"/>
          <p:cNvSpPr>
            <a:spLocks noChangeArrowheads="1"/>
          </p:cNvSpPr>
          <p:nvPr/>
        </p:nvSpPr>
        <p:spPr bwMode="auto">
          <a:xfrm>
            <a:off x="7223443" y="42283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13" name="Table 12">
            <a:extLst>
              <a:ext uri="{FF2B5EF4-FFF2-40B4-BE49-F238E27FC236}">
                <a16:creationId xmlns:a16="http://schemas.microsoft.com/office/drawing/2014/main" xmlns="" id="{FDCF0B94-7A93-B65D-4F75-3428FDDFB759}"/>
              </a:ext>
            </a:extLst>
          </p:cNvPr>
          <p:cNvGraphicFramePr>
            <a:graphicFrameLocks noGrp="1"/>
          </p:cNvGraphicFramePr>
          <p:nvPr>
            <p:extLst>
              <p:ext uri="{D42A27DB-BD31-4B8C-83A1-F6EECF244321}">
                <p14:modId xmlns:p14="http://schemas.microsoft.com/office/powerpoint/2010/main" val="4155908737"/>
              </p:ext>
            </p:extLst>
          </p:nvPr>
        </p:nvGraphicFramePr>
        <p:xfrm>
          <a:off x="2114285" y="769736"/>
          <a:ext cx="9047006" cy="5789468"/>
        </p:xfrm>
        <a:graphic>
          <a:graphicData uri="http://schemas.openxmlformats.org/drawingml/2006/table">
            <a:tbl>
              <a:tblPr firstRow="1" bandRow="1">
                <a:tableStyleId>{5C22544A-7EE6-4342-B048-85BDC9FD1C3A}</a:tableStyleId>
              </a:tblPr>
              <a:tblGrid>
                <a:gridCol w="996001">
                  <a:extLst>
                    <a:ext uri="{9D8B030D-6E8A-4147-A177-3AD203B41FA5}">
                      <a16:colId xmlns:a16="http://schemas.microsoft.com/office/drawing/2014/main" xmlns="" val="20000"/>
                    </a:ext>
                  </a:extLst>
                </a:gridCol>
                <a:gridCol w="2924369">
                  <a:extLst>
                    <a:ext uri="{9D8B030D-6E8A-4147-A177-3AD203B41FA5}">
                      <a16:colId xmlns:a16="http://schemas.microsoft.com/office/drawing/2014/main" xmlns="" val="20001"/>
                    </a:ext>
                  </a:extLst>
                </a:gridCol>
                <a:gridCol w="2791427">
                  <a:extLst>
                    <a:ext uri="{9D8B030D-6E8A-4147-A177-3AD203B41FA5}">
                      <a16:colId xmlns:a16="http://schemas.microsoft.com/office/drawing/2014/main" xmlns="" val="20002"/>
                    </a:ext>
                  </a:extLst>
                </a:gridCol>
                <a:gridCol w="2335209">
                  <a:extLst>
                    <a:ext uri="{9D8B030D-6E8A-4147-A177-3AD203B41FA5}">
                      <a16:colId xmlns:a16="http://schemas.microsoft.com/office/drawing/2014/main" xmlns="" val="20003"/>
                    </a:ext>
                  </a:extLst>
                </a:gridCol>
              </a:tblGrid>
              <a:tr h="436193">
                <a:tc>
                  <a:txBody>
                    <a:bodyPr/>
                    <a:lstStyle/>
                    <a:p>
                      <a:pPr algn="ctr"/>
                      <a:r>
                        <a:rPr lang="en-US" sz="1600" b="1" dirty="0"/>
                        <a:t>Sr.No.</a:t>
                      </a:r>
                      <a:endParaRPr lang="en-US" sz="1600" b="1" i="0" dirty="0"/>
                    </a:p>
                  </a:txBody>
                  <a:tcPr/>
                </a:tc>
                <a:tc>
                  <a:txBody>
                    <a:bodyPr/>
                    <a:lstStyle/>
                    <a:p>
                      <a:pPr algn="ctr"/>
                      <a:r>
                        <a:rPr lang="en-US" sz="1600" b="1" u="none" dirty="0"/>
                        <a:t>MACHINES NAME</a:t>
                      </a:r>
                      <a:endParaRPr lang="en-US" sz="1600" b="1" i="0" dirty="0"/>
                    </a:p>
                  </a:txBody>
                  <a:tcPr/>
                </a:tc>
                <a:tc>
                  <a:txBody>
                    <a:bodyPr/>
                    <a:lstStyle/>
                    <a:p>
                      <a:pPr algn="ctr"/>
                      <a:r>
                        <a:rPr lang="en-US" sz="1600" b="1" u="none" dirty="0"/>
                        <a:t>MAKE</a:t>
                      </a:r>
                      <a:endParaRPr lang="en-US" sz="1600" b="1" i="0" dirty="0"/>
                    </a:p>
                  </a:txBody>
                  <a:tcPr/>
                </a:tc>
                <a:tc>
                  <a:txBody>
                    <a:bodyPr/>
                    <a:lstStyle/>
                    <a:p>
                      <a:pPr algn="ctr"/>
                      <a:r>
                        <a:rPr lang="en-US" sz="1600" b="1" u="none" dirty="0"/>
                        <a:t>CAPACITY</a:t>
                      </a:r>
                      <a:endParaRPr lang="en-US" sz="1600" b="1" i="0" dirty="0"/>
                    </a:p>
                  </a:txBody>
                  <a:tcPr/>
                </a:tc>
                <a:extLst>
                  <a:ext uri="{0D108BD9-81ED-4DB2-BD59-A6C34878D82A}">
                    <a16:rowId xmlns:a16="http://schemas.microsoft.com/office/drawing/2014/main" xmlns="" val="10000"/>
                  </a:ext>
                </a:extLst>
              </a:tr>
              <a:tr h="356885">
                <a:tc>
                  <a:txBody>
                    <a:bodyPr/>
                    <a:lstStyle/>
                    <a:p>
                      <a:pPr marL="342900" indent="-342900" algn="ctr" rtl="0" eaLnBrk="1" latinLnBrk="0" hangingPunct="1">
                        <a:lnSpc>
                          <a:spcPct val="100000"/>
                        </a:lnSpc>
                        <a:buFont typeface="+mj-lt"/>
                        <a:buNone/>
                      </a:pPr>
                      <a:r>
                        <a:rPr kumimoji="0" lang="en-US" sz="1600" b="0" u="none" kern="1200" dirty="0">
                          <a:solidFill>
                            <a:schemeClr val="dk1"/>
                          </a:solidFill>
                          <a:latin typeface="+mn-lt"/>
                        </a:rPr>
                        <a:t>1</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CNC Machine</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LMW</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300 Dia. x 800L</a:t>
                      </a:r>
                      <a:endParaRPr kumimoji="0" lang="en-US" sz="1600" b="0" i="0" u="none" kern="1200" dirty="0">
                        <a:solidFill>
                          <a:schemeClr val="dk1"/>
                        </a:solidFill>
                        <a:latin typeface="+mn-lt"/>
                        <a:ea typeface="+mn-ea"/>
                        <a:cs typeface="Times New Roman" pitchFamily="18" charset="0"/>
                      </a:endParaRPr>
                    </a:p>
                  </a:txBody>
                  <a:tcPr/>
                </a:tc>
                <a:extLst>
                  <a:ext uri="{0D108BD9-81ED-4DB2-BD59-A6C34878D82A}">
                    <a16:rowId xmlns:a16="http://schemas.microsoft.com/office/drawing/2014/main" xmlns="" val="10001"/>
                  </a:ext>
                </a:extLst>
              </a:tr>
              <a:tr h="356885">
                <a:tc>
                  <a:txBody>
                    <a:bodyPr/>
                    <a:lstStyle/>
                    <a:p>
                      <a:pPr marL="342900" indent="-342900" algn="ctr" rtl="0" eaLnBrk="1" latinLnBrk="0" hangingPunct="1">
                        <a:lnSpc>
                          <a:spcPct val="100000"/>
                        </a:lnSpc>
                        <a:buFont typeface="+mj-lt"/>
                        <a:buNone/>
                      </a:pPr>
                      <a:r>
                        <a:rPr kumimoji="0" lang="en-US" sz="1600" b="0" u="none" kern="1200" dirty="0">
                          <a:solidFill>
                            <a:schemeClr val="dk1"/>
                          </a:solidFill>
                          <a:latin typeface="+mn-lt"/>
                        </a:rPr>
                        <a:t>2</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CNC Machine</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LMW</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200Dia x 500L</a:t>
                      </a:r>
                      <a:endParaRPr kumimoji="0" lang="en-US" sz="1600" b="0" i="0" u="none" kern="1200" dirty="0">
                        <a:solidFill>
                          <a:schemeClr val="dk1"/>
                        </a:solidFill>
                        <a:latin typeface="+mn-lt"/>
                        <a:ea typeface="+mn-ea"/>
                        <a:cs typeface="Times New Roman" pitchFamily="18" charset="0"/>
                      </a:endParaRPr>
                    </a:p>
                  </a:txBody>
                  <a:tcPr/>
                </a:tc>
                <a:extLst>
                  <a:ext uri="{0D108BD9-81ED-4DB2-BD59-A6C34878D82A}">
                    <a16:rowId xmlns:a16="http://schemas.microsoft.com/office/drawing/2014/main" xmlns="" val="10002"/>
                  </a:ext>
                </a:extLst>
              </a:tr>
              <a:tr h="356885">
                <a:tc>
                  <a:txBody>
                    <a:bodyPr/>
                    <a:lstStyle/>
                    <a:p>
                      <a:pPr marL="342900" indent="-342900" algn="ctr" rtl="0" eaLnBrk="1" latinLnBrk="0" hangingPunct="1">
                        <a:lnSpc>
                          <a:spcPct val="100000"/>
                        </a:lnSpc>
                        <a:buFont typeface="+mj-lt"/>
                        <a:buNone/>
                      </a:pPr>
                      <a:r>
                        <a:rPr kumimoji="0" lang="en-US" sz="1600" b="0" u="none" kern="1200" dirty="0">
                          <a:solidFill>
                            <a:schemeClr val="dk1"/>
                          </a:solidFill>
                          <a:latin typeface="+mn-lt"/>
                        </a:rPr>
                        <a:t>3</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CNC Machine</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LMW  Smart Plus</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165Dia x 300L</a:t>
                      </a:r>
                      <a:endParaRPr kumimoji="0" lang="en-US" sz="1600" b="0" i="0" u="none" kern="1200" dirty="0">
                        <a:solidFill>
                          <a:schemeClr val="dk1"/>
                        </a:solidFill>
                        <a:latin typeface="+mn-lt"/>
                        <a:ea typeface="+mn-ea"/>
                        <a:cs typeface="Times New Roman" pitchFamily="18" charset="0"/>
                      </a:endParaRPr>
                    </a:p>
                  </a:txBody>
                  <a:tcPr/>
                </a:tc>
                <a:extLst>
                  <a:ext uri="{0D108BD9-81ED-4DB2-BD59-A6C34878D82A}">
                    <a16:rowId xmlns:a16="http://schemas.microsoft.com/office/drawing/2014/main" xmlns="" val="10004"/>
                  </a:ext>
                </a:extLst>
              </a:tr>
              <a:tr h="356885">
                <a:tc>
                  <a:txBody>
                    <a:bodyPr/>
                    <a:lstStyle/>
                    <a:p>
                      <a:pPr marL="342900" indent="-342900" algn="ctr" rtl="0" eaLnBrk="1" latinLnBrk="0" hangingPunct="1">
                        <a:lnSpc>
                          <a:spcPct val="100000"/>
                        </a:lnSpc>
                        <a:buFont typeface="+mj-lt"/>
                        <a:buNone/>
                      </a:pPr>
                      <a:r>
                        <a:rPr kumimoji="0" lang="en-US" sz="1600" b="0" u="none" kern="1200" dirty="0">
                          <a:solidFill>
                            <a:schemeClr val="dk1"/>
                          </a:solidFill>
                          <a:latin typeface="+mn-lt"/>
                        </a:rPr>
                        <a:t>4</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VMC</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BFW</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850x600x600 </a:t>
                      </a:r>
                      <a:endParaRPr kumimoji="0" lang="en-US" sz="1600" b="0" i="0" u="none" kern="1200" dirty="0">
                        <a:solidFill>
                          <a:schemeClr val="dk1"/>
                        </a:solidFill>
                        <a:latin typeface="+mn-lt"/>
                        <a:ea typeface="+mn-ea"/>
                        <a:cs typeface="Times New Roman" pitchFamily="18" charset="0"/>
                      </a:endParaRPr>
                    </a:p>
                  </a:txBody>
                  <a:tcPr/>
                </a:tc>
                <a:extLst>
                  <a:ext uri="{0D108BD9-81ED-4DB2-BD59-A6C34878D82A}">
                    <a16:rowId xmlns:a16="http://schemas.microsoft.com/office/drawing/2014/main" xmlns="" val="10003"/>
                  </a:ext>
                </a:extLst>
              </a:tr>
              <a:tr h="356885">
                <a:tc>
                  <a:txBody>
                    <a:bodyPr/>
                    <a:lstStyle/>
                    <a:p>
                      <a:pPr marL="342900" indent="-342900" algn="ctr" rtl="0" eaLnBrk="1" latinLnBrk="0" hangingPunct="1">
                        <a:lnSpc>
                          <a:spcPct val="100000"/>
                        </a:lnSpc>
                        <a:buFont typeface="+mj-lt"/>
                        <a:buNone/>
                      </a:pPr>
                      <a:r>
                        <a:rPr kumimoji="0" lang="en-US" sz="1600" b="0" u="none" kern="1200" dirty="0">
                          <a:solidFill>
                            <a:schemeClr val="dk1"/>
                          </a:solidFill>
                          <a:latin typeface="+mn-lt"/>
                        </a:rPr>
                        <a:t>5</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defTabSz="914400" rtl="0" eaLnBrk="1" latinLnBrk="0" hangingPunct="1">
                        <a:lnSpc>
                          <a:spcPct val="100000"/>
                        </a:lnSpc>
                        <a:buFont typeface="+mj-lt"/>
                        <a:buNone/>
                      </a:pPr>
                      <a:r>
                        <a:rPr kumimoji="0" lang="en-US" sz="1600" b="0" u="none" kern="1200" dirty="0" smtClean="0">
                          <a:solidFill>
                            <a:schemeClr val="dk1"/>
                          </a:solidFill>
                          <a:latin typeface="+mn-lt"/>
                          <a:ea typeface="+mn-ea"/>
                          <a:cs typeface="+mn-cs"/>
                        </a:rPr>
                        <a:t>Press Brake </a:t>
                      </a:r>
                      <a:endParaRPr kumimoji="0" lang="en-IN" sz="1600" b="0" u="none" kern="1200" dirty="0">
                        <a:solidFill>
                          <a:schemeClr val="dk1"/>
                        </a:solidFill>
                        <a:latin typeface="+mn-lt"/>
                        <a:ea typeface="+mn-ea"/>
                        <a:cs typeface="+mn-cs"/>
                      </a:endParaRPr>
                    </a:p>
                  </a:txBody>
                  <a:tcPr/>
                </a:tc>
                <a:tc>
                  <a:txBody>
                    <a:bodyPr/>
                    <a:lstStyle/>
                    <a:p>
                      <a:r>
                        <a:rPr kumimoji="0" lang="en-US" sz="1600" b="0" u="none" kern="1200" dirty="0" smtClean="0">
                          <a:solidFill>
                            <a:schemeClr val="dk1"/>
                          </a:solidFill>
                          <a:latin typeface="+mn-lt"/>
                          <a:ea typeface="+mn-ea"/>
                          <a:cs typeface="+mn-cs"/>
                        </a:rPr>
                        <a:t>ADH</a:t>
                      </a:r>
                      <a:endParaRPr kumimoji="0" lang="en-IN" sz="1600" b="0" u="none" kern="1200" dirty="0">
                        <a:solidFill>
                          <a:schemeClr val="dk1"/>
                        </a:solidFill>
                        <a:latin typeface="+mn-lt"/>
                        <a:ea typeface="+mn-ea"/>
                        <a:cs typeface="+mn-cs"/>
                      </a:endParaRPr>
                    </a:p>
                  </a:txBody>
                  <a:tcPr/>
                </a:tc>
                <a:tc>
                  <a:txBody>
                    <a:bodyPr/>
                    <a:lstStyle/>
                    <a:p>
                      <a:r>
                        <a:rPr kumimoji="0" lang="en-US" sz="1600" b="0" u="none" kern="1200" dirty="0" smtClean="0">
                          <a:solidFill>
                            <a:schemeClr val="dk1"/>
                          </a:solidFill>
                          <a:latin typeface="+mn-lt"/>
                          <a:ea typeface="+mn-ea"/>
                          <a:cs typeface="+mn-cs"/>
                        </a:rPr>
                        <a:t>200 tone</a:t>
                      </a:r>
                      <a:endParaRPr kumimoji="0" lang="en-IN" sz="1600" b="0" u="none" kern="1200" dirty="0">
                        <a:solidFill>
                          <a:schemeClr val="dk1"/>
                        </a:solidFill>
                        <a:latin typeface="+mn-lt"/>
                        <a:ea typeface="+mn-ea"/>
                        <a:cs typeface="+mn-cs"/>
                      </a:endParaRPr>
                    </a:p>
                  </a:txBody>
                  <a:tcPr/>
                </a:tc>
                <a:extLst>
                  <a:ext uri="{0D108BD9-81ED-4DB2-BD59-A6C34878D82A}">
                    <a16:rowId xmlns:a16="http://schemas.microsoft.com/office/drawing/2014/main" xmlns="" val="10005"/>
                  </a:ext>
                </a:extLst>
              </a:tr>
              <a:tr h="356885">
                <a:tc>
                  <a:txBody>
                    <a:bodyPr/>
                    <a:lstStyle/>
                    <a:p>
                      <a:pPr marL="342900" indent="-342900" algn="ctr">
                        <a:lnSpc>
                          <a:spcPct val="100000"/>
                        </a:lnSpc>
                        <a:buFont typeface="+mj-lt"/>
                        <a:buNone/>
                      </a:pPr>
                      <a:r>
                        <a:rPr lang="en-US" sz="1600" b="0" dirty="0">
                          <a:latin typeface="+mn-lt"/>
                        </a:rPr>
                        <a:t>6</a:t>
                      </a:r>
                      <a:endParaRPr lang="en-US" sz="1600" b="0" i="0" dirty="0">
                        <a:latin typeface="+mn-lt"/>
                      </a:endParaRPr>
                    </a:p>
                  </a:txBody>
                  <a:tcPr/>
                </a:tc>
                <a:tc>
                  <a:txBody>
                    <a:bodyPr/>
                    <a:lstStyle/>
                    <a:p>
                      <a:pPr marL="342900" indent="-342900" algn="l" defTabSz="914400" rtl="0" eaLnBrk="1" latinLnBrk="0" hangingPunct="1">
                        <a:lnSpc>
                          <a:spcPct val="100000"/>
                        </a:lnSpc>
                        <a:buFont typeface="+mj-lt"/>
                        <a:buNone/>
                      </a:pPr>
                      <a:r>
                        <a:rPr kumimoji="0" lang="en-US" sz="1600" b="0" u="none" kern="1200" dirty="0" smtClean="0">
                          <a:solidFill>
                            <a:schemeClr val="dk1"/>
                          </a:solidFill>
                          <a:latin typeface="+mn-lt"/>
                          <a:ea typeface="+mn-ea"/>
                          <a:cs typeface="+mn-cs"/>
                        </a:rPr>
                        <a:t>Plasma Cutting Machine</a:t>
                      </a:r>
                      <a:endParaRPr kumimoji="0" lang="en-IN" sz="1600" b="0" u="none" kern="1200" dirty="0">
                        <a:solidFill>
                          <a:schemeClr val="dk1"/>
                        </a:solidFill>
                        <a:latin typeface="+mn-lt"/>
                        <a:ea typeface="+mn-ea"/>
                        <a:cs typeface="+mn-cs"/>
                      </a:endParaRPr>
                    </a:p>
                  </a:txBody>
                  <a:tcPr/>
                </a:tc>
                <a:tc>
                  <a:txBody>
                    <a:bodyPr/>
                    <a:lstStyle/>
                    <a:p>
                      <a:pPr marL="342900" indent="-342900" algn="l" defTabSz="914400" rtl="0" eaLnBrk="1" latinLnBrk="0" hangingPunct="1">
                        <a:lnSpc>
                          <a:spcPct val="100000"/>
                        </a:lnSpc>
                        <a:buFont typeface="+mj-lt"/>
                        <a:buNone/>
                      </a:pPr>
                      <a:r>
                        <a:rPr kumimoji="0" lang="en-US" sz="1600" b="0" u="none" kern="1200" dirty="0" smtClean="0">
                          <a:solidFill>
                            <a:schemeClr val="dk1"/>
                          </a:solidFill>
                          <a:latin typeface="+mn-lt"/>
                          <a:ea typeface="+mn-ea"/>
                          <a:cs typeface="+mn-cs"/>
                        </a:rPr>
                        <a:t>Koike</a:t>
                      </a:r>
                      <a:endParaRPr kumimoji="0" lang="en-IN" sz="1600" b="0" u="none" kern="1200" dirty="0">
                        <a:solidFill>
                          <a:schemeClr val="dk1"/>
                        </a:solidFill>
                        <a:latin typeface="+mn-lt"/>
                        <a:ea typeface="+mn-ea"/>
                        <a:cs typeface="+mn-cs"/>
                      </a:endParaRPr>
                    </a:p>
                  </a:txBody>
                  <a:tcPr/>
                </a:tc>
                <a:tc>
                  <a:txBody>
                    <a:bodyPr/>
                    <a:lstStyle/>
                    <a:p>
                      <a:pPr marL="342900" indent="-342900" algn="l" defTabSz="914400" rtl="0" eaLnBrk="1" latinLnBrk="0" hangingPunct="1">
                        <a:lnSpc>
                          <a:spcPct val="100000"/>
                        </a:lnSpc>
                        <a:buFont typeface="+mj-lt"/>
                        <a:buNone/>
                      </a:pPr>
                      <a:r>
                        <a:rPr kumimoji="0" lang="en-US" sz="1600" b="0" u="none" kern="1200" dirty="0" smtClean="0">
                          <a:solidFill>
                            <a:schemeClr val="dk1"/>
                          </a:solidFill>
                          <a:latin typeface="+mn-lt"/>
                          <a:ea typeface="+mn-ea"/>
                          <a:cs typeface="+mn-cs"/>
                        </a:rPr>
                        <a:t>300 amp, HD, 3mt x 8 </a:t>
                      </a:r>
                      <a:r>
                        <a:rPr kumimoji="0" lang="en-US" sz="1600" b="0" u="none" kern="1200" dirty="0" err="1" smtClean="0">
                          <a:solidFill>
                            <a:schemeClr val="dk1"/>
                          </a:solidFill>
                          <a:latin typeface="+mn-lt"/>
                          <a:ea typeface="+mn-ea"/>
                          <a:cs typeface="+mn-cs"/>
                        </a:rPr>
                        <a:t>mt</a:t>
                      </a:r>
                      <a:endParaRPr kumimoji="0" lang="en-IN" sz="1600" b="0" u="none" kern="1200" dirty="0">
                        <a:solidFill>
                          <a:schemeClr val="dk1"/>
                        </a:solidFill>
                        <a:latin typeface="+mn-lt"/>
                        <a:ea typeface="+mn-ea"/>
                        <a:cs typeface="+mn-cs"/>
                      </a:endParaRPr>
                    </a:p>
                  </a:txBody>
                  <a:tcPr/>
                </a:tc>
                <a:extLst>
                  <a:ext uri="{0D108BD9-81ED-4DB2-BD59-A6C34878D82A}">
                    <a16:rowId xmlns:a16="http://schemas.microsoft.com/office/drawing/2014/main" xmlns="" val="10006"/>
                  </a:ext>
                </a:extLst>
              </a:tr>
              <a:tr h="356885">
                <a:tc>
                  <a:txBody>
                    <a:bodyPr/>
                    <a:lstStyle/>
                    <a:p>
                      <a:pPr marL="342900" indent="-342900" algn="ctr">
                        <a:lnSpc>
                          <a:spcPct val="100000"/>
                        </a:lnSpc>
                        <a:buFont typeface="+mj-lt"/>
                        <a:buNone/>
                      </a:pPr>
                      <a:r>
                        <a:rPr lang="en-US" sz="1600" b="0" dirty="0">
                          <a:latin typeface="+mn-lt"/>
                        </a:rPr>
                        <a:t>7</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RADIAL DRILLING </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Rajkot SP</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Dia. 1.25”</a:t>
                      </a:r>
                      <a:endParaRPr lang="en-US" sz="1600" b="0" i="0" dirty="0">
                        <a:latin typeface="+mn-lt"/>
                      </a:endParaRPr>
                    </a:p>
                  </a:txBody>
                  <a:tcPr/>
                </a:tc>
                <a:extLst>
                  <a:ext uri="{0D108BD9-81ED-4DB2-BD59-A6C34878D82A}">
                    <a16:rowId xmlns:a16="http://schemas.microsoft.com/office/drawing/2014/main" xmlns="" val="10011"/>
                  </a:ext>
                </a:extLst>
              </a:tr>
              <a:tr h="356885">
                <a:tc>
                  <a:txBody>
                    <a:bodyPr/>
                    <a:lstStyle/>
                    <a:p>
                      <a:pPr marL="342900" indent="-342900" algn="ctr">
                        <a:lnSpc>
                          <a:spcPct val="100000"/>
                        </a:lnSpc>
                        <a:buFont typeface="+mj-lt"/>
                        <a:buNone/>
                      </a:pPr>
                      <a:r>
                        <a:rPr lang="en-US" sz="1600" b="0" dirty="0">
                          <a:latin typeface="+mn-lt"/>
                        </a:rPr>
                        <a:t>8</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COLUMN DRILLING </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WMW</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Dia. 1.5” </a:t>
                      </a:r>
                      <a:endParaRPr lang="en-US" sz="1600" b="0" i="0" dirty="0">
                        <a:latin typeface="+mn-lt"/>
                      </a:endParaRPr>
                    </a:p>
                  </a:txBody>
                  <a:tcPr/>
                </a:tc>
                <a:extLst>
                  <a:ext uri="{0D108BD9-81ED-4DB2-BD59-A6C34878D82A}">
                    <a16:rowId xmlns:a16="http://schemas.microsoft.com/office/drawing/2014/main" xmlns="" val="10012"/>
                  </a:ext>
                </a:extLst>
              </a:tr>
              <a:tr h="356885">
                <a:tc>
                  <a:txBody>
                    <a:bodyPr/>
                    <a:lstStyle/>
                    <a:p>
                      <a:pPr marL="342900" indent="-342900" algn="ctr">
                        <a:lnSpc>
                          <a:spcPct val="100000"/>
                        </a:lnSpc>
                        <a:buFont typeface="+mj-lt"/>
                        <a:buNone/>
                      </a:pPr>
                      <a:r>
                        <a:rPr lang="en-US" sz="1600" b="0" dirty="0">
                          <a:latin typeface="+mn-lt"/>
                        </a:rPr>
                        <a:t>9</a:t>
                      </a:r>
                      <a:endParaRPr lang="en-US" sz="1600" b="0" i="0" dirty="0">
                        <a:latin typeface="+mn-lt"/>
                        <a:cs typeface="Times New Roman" pitchFamily="18" charset="0"/>
                      </a:endParaRPr>
                    </a:p>
                  </a:txBody>
                  <a:tcPr/>
                </a:tc>
                <a:tc>
                  <a:txBody>
                    <a:bodyPr/>
                    <a:lstStyle/>
                    <a:p>
                      <a:pPr marL="342900" indent="-342900" algn="l">
                        <a:lnSpc>
                          <a:spcPct val="100000"/>
                        </a:lnSpc>
                        <a:buFont typeface="+mj-lt"/>
                        <a:buNone/>
                      </a:pPr>
                      <a:r>
                        <a:rPr lang="en-US" sz="1600" b="0" u="none" dirty="0">
                          <a:latin typeface="+mn-lt"/>
                        </a:rPr>
                        <a:t>PILLER DRILLING </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Premier</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Dia. 1” (2 </a:t>
                      </a:r>
                      <a:r>
                        <a:rPr lang="en-US" sz="1600" b="0" u="none" dirty="0" err="1">
                          <a:latin typeface="+mn-lt"/>
                        </a:rPr>
                        <a:t>No.s</a:t>
                      </a:r>
                      <a:r>
                        <a:rPr lang="en-US" sz="1600" b="0" u="none" dirty="0">
                          <a:latin typeface="+mn-lt"/>
                        </a:rPr>
                        <a:t>)</a:t>
                      </a:r>
                      <a:endParaRPr lang="en-US" sz="1600" b="0" i="0" dirty="0">
                        <a:latin typeface="+mn-lt"/>
                      </a:endParaRPr>
                    </a:p>
                  </a:txBody>
                  <a:tcPr/>
                </a:tc>
                <a:extLst>
                  <a:ext uri="{0D108BD9-81ED-4DB2-BD59-A6C34878D82A}">
                    <a16:rowId xmlns:a16="http://schemas.microsoft.com/office/drawing/2014/main" xmlns="" val="10013"/>
                  </a:ext>
                </a:extLst>
              </a:tr>
              <a:tr h="356885">
                <a:tc>
                  <a:txBody>
                    <a:bodyPr/>
                    <a:lstStyle/>
                    <a:p>
                      <a:pPr marL="342900" indent="-342900" algn="ctr">
                        <a:lnSpc>
                          <a:spcPct val="100000"/>
                        </a:lnSpc>
                        <a:buFont typeface="+mj-lt"/>
                        <a:buNone/>
                      </a:pPr>
                      <a:r>
                        <a:rPr lang="en-US" sz="1600" b="0" dirty="0">
                          <a:latin typeface="+mn-lt"/>
                        </a:rPr>
                        <a:t>10</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MILLING M/C</a:t>
                      </a:r>
                      <a:endParaRPr lang="en-US" sz="1600" b="0" i="0" dirty="0">
                        <a:latin typeface="+mn-lt"/>
                      </a:endParaRPr>
                    </a:p>
                  </a:txBody>
                  <a:tcPr/>
                </a:tc>
                <a:tc>
                  <a:txBody>
                    <a:bodyPr/>
                    <a:lstStyle/>
                    <a:p>
                      <a:pPr marL="342900" indent="-342900" algn="l">
                        <a:lnSpc>
                          <a:spcPct val="100000"/>
                        </a:lnSpc>
                        <a:buFont typeface="+mj-lt"/>
                        <a:buNone/>
                      </a:pPr>
                      <a:r>
                        <a:rPr lang="en-US" sz="1600" b="0" dirty="0">
                          <a:latin typeface="+mn-lt"/>
                        </a:rPr>
                        <a:t>VERNIER </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FN  3</a:t>
                      </a:r>
                      <a:endParaRPr lang="en-US" sz="1600" b="0" i="0" dirty="0">
                        <a:latin typeface="+mn-lt"/>
                      </a:endParaRPr>
                    </a:p>
                  </a:txBody>
                  <a:tcPr/>
                </a:tc>
                <a:extLst>
                  <a:ext uri="{0D108BD9-81ED-4DB2-BD59-A6C34878D82A}">
                    <a16:rowId xmlns:a16="http://schemas.microsoft.com/office/drawing/2014/main" xmlns="" val="10014"/>
                  </a:ext>
                </a:extLst>
              </a:tr>
              <a:tr h="356885">
                <a:tc>
                  <a:txBody>
                    <a:bodyPr/>
                    <a:lstStyle/>
                    <a:p>
                      <a:pPr marL="342900" indent="-342900" algn="ctr">
                        <a:lnSpc>
                          <a:spcPct val="100000"/>
                        </a:lnSpc>
                        <a:buFont typeface="+mj-lt"/>
                        <a:buNone/>
                      </a:pPr>
                      <a:r>
                        <a:rPr lang="en-US" sz="1600" b="0" dirty="0">
                          <a:latin typeface="+mn-lt"/>
                        </a:rPr>
                        <a:t>11</a:t>
                      </a:r>
                      <a:endParaRPr lang="en-US" sz="1600" b="0" i="0" dirty="0">
                        <a:latin typeface="+mn-lt"/>
                        <a:cs typeface="Times New Roman" pitchFamily="18" charset="0"/>
                      </a:endParaRPr>
                    </a:p>
                  </a:txBody>
                  <a:tcPr/>
                </a:tc>
                <a:tc>
                  <a:txBody>
                    <a:bodyPr/>
                    <a:lstStyle/>
                    <a:p>
                      <a:pPr marL="342900" indent="-342900" algn="l">
                        <a:lnSpc>
                          <a:spcPct val="100000"/>
                        </a:lnSpc>
                        <a:buFont typeface="+mj-lt"/>
                        <a:buNone/>
                      </a:pPr>
                      <a:r>
                        <a:rPr lang="en-US" sz="1600" b="0" dirty="0">
                          <a:latin typeface="+mn-lt"/>
                        </a:rPr>
                        <a:t>LATHE – 1</a:t>
                      </a:r>
                      <a:endParaRPr lang="en-US" sz="1600" b="0" i="0" dirty="0">
                        <a:latin typeface="+mn-lt"/>
                        <a:cs typeface="Times New Roman" pitchFamily="18" charset="0"/>
                      </a:endParaRPr>
                    </a:p>
                  </a:txBody>
                  <a:tcPr/>
                </a:tc>
                <a:tc>
                  <a:txBody>
                    <a:bodyPr/>
                    <a:lstStyle/>
                    <a:p>
                      <a:pPr marL="342900" indent="-342900" algn="l">
                        <a:lnSpc>
                          <a:spcPct val="100000"/>
                        </a:lnSpc>
                        <a:buFont typeface="+mj-lt"/>
                        <a:buNone/>
                      </a:pPr>
                      <a:r>
                        <a:rPr lang="en-US" sz="1600" b="0" dirty="0">
                          <a:latin typeface="+mn-lt"/>
                        </a:rPr>
                        <a:t>SAGAR</a:t>
                      </a:r>
                      <a:endParaRPr lang="en-US" sz="1600" b="0" i="0" dirty="0">
                        <a:latin typeface="+mn-lt"/>
                        <a:cs typeface="Times New Roman" pitchFamily="18" charset="0"/>
                      </a:endParaRPr>
                    </a:p>
                  </a:txBody>
                  <a:tcPr/>
                </a:tc>
                <a:tc>
                  <a:txBody>
                    <a:bodyPr/>
                    <a:lstStyle/>
                    <a:p>
                      <a:pPr marL="342900" indent="-342900" algn="l">
                        <a:lnSpc>
                          <a:spcPct val="100000"/>
                        </a:lnSpc>
                        <a:buFont typeface="+mj-lt"/>
                        <a:buNone/>
                      </a:pPr>
                      <a:r>
                        <a:rPr lang="en-US" sz="1600" b="0" dirty="0">
                          <a:latin typeface="+mn-lt"/>
                        </a:rPr>
                        <a:t>Bed – 6 ft.</a:t>
                      </a:r>
                      <a:endParaRPr lang="en-US" sz="1600" b="0" i="0" dirty="0">
                        <a:latin typeface="+mn-lt"/>
                        <a:cs typeface="Times New Roman" pitchFamily="18" charset="0"/>
                      </a:endParaRPr>
                    </a:p>
                  </a:txBody>
                  <a:tcPr/>
                </a:tc>
                <a:extLst>
                  <a:ext uri="{0D108BD9-81ED-4DB2-BD59-A6C34878D82A}">
                    <a16:rowId xmlns:a16="http://schemas.microsoft.com/office/drawing/2014/main" xmlns="" val="10017"/>
                  </a:ext>
                </a:extLst>
              </a:tr>
              <a:tr h="356885">
                <a:tc>
                  <a:txBody>
                    <a:bodyPr/>
                    <a:lstStyle/>
                    <a:p>
                      <a:pPr marL="342900" indent="-342900" algn="ctr">
                        <a:lnSpc>
                          <a:spcPct val="100000"/>
                        </a:lnSpc>
                        <a:buFont typeface="+mj-lt"/>
                        <a:buNone/>
                      </a:pPr>
                      <a:r>
                        <a:rPr lang="en-US" sz="1600" b="0" dirty="0">
                          <a:latin typeface="+mn-lt"/>
                        </a:rPr>
                        <a:t>12</a:t>
                      </a:r>
                      <a:endParaRPr lang="en-US" sz="1600" b="0" i="0" dirty="0">
                        <a:latin typeface="+mn-lt"/>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M1TR </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MICROMILL </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1210 X 460 X460</a:t>
                      </a:r>
                      <a:endParaRPr kumimoji="0" lang="en-US" sz="1600" b="0" i="0" u="none" kern="1200" dirty="0">
                        <a:solidFill>
                          <a:schemeClr val="dk1"/>
                        </a:solidFill>
                        <a:latin typeface="+mn-lt"/>
                        <a:ea typeface="+mn-ea"/>
                        <a:cs typeface="Times New Roman" pitchFamily="18" charset="0"/>
                      </a:endParaRPr>
                    </a:p>
                  </a:txBody>
                  <a:tcPr/>
                </a:tc>
                <a:extLst>
                  <a:ext uri="{0D108BD9-81ED-4DB2-BD59-A6C34878D82A}">
                    <a16:rowId xmlns:a16="http://schemas.microsoft.com/office/drawing/2014/main" xmlns="" val="10018"/>
                  </a:ext>
                </a:extLst>
              </a:tr>
              <a:tr h="356885">
                <a:tc>
                  <a:txBody>
                    <a:bodyPr/>
                    <a:lstStyle/>
                    <a:p>
                      <a:pPr marL="342900" indent="-342900" algn="ctr">
                        <a:lnSpc>
                          <a:spcPct val="100000"/>
                        </a:lnSpc>
                        <a:buFont typeface="+mj-lt"/>
                        <a:buNone/>
                      </a:pPr>
                      <a:r>
                        <a:rPr lang="en-US" sz="1600" b="0" dirty="0">
                          <a:latin typeface="+mn-lt"/>
                        </a:rPr>
                        <a:t>13</a:t>
                      </a:r>
                      <a:endParaRPr lang="en-US" sz="1600" b="0" i="0" dirty="0">
                        <a:latin typeface="+mn-lt"/>
                        <a:cs typeface="Times New Roman" pitchFamily="18" charset="0"/>
                      </a:endParaRPr>
                    </a:p>
                  </a:txBody>
                  <a:tcPr/>
                </a:tc>
                <a:tc>
                  <a:txBody>
                    <a:bodyPr/>
                    <a:lstStyle/>
                    <a:p>
                      <a:pPr marL="342900" indent="-342900" algn="l">
                        <a:lnSpc>
                          <a:spcPct val="100000"/>
                        </a:lnSpc>
                        <a:buFont typeface="+mj-lt"/>
                        <a:buNone/>
                      </a:pPr>
                      <a:r>
                        <a:rPr lang="en-US" sz="1600" b="0" dirty="0" smtClean="0">
                          <a:latin typeface="+mn-lt"/>
                        </a:rPr>
                        <a:t>Smart TAPPING</a:t>
                      </a:r>
                      <a:r>
                        <a:rPr lang="en-US" sz="1600" b="0" baseline="0" dirty="0" smtClean="0">
                          <a:latin typeface="+mn-lt"/>
                        </a:rPr>
                        <a:t> </a:t>
                      </a:r>
                      <a:r>
                        <a:rPr lang="en-US" sz="1600" b="0" baseline="0" dirty="0">
                          <a:latin typeface="+mn-lt"/>
                        </a:rPr>
                        <a:t>MACHINE</a:t>
                      </a:r>
                      <a:endParaRPr lang="en-US" sz="1600" b="0" i="0" dirty="0">
                        <a:latin typeface="+mn-lt"/>
                        <a:cs typeface="Times New Roman" pitchFamily="18" charset="0"/>
                      </a:endParaRPr>
                    </a:p>
                  </a:txBody>
                  <a:tcPr/>
                </a:tc>
                <a:tc>
                  <a:txBody>
                    <a:bodyPr/>
                    <a:lstStyle/>
                    <a:p>
                      <a:pPr marL="342900" indent="-342900" algn="l">
                        <a:lnSpc>
                          <a:spcPct val="100000"/>
                        </a:lnSpc>
                        <a:buFont typeface="+mj-lt"/>
                        <a:buNone/>
                      </a:pPr>
                      <a:r>
                        <a:rPr lang="en-US" sz="1600" b="0" dirty="0">
                          <a:latin typeface="+mn-lt"/>
                        </a:rPr>
                        <a:t>ITCO</a:t>
                      </a:r>
                      <a:endParaRPr lang="en-US" sz="1600" b="0" i="0" dirty="0">
                        <a:latin typeface="+mn-lt"/>
                        <a:cs typeface="Times New Roman" pitchFamily="18" charset="0"/>
                      </a:endParaRPr>
                    </a:p>
                  </a:txBody>
                  <a:tcPr/>
                </a:tc>
                <a:tc>
                  <a:txBody>
                    <a:bodyPr/>
                    <a:lstStyle/>
                    <a:p>
                      <a:pPr marL="342900" indent="-342900" algn="l">
                        <a:lnSpc>
                          <a:spcPct val="100000"/>
                        </a:lnSpc>
                        <a:buFont typeface="+mj-lt"/>
                        <a:buNone/>
                      </a:pPr>
                      <a:r>
                        <a:rPr lang="en-US" sz="1600" b="0" dirty="0">
                          <a:latin typeface="+mn-lt"/>
                        </a:rPr>
                        <a:t>25 MM </a:t>
                      </a:r>
                      <a:endParaRPr lang="en-US" sz="1600" b="0" i="0" dirty="0">
                        <a:latin typeface="+mn-lt"/>
                        <a:cs typeface="Times New Roman" pitchFamily="18" charset="0"/>
                      </a:endParaRPr>
                    </a:p>
                  </a:txBody>
                  <a:tcPr/>
                </a:tc>
                <a:extLst>
                  <a:ext uri="{0D108BD9-81ED-4DB2-BD59-A6C34878D82A}">
                    <a16:rowId xmlns:a16="http://schemas.microsoft.com/office/drawing/2014/main" xmlns="" val="10019"/>
                  </a:ext>
                </a:extLst>
              </a:tr>
              <a:tr h="356885">
                <a:tc>
                  <a:txBody>
                    <a:bodyPr/>
                    <a:lstStyle/>
                    <a:p>
                      <a:pPr marL="342900" indent="-342900" algn="ctr">
                        <a:lnSpc>
                          <a:spcPct val="100000"/>
                        </a:lnSpc>
                        <a:buFont typeface="+mj-lt"/>
                        <a:buNone/>
                      </a:pPr>
                      <a:r>
                        <a:rPr lang="en-US" sz="1600" b="0" dirty="0">
                          <a:latin typeface="+mn-lt"/>
                        </a:rPr>
                        <a:t>14</a:t>
                      </a:r>
                      <a:endParaRPr lang="en-US" sz="1600" b="0" i="0" dirty="0">
                        <a:latin typeface="+mn-lt"/>
                        <a:cs typeface="Times New Roman" pitchFamily="18" charset="0"/>
                      </a:endParaRPr>
                    </a:p>
                  </a:txBody>
                  <a:tcPr/>
                </a:tc>
                <a:tc>
                  <a:txBody>
                    <a:bodyPr/>
                    <a:lstStyle/>
                    <a:p>
                      <a:pPr marL="342900" indent="-342900" algn="l">
                        <a:lnSpc>
                          <a:spcPct val="100000"/>
                        </a:lnSpc>
                        <a:buFont typeface="+mj-lt"/>
                        <a:buNone/>
                      </a:pPr>
                      <a:r>
                        <a:rPr kumimoji="0" lang="en-US" sz="1600" b="0" kern="1200" baseline="0" dirty="0">
                          <a:solidFill>
                            <a:schemeClr val="dk1"/>
                          </a:solidFill>
                          <a:latin typeface="+mn-lt"/>
                        </a:rPr>
                        <a:t>COMPRESSOR </a:t>
                      </a:r>
                      <a:r>
                        <a:rPr kumimoji="0" lang="en-US" sz="1600" b="0" kern="1200" baseline="0" dirty="0" smtClean="0">
                          <a:solidFill>
                            <a:schemeClr val="dk1"/>
                          </a:solidFill>
                          <a:latin typeface="+mn-lt"/>
                        </a:rPr>
                        <a:t>10HP,7.5 HP,5HP</a:t>
                      </a:r>
                      <a:endParaRPr kumimoji="0" lang="en-US" sz="1600" b="0" i="0" kern="1200" baseline="0" dirty="0">
                        <a:solidFill>
                          <a:schemeClr val="dk1"/>
                        </a:solidFill>
                        <a:latin typeface="+mn-lt"/>
                        <a:ea typeface="+mn-ea"/>
                        <a:cs typeface="Times New Roman" pitchFamily="18" charset="0"/>
                      </a:endParaRPr>
                    </a:p>
                  </a:txBody>
                  <a:tcPr/>
                </a:tc>
                <a:tc>
                  <a:txBody>
                    <a:bodyPr/>
                    <a:lstStyle/>
                    <a:p>
                      <a:pPr marL="342900" indent="-342900" algn="l">
                        <a:lnSpc>
                          <a:spcPct val="100000"/>
                        </a:lnSpc>
                        <a:buFont typeface="+mj-lt"/>
                        <a:buNone/>
                      </a:pPr>
                      <a:endParaRPr lang="en-US" sz="1600" b="0" i="0" dirty="0">
                        <a:latin typeface="+mn-lt"/>
                        <a:cs typeface="Times New Roman" pitchFamily="18" charset="0"/>
                      </a:endParaRPr>
                    </a:p>
                  </a:txBody>
                  <a:tcPr/>
                </a:tc>
                <a:tc>
                  <a:txBody>
                    <a:bodyPr/>
                    <a:lstStyle/>
                    <a:p>
                      <a:pPr marL="342900" indent="-342900" algn="l">
                        <a:lnSpc>
                          <a:spcPct val="100000"/>
                        </a:lnSpc>
                        <a:buFont typeface="+mj-lt"/>
                        <a:buNone/>
                      </a:pPr>
                      <a:r>
                        <a:rPr lang="en-US" sz="1600" b="0" dirty="0">
                          <a:latin typeface="+mn-lt"/>
                        </a:rPr>
                        <a:t>10</a:t>
                      </a:r>
                      <a:r>
                        <a:rPr lang="en-US" sz="1600" b="0" baseline="0" dirty="0">
                          <a:latin typeface="+mn-lt"/>
                        </a:rPr>
                        <a:t> hp</a:t>
                      </a:r>
                      <a:endParaRPr lang="en-US" sz="1600" b="0" i="0" dirty="0">
                        <a:latin typeface="+mn-lt"/>
                        <a:cs typeface="Times New Roman" pitchFamily="18" charset="0"/>
                      </a:endParaRPr>
                    </a:p>
                  </a:txBody>
                  <a:tcPr/>
                </a:tc>
                <a:extLst>
                  <a:ext uri="{0D108BD9-81ED-4DB2-BD59-A6C34878D82A}">
                    <a16:rowId xmlns:a16="http://schemas.microsoft.com/office/drawing/2014/main" xmlns="" val="10015"/>
                  </a:ext>
                </a:extLst>
              </a:tr>
              <a:tr h="356885">
                <a:tc>
                  <a:txBody>
                    <a:bodyPr/>
                    <a:lstStyle/>
                    <a:p>
                      <a:pPr marL="342900" indent="-342900" algn="ctr">
                        <a:lnSpc>
                          <a:spcPct val="100000"/>
                        </a:lnSpc>
                        <a:buFont typeface="+mj-lt"/>
                        <a:buNone/>
                      </a:pPr>
                      <a:r>
                        <a:rPr lang="en-US" sz="1600" b="0" dirty="0">
                          <a:latin typeface="+mn-lt"/>
                        </a:rPr>
                        <a:t>15</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BAND SAW CUTTING</a:t>
                      </a:r>
                      <a:endParaRPr lang="en-US" sz="1600" b="0" i="0" dirty="0">
                        <a:latin typeface="+mn-lt"/>
                      </a:endParaRPr>
                    </a:p>
                  </a:txBody>
                  <a:tcPr/>
                </a:tc>
                <a:tc>
                  <a:txBody>
                    <a:bodyPr/>
                    <a:lstStyle/>
                    <a:p>
                      <a:pPr marL="342900" indent="-342900" algn="l">
                        <a:lnSpc>
                          <a:spcPct val="100000"/>
                        </a:lnSpc>
                        <a:buFont typeface="+mj-lt"/>
                        <a:buNone/>
                      </a:pPr>
                      <a:r>
                        <a:rPr lang="en-US" sz="1600" b="0" u="none" dirty="0">
                          <a:latin typeface="+mn-lt"/>
                        </a:rPr>
                        <a:t>LAXMI INDUSTRIES </a:t>
                      </a:r>
                      <a:endParaRPr lang="en-US" sz="1600" b="0" i="0" dirty="0">
                        <a:latin typeface="+mn-lt"/>
                      </a:endParaRPr>
                    </a:p>
                  </a:txBody>
                  <a:tcPr/>
                </a:tc>
                <a:tc>
                  <a:txBody>
                    <a:bodyPr/>
                    <a:lstStyle/>
                    <a:p>
                      <a:pPr marL="342900" indent="-342900" algn="l">
                        <a:lnSpc>
                          <a:spcPct val="100000"/>
                        </a:lnSpc>
                        <a:buFont typeface="+mj-lt"/>
                        <a:buNone/>
                      </a:pPr>
                      <a:r>
                        <a:rPr lang="en-US" sz="1600" b="0" dirty="0">
                          <a:latin typeface="+mn-lt"/>
                        </a:rPr>
                        <a:t>140 DIA CUTTING</a:t>
                      </a:r>
                      <a:endParaRPr lang="en-US" sz="1600" b="0" i="0" dirty="0">
                        <a:latin typeface="+mn-lt"/>
                      </a:endParaRPr>
                    </a:p>
                  </a:txBody>
                  <a:tcPr/>
                </a:tc>
                <a:extLst>
                  <a:ext uri="{0D108BD9-81ED-4DB2-BD59-A6C34878D82A}">
                    <a16:rowId xmlns:a16="http://schemas.microsoft.com/office/drawing/2014/main" xmlns="" val="10016"/>
                  </a:ext>
                </a:extLst>
              </a:tr>
            </a:tbl>
          </a:graphicData>
        </a:graphic>
      </p:graphicFrame>
      <p:sp>
        <p:nvSpPr>
          <p:cNvPr id="16" name="TextBox 15"/>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20" name="Picture 19"/>
          <p:cNvPicPr>
            <a:picLocks noChangeAspect="1"/>
          </p:cNvPicPr>
          <p:nvPr/>
        </p:nvPicPr>
        <p:blipFill rotWithShape="1">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2" name="Picture 11"/>
          <p:cNvPicPr>
            <a:picLocks noChangeAspect="1"/>
          </p:cNvPicPr>
          <p:nvPr/>
        </p:nvPicPr>
        <p:blipFill rotWithShape="1">
          <a:blip r:embed="rId7">
            <a:extLst>
              <a:ext uri="{28A0092B-C50C-407E-A947-70E740481C1C}">
                <a14:useLocalDpi xmlns:a14="http://schemas.microsoft.com/office/drawing/2010/main" val="0"/>
              </a:ext>
            </a:extLst>
          </a:blip>
          <a:srcRect l="17091" t="13530" r="17243" b="21140"/>
          <a:stretch/>
        </p:blipFill>
        <p:spPr>
          <a:xfrm>
            <a:off x="218795" y="5645336"/>
            <a:ext cx="905726" cy="972000"/>
          </a:xfrm>
          <a:prstGeom prst="rect">
            <a:avLst/>
          </a:prstGeom>
        </p:spPr>
      </p:pic>
    </p:spTree>
    <p:extLst>
      <p:ext uri="{BB962C8B-B14F-4D97-AF65-F5344CB8AC3E}">
        <p14:creationId xmlns:p14="http://schemas.microsoft.com/office/powerpoint/2010/main" val="12093146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179673" y="105167"/>
            <a:ext cx="6462603"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Future Planned Extended Facility</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15" name="Picture 14"/>
          <p:cNvPicPr>
            <a:picLocks noChangeAspect="1"/>
          </p:cNvPicPr>
          <p:nvPr/>
        </p:nvPicPr>
        <p:blipFill>
          <a:blip r:embed="rId3"/>
          <a:stretch>
            <a:fillRect/>
          </a:stretch>
        </p:blipFill>
        <p:spPr>
          <a:xfrm>
            <a:off x="0" y="3666836"/>
            <a:ext cx="2160005" cy="3191163"/>
          </a:xfrm>
          <a:prstGeom prst="rect">
            <a:avLst/>
          </a:prstGeom>
        </p:spPr>
      </p:pic>
      <p:pic>
        <p:nvPicPr>
          <p:cNvPr id="9" name="Picture 8"/>
          <p:cNvPicPr>
            <a:picLocks noChangeAspect="1"/>
          </p:cNvPicPr>
          <p:nvPr/>
        </p:nvPicPr>
        <p:blipFill>
          <a:blip r:embed="rId4"/>
          <a:stretch>
            <a:fillRect/>
          </a:stretch>
        </p:blipFill>
        <p:spPr>
          <a:xfrm>
            <a:off x="11298407" y="0"/>
            <a:ext cx="638264" cy="6858957"/>
          </a:xfrm>
          <a:prstGeom prst="rect">
            <a:avLst/>
          </a:prstGeom>
        </p:spPr>
      </p:pic>
      <p:sp>
        <p:nvSpPr>
          <p:cNvPr id="5" name="Rectangle 5"/>
          <p:cNvSpPr>
            <a:spLocks noChangeArrowheads="1"/>
          </p:cNvSpPr>
          <p:nvPr/>
        </p:nvSpPr>
        <p:spPr bwMode="auto">
          <a:xfrm>
            <a:off x="7223443" y="42283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13" name="Table 12">
            <a:extLst>
              <a:ext uri="{FF2B5EF4-FFF2-40B4-BE49-F238E27FC236}">
                <a16:creationId xmlns:a16="http://schemas.microsoft.com/office/drawing/2014/main" xmlns="" id="{FDCF0B94-7A93-B65D-4F75-3428FDDFB759}"/>
              </a:ext>
            </a:extLst>
          </p:cNvPr>
          <p:cNvGraphicFramePr>
            <a:graphicFrameLocks noGrp="1"/>
          </p:cNvGraphicFramePr>
          <p:nvPr>
            <p:extLst>
              <p:ext uri="{D42A27DB-BD31-4B8C-83A1-F6EECF244321}">
                <p14:modId xmlns:p14="http://schemas.microsoft.com/office/powerpoint/2010/main" val="4092960331"/>
              </p:ext>
            </p:extLst>
          </p:nvPr>
        </p:nvGraphicFramePr>
        <p:xfrm>
          <a:off x="1183409" y="915273"/>
          <a:ext cx="9047005" cy="3313046"/>
        </p:xfrm>
        <a:graphic>
          <a:graphicData uri="http://schemas.openxmlformats.org/drawingml/2006/table">
            <a:tbl>
              <a:tblPr firstRow="1" bandRow="1">
                <a:tableStyleId>{5C22544A-7EE6-4342-B048-85BDC9FD1C3A}</a:tableStyleId>
              </a:tblPr>
              <a:tblGrid>
                <a:gridCol w="761150">
                  <a:extLst>
                    <a:ext uri="{9D8B030D-6E8A-4147-A177-3AD203B41FA5}">
                      <a16:colId xmlns:a16="http://schemas.microsoft.com/office/drawing/2014/main" xmlns="" val="20000"/>
                    </a:ext>
                  </a:extLst>
                </a:gridCol>
                <a:gridCol w="2234821">
                  <a:extLst>
                    <a:ext uri="{9D8B030D-6E8A-4147-A177-3AD203B41FA5}">
                      <a16:colId xmlns:a16="http://schemas.microsoft.com/office/drawing/2014/main" xmlns="" val="20001"/>
                    </a:ext>
                  </a:extLst>
                </a:gridCol>
                <a:gridCol w="2133226">
                  <a:extLst>
                    <a:ext uri="{9D8B030D-6E8A-4147-A177-3AD203B41FA5}">
                      <a16:colId xmlns:a16="http://schemas.microsoft.com/office/drawing/2014/main" xmlns="" val="20002"/>
                    </a:ext>
                  </a:extLst>
                </a:gridCol>
                <a:gridCol w="2133226"/>
                <a:gridCol w="1784582">
                  <a:extLst>
                    <a:ext uri="{9D8B030D-6E8A-4147-A177-3AD203B41FA5}">
                      <a16:colId xmlns:a16="http://schemas.microsoft.com/office/drawing/2014/main" xmlns="" val="20003"/>
                    </a:ext>
                  </a:extLst>
                </a:gridCol>
              </a:tblGrid>
              <a:tr h="436193">
                <a:tc>
                  <a:txBody>
                    <a:bodyPr/>
                    <a:lstStyle/>
                    <a:p>
                      <a:pPr algn="ctr"/>
                      <a:r>
                        <a:rPr lang="en-US" sz="1600" b="1" dirty="0"/>
                        <a:t>Sr.No.</a:t>
                      </a:r>
                      <a:endParaRPr lang="en-US" sz="1600" b="1" i="0" dirty="0"/>
                    </a:p>
                  </a:txBody>
                  <a:tcPr/>
                </a:tc>
                <a:tc>
                  <a:txBody>
                    <a:bodyPr/>
                    <a:lstStyle/>
                    <a:p>
                      <a:pPr algn="ctr"/>
                      <a:r>
                        <a:rPr lang="en-US" sz="1600" b="1" u="none" dirty="0"/>
                        <a:t>MACHINES NAME</a:t>
                      </a:r>
                      <a:endParaRPr lang="en-US" sz="1600" b="1" i="0" dirty="0"/>
                    </a:p>
                  </a:txBody>
                  <a:tcPr/>
                </a:tc>
                <a:tc>
                  <a:txBody>
                    <a:bodyPr/>
                    <a:lstStyle/>
                    <a:p>
                      <a:pPr algn="ctr"/>
                      <a:r>
                        <a:rPr lang="en-US" sz="1600" b="1" u="none" dirty="0" smtClean="0"/>
                        <a:t>Details</a:t>
                      </a:r>
                      <a:endParaRPr lang="en-US" sz="1600" b="1" i="0" dirty="0"/>
                    </a:p>
                  </a:txBody>
                  <a:tcPr/>
                </a:tc>
                <a:tc>
                  <a:txBody>
                    <a:bodyPr/>
                    <a:lstStyle/>
                    <a:p>
                      <a:pPr algn="ctr"/>
                      <a:r>
                        <a:rPr lang="en-US" sz="1600" b="1" u="none" dirty="0"/>
                        <a:t>CAPACITY</a:t>
                      </a:r>
                      <a:endParaRPr lang="en-US" sz="1600" b="1" i="0" dirty="0"/>
                    </a:p>
                  </a:txBody>
                  <a:tcPr/>
                </a:tc>
                <a:tc>
                  <a:txBody>
                    <a:bodyPr/>
                    <a:lstStyle/>
                    <a:p>
                      <a:pPr algn="ctr"/>
                      <a:r>
                        <a:rPr lang="en-US" sz="1600" b="1" u="none" dirty="0" smtClean="0"/>
                        <a:t>Target</a:t>
                      </a:r>
                      <a:r>
                        <a:rPr lang="en-US" sz="1600" b="1" u="none" baseline="0" dirty="0" smtClean="0"/>
                        <a:t> Date</a:t>
                      </a:r>
                      <a:endParaRPr lang="en-US" sz="1600" b="1" i="0" dirty="0"/>
                    </a:p>
                  </a:txBody>
                  <a:tcPr/>
                </a:tc>
                <a:extLst>
                  <a:ext uri="{0D108BD9-81ED-4DB2-BD59-A6C34878D82A}">
                    <a16:rowId xmlns:a16="http://schemas.microsoft.com/office/drawing/2014/main" xmlns="" val="10000"/>
                  </a:ext>
                </a:extLst>
              </a:tr>
              <a:tr h="356885">
                <a:tc>
                  <a:txBody>
                    <a:bodyPr/>
                    <a:lstStyle/>
                    <a:p>
                      <a:pPr marL="342900" indent="-342900" algn="ctr" rtl="0" eaLnBrk="1" latinLnBrk="0" hangingPunct="1">
                        <a:lnSpc>
                          <a:spcPct val="100000"/>
                        </a:lnSpc>
                        <a:buFont typeface="+mj-lt"/>
                        <a:buNone/>
                      </a:pPr>
                      <a:r>
                        <a:rPr kumimoji="0" lang="en-US" sz="1600" b="0" u="none" kern="1200" dirty="0">
                          <a:solidFill>
                            <a:schemeClr val="dk1"/>
                          </a:solidFill>
                          <a:latin typeface="+mn-lt"/>
                        </a:rPr>
                        <a:t>1</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a:solidFill>
                            <a:schemeClr val="dk1"/>
                          </a:solidFill>
                          <a:latin typeface="+mn-lt"/>
                        </a:rPr>
                        <a:t>CNC Machine</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i="0" u="none" kern="1200" dirty="0" smtClean="0">
                          <a:solidFill>
                            <a:schemeClr val="dk1"/>
                          </a:solidFill>
                          <a:latin typeface="+mn-lt"/>
                          <a:ea typeface="+mn-ea"/>
                          <a:cs typeface="Times New Roman" pitchFamily="18" charset="0"/>
                        </a:rPr>
                        <a:t>Ace Micromatic</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550 </a:t>
                      </a:r>
                      <a:r>
                        <a:rPr kumimoji="0" lang="en-US" sz="1600" b="0" u="none" kern="1200" dirty="0">
                          <a:solidFill>
                            <a:schemeClr val="dk1"/>
                          </a:solidFill>
                          <a:latin typeface="+mn-lt"/>
                        </a:rPr>
                        <a:t>Dia. x </a:t>
                      </a:r>
                      <a:r>
                        <a:rPr kumimoji="0" lang="en-US" sz="1600" b="0" u="none" kern="1200" dirty="0" smtClean="0">
                          <a:solidFill>
                            <a:schemeClr val="dk1"/>
                          </a:solidFill>
                          <a:latin typeface="+mn-lt"/>
                        </a:rPr>
                        <a:t>1200L</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Dec-2026</a:t>
                      </a:r>
                      <a:endParaRPr kumimoji="0" lang="en-US" sz="1600" b="0" i="0" u="none" kern="1200" dirty="0">
                        <a:solidFill>
                          <a:schemeClr val="dk1"/>
                        </a:solidFill>
                        <a:latin typeface="+mn-lt"/>
                        <a:ea typeface="+mn-ea"/>
                        <a:cs typeface="Times New Roman" pitchFamily="18" charset="0"/>
                      </a:endParaRPr>
                    </a:p>
                  </a:txBody>
                  <a:tcPr/>
                </a:tc>
                <a:extLst>
                  <a:ext uri="{0D108BD9-81ED-4DB2-BD59-A6C34878D82A}">
                    <a16:rowId xmlns:a16="http://schemas.microsoft.com/office/drawing/2014/main" xmlns="" val="10001"/>
                  </a:ext>
                </a:extLst>
              </a:tr>
              <a:tr h="356885">
                <a:tc>
                  <a:txBody>
                    <a:bodyPr/>
                    <a:lstStyle/>
                    <a:p>
                      <a:pPr marL="342900" indent="-342900" algn="ctr" rtl="0" eaLnBrk="1" latinLnBrk="0" hangingPunct="1">
                        <a:lnSpc>
                          <a:spcPct val="100000"/>
                        </a:lnSpc>
                        <a:buFont typeface="+mj-lt"/>
                        <a:buNone/>
                      </a:pPr>
                      <a:r>
                        <a:rPr kumimoji="0" lang="en-US" sz="1600" b="0" u="none" kern="1200" dirty="0">
                          <a:solidFill>
                            <a:schemeClr val="dk1"/>
                          </a:solidFill>
                          <a:latin typeface="+mn-lt"/>
                        </a:rPr>
                        <a:t>2</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VMC</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With ATC</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2000x1000x1000 </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marR="0" indent="-342900" algn="l" defTabSz="914400" rtl="0" eaLnBrk="1" fontAlgn="auto" latinLnBrk="0" hangingPunct="1">
                        <a:lnSpc>
                          <a:spcPct val="100000"/>
                        </a:lnSpc>
                        <a:spcBef>
                          <a:spcPts val="0"/>
                        </a:spcBef>
                        <a:spcAft>
                          <a:spcPts val="0"/>
                        </a:spcAft>
                        <a:buClrTx/>
                        <a:buSzTx/>
                        <a:buFont typeface="+mj-lt"/>
                        <a:buNone/>
                        <a:tabLst/>
                        <a:defRPr/>
                      </a:pPr>
                      <a:r>
                        <a:rPr kumimoji="0" lang="en-US" sz="1600" b="0" u="none" kern="1200" dirty="0" smtClean="0">
                          <a:solidFill>
                            <a:schemeClr val="dk1"/>
                          </a:solidFill>
                          <a:latin typeface="+mn-lt"/>
                        </a:rPr>
                        <a:t>Dec-2026 </a:t>
                      </a:r>
                      <a:endParaRPr kumimoji="0" lang="en-US" sz="1600" b="0" i="0" u="none" kern="1200" dirty="0">
                        <a:solidFill>
                          <a:schemeClr val="dk1"/>
                        </a:solidFill>
                        <a:latin typeface="+mn-lt"/>
                        <a:ea typeface="+mn-ea"/>
                        <a:cs typeface="Times New Roman" pitchFamily="18" charset="0"/>
                      </a:endParaRPr>
                    </a:p>
                  </a:txBody>
                  <a:tcPr/>
                </a:tc>
                <a:extLst>
                  <a:ext uri="{0D108BD9-81ED-4DB2-BD59-A6C34878D82A}">
                    <a16:rowId xmlns:a16="http://schemas.microsoft.com/office/drawing/2014/main" xmlns="" val="10002"/>
                  </a:ext>
                </a:extLst>
              </a:tr>
              <a:tr h="378658">
                <a:tc>
                  <a:txBody>
                    <a:bodyPr/>
                    <a:lstStyle/>
                    <a:p>
                      <a:pPr marL="342900" indent="-342900" algn="ctr" rtl="0" eaLnBrk="1" latinLnBrk="0" hangingPunct="1">
                        <a:lnSpc>
                          <a:spcPct val="100000"/>
                        </a:lnSpc>
                        <a:buFont typeface="+mj-lt"/>
                        <a:buNone/>
                      </a:pPr>
                      <a:r>
                        <a:rPr kumimoji="0" lang="en-US" sz="1600" b="0" u="none" kern="1200" dirty="0">
                          <a:solidFill>
                            <a:schemeClr val="dk1"/>
                          </a:solidFill>
                          <a:latin typeface="+mn-lt"/>
                        </a:rPr>
                        <a:t>3</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Duplex Machine</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marR="0" indent="-342900" algn="l" defTabSz="914400" rtl="0" eaLnBrk="1" fontAlgn="auto" latinLnBrk="0" hangingPunct="1">
                        <a:lnSpc>
                          <a:spcPct val="100000"/>
                        </a:lnSpc>
                        <a:spcBef>
                          <a:spcPts val="0"/>
                        </a:spcBef>
                        <a:spcAft>
                          <a:spcPts val="0"/>
                        </a:spcAft>
                        <a:buClrTx/>
                        <a:buSzTx/>
                        <a:buFont typeface="+mj-lt"/>
                        <a:buNone/>
                        <a:tabLst/>
                        <a:defRPr/>
                      </a:pPr>
                      <a:r>
                        <a:rPr kumimoji="0" lang="en-US" sz="1600" b="0" i="0" u="none" kern="1200" dirty="0" smtClean="0">
                          <a:solidFill>
                            <a:schemeClr val="dk1"/>
                          </a:solidFill>
                          <a:latin typeface="+mn-lt"/>
                          <a:ea typeface="+mn-ea"/>
                          <a:cs typeface="Times New Roman" pitchFamily="18" charset="0"/>
                        </a:rPr>
                        <a:t>With ATC Dual Spindle</a:t>
                      </a: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6200x3600x1000 </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Dec -2026</a:t>
                      </a:r>
                      <a:endParaRPr kumimoji="0" lang="en-US" sz="1600" b="0" i="0" u="none" kern="1200" dirty="0">
                        <a:solidFill>
                          <a:schemeClr val="dk1"/>
                        </a:solidFill>
                        <a:latin typeface="+mn-lt"/>
                        <a:ea typeface="+mn-ea"/>
                        <a:cs typeface="Times New Roman" pitchFamily="18" charset="0"/>
                      </a:endParaRPr>
                    </a:p>
                  </a:txBody>
                  <a:tcPr/>
                </a:tc>
                <a:extLst>
                  <a:ext uri="{0D108BD9-81ED-4DB2-BD59-A6C34878D82A}">
                    <a16:rowId xmlns:a16="http://schemas.microsoft.com/office/drawing/2014/main" xmlns="" val="10004"/>
                  </a:ext>
                </a:extLst>
              </a:tr>
              <a:tr h="356885">
                <a:tc>
                  <a:txBody>
                    <a:bodyPr/>
                    <a:lstStyle/>
                    <a:p>
                      <a:pPr marL="342900" indent="-342900" algn="ctr" rtl="0" eaLnBrk="1" latinLnBrk="0" hangingPunct="1">
                        <a:lnSpc>
                          <a:spcPct val="100000"/>
                        </a:lnSpc>
                        <a:buFont typeface="+mj-lt"/>
                        <a:buNone/>
                      </a:pPr>
                      <a:r>
                        <a:rPr kumimoji="0" lang="en-US" sz="1600" b="0" u="none" kern="1200" dirty="0">
                          <a:solidFill>
                            <a:schemeClr val="dk1"/>
                          </a:solidFill>
                          <a:latin typeface="+mn-lt"/>
                        </a:rPr>
                        <a:t>4</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Rolling Machine</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i="0" u="none" kern="1200" dirty="0" smtClean="0">
                          <a:solidFill>
                            <a:schemeClr val="dk1"/>
                          </a:solidFill>
                          <a:latin typeface="+mn-lt"/>
                          <a:ea typeface="+mn-ea"/>
                          <a:cs typeface="Times New Roman" pitchFamily="18" charset="0"/>
                        </a:rPr>
                        <a:t>4 – Roller</a:t>
                      </a:r>
                      <a:r>
                        <a:rPr kumimoji="0" lang="en-US" sz="1600" b="0" i="0" u="none" kern="1200" baseline="0" dirty="0" smtClean="0">
                          <a:solidFill>
                            <a:schemeClr val="dk1"/>
                          </a:solidFill>
                          <a:latin typeface="+mn-lt"/>
                          <a:ea typeface="+mn-ea"/>
                          <a:cs typeface="Times New Roman" pitchFamily="18" charset="0"/>
                        </a:rPr>
                        <a:t> Min Dia-350</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2500</a:t>
                      </a:r>
                      <a:r>
                        <a:rPr kumimoji="0" lang="en-US" sz="1600" b="0" u="none" kern="1200" baseline="0" dirty="0" smtClean="0">
                          <a:solidFill>
                            <a:schemeClr val="dk1"/>
                          </a:solidFill>
                          <a:latin typeface="+mn-lt"/>
                        </a:rPr>
                        <a:t> x 40 mm </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Dec -2026</a:t>
                      </a:r>
                      <a:endParaRPr kumimoji="0" lang="en-US" sz="1600" b="0" i="0" u="none" kern="1200" dirty="0">
                        <a:solidFill>
                          <a:schemeClr val="dk1"/>
                        </a:solidFill>
                        <a:latin typeface="+mn-lt"/>
                        <a:ea typeface="+mn-ea"/>
                        <a:cs typeface="Times New Roman" pitchFamily="18" charset="0"/>
                      </a:endParaRPr>
                    </a:p>
                  </a:txBody>
                  <a:tcPr/>
                </a:tc>
                <a:extLst>
                  <a:ext uri="{0D108BD9-81ED-4DB2-BD59-A6C34878D82A}">
                    <a16:rowId xmlns:a16="http://schemas.microsoft.com/office/drawing/2014/main" xmlns="" val="10003"/>
                  </a:ext>
                </a:extLst>
              </a:tr>
              <a:tr h="356885">
                <a:tc>
                  <a:txBody>
                    <a:bodyPr/>
                    <a:lstStyle/>
                    <a:p>
                      <a:pPr marL="342900" indent="-342900" algn="ctr" rtl="0" eaLnBrk="1" latinLnBrk="0" hangingPunct="1">
                        <a:lnSpc>
                          <a:spcPct val="100000"/>
                        </a:lnSpc>
                        <a:buFont typeface="+mj-lt"/>
                        <a:buNone/>
                      </a:pPr>
                      <a:r>
                        <a:rPr kumimoji="0" lang="en-US" sz="1600" b="0" u="none" kern="1200" dirty="0">
                          <a:solidFill>
                            <a:schemeClr val="dk1"/>
                          </a:solidFill>
                          <a:latin typeface="+mn-lt"/>
                        </a:rPr>
                        <a:t>5</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defTabSz="914400" rtl="0" eaLnBrk="1" latinLnBrk="0" hangingPunct="1">
                        <a:lnSpc>
                          <a:spcPct val="100000"/>
                        </a:lnSpc>
                        <a:buFont typeface="+mj-lt"/>
                        <a:buNone/>
                      </a:pPr>
                      <a:r>
                        <a:rPr kumimoji="0" lang="en-US" sz="1600" b="0" u="none" kern="1200" dirty="0" smtClean="0">
                          <a:solidFill>
                            <a:schemeClr val="dk1"/>
                          </a:solidFill>
                          <a:latin typeface="+mn-lt"/>
                          <a:ea typeface="+mn-ea"/>
                          <a:cs typeface="+mn-cs"/>
                        </a:rPr>
                        <a:t>Press Brake </a:t>
                      </a:r>
                      <a:endParaRPr kumimoji="0" lang="en-IN" sz="1600" b="0" u="none" kern="1200" dirty="0">
                        <a:solidFill>
                          <a:schemeClr val="dk1"/>
                        </a:solidFill>
                        <a:latin typeface="+mn-lt"/>
                        <a:ea typeface="+mn-ea"/>
                        <a:cs typeface="+mn-cs"/>
                      </a:endParaRPr>
                    </a:p>
                  </a:txBody>
                  <a:tcPr/>
                </a:tc>
                <a:tc>
                  <a:txBody>
                    <a:bodyPr/>
                    <a:lstStyle/>
                    <a:p>
                      <a:r>
                        <a:rPr kumimoji="0" lang="en-US" sz="1600" b="0" u="none" kern="1200" dirty="0" smtClean="0">
                          <a:solidFill>
                            <a:schemeClr val="dk1"/>
                          </a:solidFill>
                          <a:latin typeface="+mn-lt"/>
                          <a:ea typeface="+mn-ea"/>
                          <a:cs typeface="+mn-cs"/>
                        </a:rPr>
                        <a:t>5 Axis</a:t>
                      </a:r>
                      <a:endParaRPr kumimoji="0" lang="en-IN" sz="1600" b="0" u="none" kern="1200" dirty="0">
                        <a:solidFill>
                          <a:schemeClr val="dk1"/>
                        </a:solidFill>
                        <a:latin typeface="+mn-lt"/>
                        <a:ea typeface="+mn-ea"/>
                        <a:cs typeface="+mn-cs"/>
                      </a:endParaRPr>
                    </a:p>
                  </a:txBody>
                  <a:tcPr/>
                </a:tc>
                <a:tc>
                  <a:txBody>
                    <a:bodyPr/>
                    <a:lstStyle/>
                    <a:p>
                      <a:r>
                        <a:rPr kumimoji="0" lang="en-US" sz="1600" b="0" u="none" kern="1200" dirty="0" smtClean="0">
                          <a:solidFill>
                            <a:schemeClr val="dk1"/>
                          </a:solidFill>
                          <a:latin typeface="+mn-lt"/>
                          <a:ea typeface="+mn-ea"/>
                          <a:cs typeface="+mn-cs"/>
                        </a:rPr>
                        <a:t>200 tone</a:t>
                      </a:r>
                      <a:endParaRPr kumimoji="0" lang="en-IN" sz="1600" b="0" u="none" kern="1200" dirty="0">
                        <a:solidFill>
                          <a:schemeClr val="dk1"/>
                        </a:solidFill>
                        <a:latin typeface="+mn-lt"/>
                        <a:ea typeface="+mn-ea"/>
                        <a:cs typeface="+mn-cs"/>
                      </a:endParaRPr>
                    </a:p>
                  </a:txBody>
                  <a:tcPr/>
                </a:tc>
                <a:tc>
                  <a:txBody>
                    <a:bodyPr/>
                    <a:lstStyle/>
                    <a:p>
                      <a:r>
                        <a:rPr kumimoji="0" lang="en-US" sz="1600" b="0" u="none" kern="1200" dirty="0" smtClean="0">
                          <a:solidFill>
                            <a:schemeClr val="dk1"/>
                          </a:solidFill>
                          <a:latin typeface="+mn-lt"/>
                          <a:ea typeface="+mn-ea"/>
                          <a:cs typeface="+mn-cs"/>
                        </a:rPr>
                        <a:t>May -2026</a:t>
                      </a:r>
                      <a:endParaRPr kumimoji="0" lang="en-IN" sz="1600" b="0" u="none" kern="1200" dirty="0">
                        <a:solidFill>
                          <a:schemeClr val="dk1"/>
                        </a:solidFill>
                        <a:latin typeface="+mn-lt"/>
                        <a:ea typeface="+mn-ea"/>
                        <a:cs typeface="+mn-cs"/>
                      </a:endParaRPr>
                    </a:p>
                  </a:txBody>
                  <a:tcPr/>
                </a:tc>
                <a:extLst>
                  <a:ext uri="{0D108BD9-81ED-4DB2-BD59-A6C34878D82A}">
                    <a16:rowId xmlns:a16="http://schemas.microsoft.com/office/drawing/2014/main" xmlns="" val="10005"/>
                  </a:ext>
                </a:extLst>
              </a:tr>
              <a:tr h="356885">
                <a:tc>
                  <a:txBody>
                    <a:bodyPr/>
                    <a:lstStyle/>
                    <a:p>
                      <a:pPr marL="342900" indent="-342900" algn="ctr">
                        <a:lnSpc>
                          <a:spcPct val="100000"/>
                        </a:lnSpc>
                        <a:buFont typeface="+mj-lt"/>
                        <a:buNone/>
                      </a:pPr>
                      <a:r>
                        <a:rPr lang="en-US" sz="1600" b="0" dirty="0">
                          <a:latin typeface="+mn-lt"/>
                        </a:rPr>
                        <a:t>6</a:t>
                      </a:r>
                      <a:endParaRPr lang="en-US" sz="1600" b="0" i="0" dirty="0">
                        <a:latin typeface="+mn-lt"/>
                      </a:endParaRPr>
                    </a:p>
                  </a:txBody>
                  <a:tcPr/>
                </a:tc>
                <a:tc>
                  <a:txBody>
                    <a:bodyPr/>
                    <a:lstStyle/>
                    <a:p>
                      <a:pPr marL="342900" indent="-342900" algn="l" defTabSz="914400" rtl="0" eaLnBrk="1" latinLnBrk="0" hangingPunct="1">
                        <a:lnSpc>
                          <a:spcPct val="100000"/>
                        </a:lnSpc>
                        <a:buFont typeface="+mj-lt"/>
                        <a:buNone/>
                      </a:pPr>
                      <a:r>
                        <a:rPr kumimoji="0" lang="en-US" sz="1600" b="0" u="none" kern="1200" dirty="0" smtClean="0">
                          <a:solidFill>
                            <a:schemeClr val="dk1"/>
                          </a:solidFill>
                          <a:latin typeface="+mn-lt"/>
                          <a:ea typeface="+mn-ea"/>
                          <a:cs typeface="+mn-cs"/>
                        </a:rPr>
                        <a:t>Press Brake </a:t>
                      </a:r>
                      <a:endParaRPr kumimoji="0" lang="en-IN" sz="1600" b="0" u="none" kern="1200" dirty="0">
                        <a:solidFill>
                          <a:schemeClr val="dk1"/>
                        </a:solidFill>
                        <a:latin typeface="+mn-lt"/>
                        <a:ea typeface="+mn-ea"/>
                        <a:cs typeface="+mn-cs"/>
                      </a:endParaRPr>
                    </a:p>
                  </a:txBody>
                  <a:tcPr/>
                </a:tc>
                <a:tc>
                  <a:txBody>
                    <a:bodyPr/>
                    <a:lstStyle/>
                    <a:p>
                      <a:r>
                        <a:rPr kumimoji="0" lang="en-US" sz="1600" b="0" u="none" kern="1200" dirty="0" smtClean="0">
                          <a:solidFill>
                            <a:schemeClr val="dk1"/>
                          </a:solidFill>
                          <a:latin typeface="+mn-lt"/>
                          <a:ea typeface="+mn-ea"/>
                          <a:cs typeface="+mn-cs"/>
                        </a:rPr>
                        <a:t>5 Axis</a:t>
                      </a:r>
                      <a:endParaRPr kumimoji="0" lang="en-IN" sz="1600" b="0" u="none" kern="1200" dirty="0">
                        <a:solidFill>
                          <a:schemeClr val="dk1"/>
                        </a:solidFill>
                        <a:latin typeface="+mn-lt"/>
                        <a:ea typeface="+mn-ea"/>
                        <a:cs typeface="+mn-cs"/>
                      </a:endParaRPr>
                    </a:p>
                  </a:txBody>
                  <a:tcPr/>
                </a:tc>
                <a:tc>
                  <a:txBody>
                    <a:bodyPr/>
                    <a:lstStyle/>
                    <a:p>
                      <a:r>
                        <a:rPr kumimoji="0" lang="en-US" sz="1600" b="0" u="none" kern="1200" dirty="0" smtClean="0">
                          <a:solidFill>
                            <a:schemeClr val="dk1"/>
                          </a:solidFill>
                          <a:latin typeface="+mn-lt"/>
                          <a:ea typeface="+mn-ea"/>
                          <a:cs typeface="+mn-cs"/>
                        </a:rPr>
                        <a:t>400 tone</a:t>
                      </a:r>
                      <a:endParaRPr kumimoji="0" lang="en-IN" sz="1600" b="0" u="none" kern="1200" dirty="0">
                        <a:solidFill>
                          <a:schemeClr val="dk1"/>
                        </a:solidFill>
                        <a:latin typeface="+mn-lt"/>
                        <a:ea typeface="+mn-ea"/>
                        <a:cs typeface="+mn-cs"/>
                      </a:endParaRPr>
                    </a:p>
                  </a:txBody>
                  <a:tcPr/>
                </a:tc>
                <a:tc>
                  <a:txBody>
                    <a:bodyPr/>
                    <a:lstStyle/>
                    <a:p>
                      <a:r>
                        <a:rPr kumimoji="0" lang="en-US" sz="1600" b="0" u="none" kern="1200" dirty="0" smtClean="0">
                          <a:solidFill>
                            <a:schemeClr val="dk1"/>
                          </a:solidFill>
                          <a:latin typeface="+mn-lt"/>
                          <a:ea typeface="+mn-ea"/>
                          <a:cs typeface="+mn-cs"/>
                        </a:rPr>
                        <a:t>Dec -2026</a:t>
                      </a:r>
                      <a:endParaRPr kumimoji="0" lang="en-IN" sz="1600" b="0" u="none" kern="1200" dirty="0">
                        <a:solidFill>
                          <a:schemeClr val="dk1"/>
                        </a:solidFill>
                        <a:latin typeface="+mn-lt"/>
                        <a:ea typeface="+mn-ea"/>
                        <a:cs typeface="+mn-cs"/>
                      </a:endParaRPr>
                    </a:p>
                  </a:txBody>
                  <a:tcPr/>
                </a:tc>
                <a:extLst>
                  <a:ext uri="{0D108BD9-81ED-4DB2-BD59-A6C34878D82A}">
                    <a16:rowId xmlns:a16="http://schemas.microsoft.com/office/drawing/2014/main" xmlns="" val="10006"/>
                  </a:ext>
                </a:extLst>
              </a:tr>
              <a:tr h="356885">
                <a:tc>
                  <a:txBody>
                    <a:bodyPr/>
                    <a:lstStyle/>
                    <a:p>
                      <a:pPr marL="342900" indent="-342900" algn="ctr">
                        <a:lnSpc>
                          <a:spcPct val="100000"/>
                        </a:lnSpc>
                        <a:buFont typeface="+mj-lt"/>
                        <a:buNone/>
                      </a:pPr>
                      <a:r>
                        <a:rPr lang="en-US" sz="1600" b="0" dirty="0">
                          <a:latin typeface="+mn-lt"/>
                        </a:rPr>
                        <a:t>7</a:t>
                      </a:r>
                      <a:endParaRPr lang="en-US" sz="1600" b="0" i="0" dirty="0">
                        <a:latin typeface="+mn-lt"/>
                      </a:endParaRPr>
                    </a:p>
                  </a:txBody>
                  <a:tcPr/>
                </a:tc>
                <a:tc>
                  <a:txBody>
                    <a:bodyPr/>
                    <a:lstStyle/>
                    <a:p>
                      <a:pPr marL="342900" indent="-342900" algn="l">
                        <a:lnSpc>
                          <a:spcPct val="100000"/>
                        </a:lnSpc>
                        <a:buFont typeface="+mj-lt"/>
                        <a:buNone/>
                      </a:pPr>
                      <a:r>
                        <a:rPr lang="en-US" sz="1600" b="0" i="0" u="none" dirty="0" smtClean="0">
                          <a:latin typeface="+mn-lt"/>
                        </a:rPr>
                        <a:t>HMC</a:t>
                      </a:r>
                      <a:endParaRPr lang="en-US" sz="1600" b="0" i="0" dirty="0">
                        <a:latin typeface="+mn-lt"/>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With ATC</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3000x2000x800 </a:t>
                      </a:r>
                      <a:endParaRPr kumimoji="0" lang="en-US" sz="1600" b="0" i="0" u="none" kern="1200" dirty="0">
                        <a:solidFill>
                          <a:schemeClr val="dk1"/>
                        </a:solidFill>
                        <a:latin typeface="+mn-lt"/>
                        <a:ea typeface="+mn-ea"/>
                        <a:cs typeface="Times New Roman" pitchFamily="18" charset="0"/>
                      </a:endParaRPr>
                    </a:p>
                  </a:txBody>
                  <a:tcPr/>
                </a:tc>
                <a:tc>
                  <a:txBody>
                    <a:bodyPr/>
                    <a:lstStyle/>
                    <a:p>
                      <a:pPr marL="342900" indent="-342900" algn="l" rtl="0" eaLnBrk="1" latinLnBrk="0" hangingPunct="1">
                        <a:lnSpc>
                          <a:spcPct val="100000"/>
                        </a:lnSpc>
                        <a:buFont typeface="+mj-lt"/>
                        <a:buNone/>
                      </a:pPr>
                      <a:r>
                        <a:rPr kumimoji="0" lang="en-US" sz="1600" b="0" u="none" kern="1200" dirty="0" smtClean="0">
                          <a:solidFill>
                            <a:schemeClr val="dk1"/>
                          </a:solidFill>
                          <a:latin typeface="+mn-lt"/>
                        </a:rPr>
                        <a:t>Dec-2026</a:t>
                      </a:r>
                      <a:endParaRPr kumimoji="0" lang="en-US" sz="1600" b="0" i="0" u="none" kern="1200" dirty="0">
                        <a:solidFill>
                          <a:schemeClr val="dk1"/>
                        </a:solidFill>
                        <a:latin typeface="+mn-lt"/>
                        <a:ea typeface="+mn-ea"/>
                        <a:cs typeface="Times New Roman" pitchFamily="18" charset="0"/>
                      </a:endParaRPr>
                    </a:p>
                  </a:txBody>
                  <a:tcPr/>
                </a:tc>
                <a:extLst>
                  <a:ext uri="{0D108BD9-81ED-4DB2-BD59-A6C34878D82A}">
                    <a16:rowId xmlns:a16="http://schemas.microsoft.com/office/drawing/2014/main" xmlns="" val="10011"/>
                  </a:ext>
                </a:extLst>
              </a:tr>
              <a:tr h="356885">
                <a:tc>
                  <a:txBody>
                    <a:bodyPr/>
                    <a:lstStyle/>
                    <a:p>
                      <a:pPr marL="342900" indent="-342900" algn="ctr">
                        <a:lnSpc>
                          <a:spcPct val="100000"/>
                        </a:lnSpc>
                        <a:buFont typeface="+mj-lt"/>
                        <a:buNone/>
                      </a:pPr>
                      <a:r>
                        <a:rPr lang="en-US" sz="1600" b="0" dirty="0">
                          <a:latin typeface="+mn-lt"/>
                        </a:rPr>
                        <a:t>8</a:t>
                      </a:r>
                      <a:endParaRPr lang="en-US" sz="1600" b="0" i="0" dirty="0">
                        <a:latin typeface="+mn-lt"/>
                      </a:endParaRPr>
                    </a:p>
                  </a:txBody>
                  <a:tcPr/>
                </a:tc>
                <a:tc>
                  <a:txBody>
                    <a:bodyPr/>
                    <a:lstStyle/>
                    <a:p>
                      <a:pPr marL="342900" indent="-342900" algn="l">
                        <a:lnSpc>
                          <a:spcPct val="100000"/>
                        </a:lnSpc>
                        <a:buFont typeface="+mj-lt"/>
                        <a:buNone/>
                      </a:pPr>
                      <a:r>
                        <a:rPr lang="en-US" sz="1600" b="0" u="none" dirty="0" smtClean="0">
                          <a:latin typeface="+mn-lt"/>
                        </a:rPr>
                        <a:t>Laser Cut</a:t>
                      </a:r>
                      <a:endParaRPr lang="en-US" sz="1600" b="0" i="0" dirty="0">
                        <a:latin typeface="+mn-lt"/>
                      </a:endParaRPr>
                    </a:p>
                  </a:txBody>
                  <a:tcPr/>
                </a:tc>
                <a:tc>
                  <a:txBody>
                    <a:bodyPr/>
                    <a:lstStyle/>
                    <a:p>
                      <a:pPr marL="342900" indent="-342900" algn="l">
                        <a:lnSpc>
                          <a:spcPct val="100000"/>
                        </a:lnSpc>
                        <a:buFont typeface="+mj-lt"/>
                        <a:buNone/>
                      </a:pPr>
                      <a:r>
                        <a:rPr lang="en-US" sz="1600" b="0" u="none" dirty="0" smtClean="0">
                          <a:latin typeface="+mn-lt"/>
                        </a:rPr>
                        <a:t>HSG 4kw/6 kw</a:t>
                      </a:r>
                      <a:endParaRPr lang="en-US" sz="1600" b="0" i="0" dirty="0">
                        <a:latin typeface="+mn-lt"/>
                      </a:endParaRPr>
                    </a:p>
                  </a:txBody>
                  <a:tcPr/>
                </a:tc>
                <a:tc>
                  <a:txBody>
                    <a:bodyPr/>
                    <a:lstStyle/>
                    <a:p>
                      <a:pPr marL="342900" indent="-342900" algn="l">
                        <a:lnSpc>
                          <a:spcPct val="100000"/>
                        </a:lnSpc>
                        <a:buFont typeface="+mj-lt"/>
                        <a:buNone/>
                      </a:pPr>
                      <a:r>
                        <a:rPr lang="en-US" sz="1600" b="0" i="0" u="none" dirty="0" smtClean="0">
                          <a:latin typeface="+mn-lt"/>
                        </a:rPr>
                        <a:t>2500x6500</a:t>
                      </a:r>
                      <a:r>
                        <a:rPr lang="en-US" sz="1600" b="0" i="0" u="none" baseline="0" dirty="0" smtClean="0">
                          <a:latin typeface="+mn-lt"/>
                        </a:rPr>
                        <a:t> dual Pallet</a:t>
                      </a:r>
                      <a:endParaRPr lang="en-US" sz="1600" b="0" i="0" dirty="0">
                        <a:latin typeface="+mn-lt"/>
                      </a:endParaRPr>
                    </a:p>
                  </a:txBody>
                  <a:tcPr/>
                </a:tc>
                <a:tc>
                  <a:txBody>
                    <a:bodyPr/>
                    <a:lstStyle/>
                    <a:p>
                      <a:pPr marL="342900" indent="-342900" algn="l">
                        <a:lnSpc>
                          <a:spcPct val="100000"/>
                        </a:lnSpc>
                        <a:buFont typeface="+mj-lt"/>
                        <a:buNone/>
                      </a:pPr>
                      <a:r>
                        <a:rPr lang="en-US" sz="1600" b="0" i="0" u="none" dirty="0" smtClean="0">
                          <a:latin typeface="+mn-lt"/>
                        </a:rPr>
                        <a:t>July -2026</a:t>
                      </a:r>
                      <a:endParaRPr lang="en-US" sz="1600" b="0" i="0" dirty="0">
                        <a:latin typeface="+mn-lt"/>
                      </a:endParaRPr>
                    </a:p>
                  </a:txBody>
                  <a:tcPr/>
                </a:tc>
                <a:extLst>
                  <a:ext uri="{0D108BD9-81ED-4DB2-BD59-A6C34878D82A}">
                    <a16:rowId xmlns:a16="http://schemas.microsoft.com/office/drawing/2014/main" xmlns="" val="10012"/>
                  </a:ext>
                </a:extLst>
              </a:tr>
            </a:tbl>
          </a:graphicData>
        </a:graphic>
      </p:graphicFrame>
      <p:sp>
        <p:nvSpPr>
          <p:cNvPr id="16" name="TextBox 15"/>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20" name="Picture 19"/>
          <p:cNvPicPr>
            <a:picLocks noChangeAspect="1"/>
          </p:cNvPicPr>
          <p:nvPr/>
        </p:nvPicPr>
        <p:blipFill rotWithShape="1">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2" name="Picture 11"/>
          <p:cNvPicPr>
            <a:picLocks noChangeAspect="1"/>
          </p:cNvPicPr>
          <p:nvPr/>
        </p:nvPicPr>
        <p:blipFill rotWithShape="1">
          <a:blip r:embed="rId7">
            <a:extLst>
              <a:ext uri="{28A0092B-C50C-407E-A947-70E740481C1C}">
                <a14:useLocalDpi xmlns:a14="http://schemas.microsoft.com/office/drawing/2010/main" val="0"/>
              </a:ext>
            </a:extLst>
          </a:blip>
          <a:srcRect l="17091" t="13530" r="17243" b="21140"/>
          <a:stretch/>
        </p:blipFill>
        <p:spPr>
          <a:xfrm>
            <a:off x="218795" y="5645336"/>
            <a:ext cx="905726" cy="972000"/>
          </a:xfrm>
          <a:prstGeom prst="rect">
            <a:avLst/>
          </a:prstGeom>
        </p:spPr>
      </p:pic>
      <p:pic>
        <p:nvPicPr>
          <p:cNvPr id="1026" name="Picture 2" descr="Doosan DBD 1270 Duplex NC Boring Machines"/>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56115" y="4296203"/>
            <a:ext cx="1837554" cy="11800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लेजर काटना मशीन HSG LASER GX Sheet Metal Laser cutting machine  Machineseeker पर ऑफ़र"/>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b="22518"/>
          <a:stretch/>
        </p:blipFill>
        <p:spPr bwMode="auto">
          <a:xfrm>
            <a:off x="2583752" y="5257800"/>
            <a:ext cx="1736725" cy="134564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DH WC67E Press Brake Machine at ₹ 1650000 | Brake Machine in Bengaluru |  ID: 2237870947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865604" y="4228319"/>
            <a:ext cx="1600240" cy="160024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late Rolls - Plate Rolling Machines - DAVI"/>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78076" y="4070026"/>
            <a:ext cx="2235924" cy="157531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ce Micromatic LT 40 M CNC Turn Mill Machine, Length: 2200 mm at best price  in Bengaluru"/>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620976" y="5532120"/>
            <a:ext cx="1543762" cy="1120845"/>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orizontal Floor Type Boring And Milling Machine HBM Series - You Ji Machin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563089" y="4386613"/>
            <a:ext cx="2091026" cy="1394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9149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179673" y="105167"/>
            <a:ext cx="9291839"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Future Planned Extended Facility Plant Location</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15" name="Picture 14"/>
          <p:cNvPicPr>
            <a:picLocks noChangeAspect="1"/>
          </p:cNvPicPr>
          <p:nvPr/>
        </p:nvPicPr>
        <p:blipFill>
          <a:blip r:embed="rId3"/>
          <a:stretch>
            <a:fillRect/>
          </a:stretch>
        </p:blipFill>
        <p:spPr>
          <a:xfrm>
            <a:off x="0" y="3666836"/>
            <a:ext cx="2160005" cy="3191163"/>
          </a:xfrm>
          <a:prstGeom prst="rect">
            <a:avLst/>
          </a:prstGeom>
        </p:spPr>
      </p:pic>
      <p:pic>
        <p:nvPicPr>
          <p:cNvPr id="9" name="Picture 8"/>
          <p:cNvPicPr>
            <a:picLocks noChangeAspect="1"/>
          </p:cNvPicPr>
          <p:nvPr/>
        </p:nvPicPr>
        <p:blipFill>
          <a:blip r:embed="rId4"/>
          <a:stretch>
            <a:fillRect/>
          </a:stretch>
        </p:blipFill>
        <p:spPr>
          <a:xfrm>
            <a:off x="11298407" y="0"/>
            <a:ext cx="638264" cy="6858957"/>
          </a:xfrm>
          <a:prstGeom prst="rect">
            <a:avLst/>
          </a:prstGeom>
        </p:spPr>
      </p:pic>
      <p:sp>
        <p:nvSpPr>
          <p:cNvPr id="5" name="Rectangle 5"/>
          <p:cNvSpPr>
            <a:spLocks noChangeArrowheads="1"/>
          </p:cNvSpPr>
          <p:nvPr/>
        </p:nvSpPr>
        <p:spPr bwMode="auto">
          <a:xfrm>
            <a:off x="7223443" y="42283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6" name="TextBox 15"/>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20" name="Picture 19"/>
          <p:cNvPicPr>
            <a:picLocks noChangeAspect="1"/>
          </p:cNvPicPr>
          <p:nvPr/>
        </p:nvPicPr>
        <p:blipFill rotWithShape="1">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2" name="Picture 11"/>
          <p:cNvPicPr>
            <a:picLocks noChangeAspect="1"/>
          </p:cNvPicPr>
          <p:nvPr/>
        </p:nvPicPr>
        <p:blipFill rotWithShape="1">
          <a:blip r:embed="rId7">
            <a:extLst>
              <a:ext uri="{28A0092B-C50C-407E-A947-70E740481C1C}">
                <a14:useLocalDpi xmlns:a14="http://schemas.microsoft.com/office/drawing/2010/main" val="0"/>
              </a:ext>
            </a:extLst>
          </a:blip>
          <a:srcRect l="17091" t="13530" r="17243" b="21140"/>
          <a:stretch/>
        </p:blipFill>
        <p:spPr>
          <a:xfrm>
            <a:off x="218795" y="5645336"/>
            <a:ext cx="905726" cy="972000"/>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891367356"/>
              </p:ext>
            </p:extLst>
          </p:nvPr>
        </p:nvGraphicFramePr>
        <p:xfrm>
          <a:off x="1026983" y="950326"/>
          <a:ext cx="8290558" cy="1852292"/>
        </p:xfrm>
        <a:graphic>
          <a:graphicData uri="http://schemas.openxmlformats.org/drawingml/2006/table">
            <a:tbl>
              <a:tblPr firstRow="1" bandRow="1">
                <a:tableStyleId>{5C22544A-7EE6-4342-B048-85BDC9FD1C3A}</a:tableStyleId>
              </a:tblPr>
              <a:tblGrid>
                <a:gridCol w="1865987"/>
                <a:gridCol w="6424571"/>
              </a:tblGrid>
              <a:tr h="463073">
                <a:tc>
                  <a:txBody>
                    <a:bodyPr/>
                    <a:lstStyle/>
                    <a:p>
                      <a:pPr marL="0" algn="l" defTabSz="914400" rtl="0" eaLnBrk="1" latinLnBrk="0" hangingPunct="1"/>
                      <a:r>
                        <a:rPr lang="en-US" sz="1800" b="0" kern="1200" dirty="0" smtClean="0">
                          <a:solidFill>
                            <a:schemeClr val="dk1"/>
                          </a:solidFill>
                          <a:latin typeface="+mn-lt"/>
                          <a:ea typeface="+mn-ea"/>
                          <a:cs typeface="+mn-cs"/>
                        </a:rPr>
                        <a:t>Plant Name - </a:t>
                      </a:r>
                      <a:endParaRPr lang="en-IN" sz="1800" b="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smtClean="0">
                          <a:solidFill>
                            <a:schemeClr val="tx1"/>
                          </a:solidFill>
                          <a:effectLst/>
                          <a:latin typeface="Tw Cen MT (Body)"/>
                          <a:ea typeface="+mn-ea"/>
                          <a:cs typeface="+mn-cs"/>
                        </a:rPr>
                        <a:t>Awani Earthmoving Components</a:t>
                      </a:r>
                    </a:p>
                  </a:txBody>
                  <a:tcPr/>
                </a:tc>
              </a:tr>
              <a:tr h="463073">
                <a:tc>
                  <a:txBody>
                    <a:bodyPr/>
                    <a:lstStyle/>
                    <a:p>
                      <a:r>
                        <a:rPr lang="en-US" dirty="0" smtClean="0"/>
                        <a:t>Plant Address</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smtClean="0">
                          <a:solidFill>
                            <a:schemeClr val="tx1"/>
                          </a:solidFill>
                          <a:effectLst/>
                          <a:latin typeface="Tw Cen MT (Body)"/>
                          <a:ea typeface="+mn-ea"/>
                          <a:cs typeface="+mn-cs"/>
                        </a:rPr>
                        <a:t>Plot No.PAP-D-11, Talegaon MIDC, Ph. -2,Mawal Pune.</a:t>
                      </a:r>
                    </a:p>
                  </a:txBody>
                  <a:tcPr/>
                </a:tc>
              </a:tr>
              <a:tr h="463073">
                <a:tc>
                  <a:txBody>
                    <a:bodyPr/>
                    <a:lstStyle/>
                    <a:p>
                      <a:r>
                        <a:rPr lang="en-US" dirty="0" smtClean="0"/>
                        <a:t>Total Area</a:t>
                      </a:r>
                      <a:endParaRPr lang="en-IN" dirty="0"/>
                    </a:p>
                  </a:txBody>
                  <a:tcPr/>
                </a:tc>
                <a:tc>
                  <a:txBody>
                    <a:bodyPr/>
                    <a:lstStyle/>
                    <a:p>
                      <a:r>
                        <a:rPr lang="en-US" dirty="0" smtClean="0"/>
                        <a:t>23000 Sq./Ft</a:t>
                      </a:r>
                      <a:endParaRPr lang="en-IN" dirty="0"/>
                    </a:p>
                  </a:txBody>
                  <a:tcPr/>
                </a:tc>
              </a:tr>
              <a:tr h="463073">
                <a:tc>
                  <a:txBody>
                    <a:bodyPr/>
                    <a:lstStyle/>
                    <a:p>
                      <a:r>
                        <a:rPr lang="en-US" dirty="0" smtClean="0"/>
                        <a:t>Built up Area</a:t>
                      </a:r>
                      <a:endParaRPr lang="en-IN" dirty="0"/>
                    </a:p>
                  </a:txBody>
                  <a:tcPr/>
                </a:tc>
                <a:tc>
                  <a:txBody>
                    <a:bodyPr/>
                    <a:lstStyle/>
                    <a:p>
                      <a:r>
                        <a:rPr lang="en-US" dirty="0" smtClean="0"/>
                        <a:t>17000 Sq./Ft</a:t>
                      </a:r>
                      <a:endParaRPr lang="en-IN" dirty="0"/>
                    </a:p>
                  </a:txBody>
                  <a:tcPr/>
                </a:tc>
              </a:tr>
            </a:tbl>
          </a:graphicData>
        </a:graphic>
      </p:graphicFrame>
      <p:pic>
        <p:nvPicPr>
          <p:cNvPr id="3" name="Picture 2"/>
          <p:cNvPicPr>
            <a:picLocks noChangeAspect="1"/>
          </p:cNvPicPr>
          <p:nvPr/>
        </p:nvPicPr>
        <p:blipFill rotWithShape="1">
          <a:blip r:embed="rId8" cstate="print">
            <a:extLst>
              <a:ext uri="{28A0092B-C50C-407E-A947-70E740481C1C}">
                <a14:useLocalDpi xmlns:a14="http://schemas.microsoft.com/office/drawing/2010/main" val="0"/>
              </a:ext>
            </a:extLst>
          </a:blip>
          <a:srcRect b="21782"/>
          <a:stretch/>
        </p:blipFill>
        <p:spPr>
          <a:xfrm>
            <a:off x="2974354" y="4080130"/>
            <a:ext cx="3706241" cy="2357246"/>
          </a:xfrm>
          <a:prstGeom prst="rect">
            <a:avLst/>
          </a:prstGeom>
          <a:ln w="19050">
            <a:solidFill>
              <a:schemeClr val="tx1">
                <a:lumMod val="95000"/>
                <a:lumOff val="5000"/>
              </a:schemeClr>
            </a:solidFill>
          </a:ln>
        </p:spPr>
      </p:pic>
      <p:pic>
        <p:nvPicPr>
          <p:cNvPr id="6" name="Picture 5"/>
          <p:cNvPicPr>
            <a:picLocks noChangeAspect="1"/>
          </p:cNvPicPr>
          <p:nvPr/>
        </p:nvPicPr>
        <p:blipFill rotWithShape="1">
          <a:blip r:embed="rId9" cstate="print">
            <a:extLst>
              <a:ext uri="{28A0092B-C50C-407E-A947-70E740481C1C}">
                <a14:useLocalDpi xmlns:a14="http://schemas.microsoft.com/office/drawing/2010/main" val="0"/>
              </a:ext>
            </a:extLst>
          </a:blip>
          <a:srcRect b="27139"/>
          <a:stretch/>
        </p:blipFill>
        <p:spPr>
          <a:xfrm>
            <a:off x="6991082" y="4080129"/>
            <a:ext cx="3706241" cy="2357247"/>
          </a:xfrm>
          <a:prstGeom prst="rect">
            <a:avLst/>
          </a:prstGeom>
          <a:ln w="19050">
            <a:solidFill>
              <a:schemeClr val="tx1">
                <a:lumMod val="95000"/>
                <a:lumOff val="5000"/>
              </a:schemeClr>
            </a:solidFill>
          </a:ln>
        </p:spPr>
      </p:pic>
      <p:sp>
        <p:nvSpPr>
          <p:cNvPr id="17" name="TextBox 16"/>
          <p:cNvSpPr txBox="1"/>
          <p:nvPr/>
        </p:nvSpPr>
        <p:spPr>
          <a:xfrm>
            <a:off x="5495353" y="3184728"/>
            <a:ext cx="2715039"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Plant  Photos</a:t>
            </a:r>
            <a:endParaRPr lang="en-IN" sz="3600" b="1" dirty="0">
              <a:ln/>
              <a:solidFill>
                <a:schemeClr val="accent3"/>
              </a:solidFill>
            </a:endParaRPr>
          </a:p>
        </p:txBody>
      </p:sp>
    </p:spTree>
    <p:extLst>
      <p:ext uri="{BB962C8B-B14F-4D97-AF65-F5344CB8AC3E}">
        <p14:creationId xmlns:p14="http://schemas.microsoft.com/office/powerpoint/2010/main" val="40641458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179673" y="105167"/>
            <a:ext cx="3816622"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Employee Strength</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9" name="Picture 8"/>
          <p:cNvPicPr>
            <a:picLocks noChangeAspect="1"/>
          </p:cNvPicPr>
          <p:nvPr/>
        </p:nvPicPr>
        <p:blipFill>
          <a:blip r:embed="rId3"/>
          <a:stretch>
            <a:fillRect/>
          </a:stretch>
        </p:blipFill>
        <p:spPr>
          <a:xfrm>
            <a:off x="11298407" y="0"/>
            <a:ext cx="638264" cy="6858957"/>
          </a:xfrm>
          <a:prstGeom prst="rect">
            <a:avLst/>
          </a:prstGeom>
        </p:spPr>
      </p:pic>
      <p:sp>
        <p:nvSpPr>
          <p:cNvPr id="10" name="Right Triangle 9"/>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p:cNvPicPr>
            <a:picLocks noChangeAspect="1"/>
          </p:cNvPicPr>
          <p:nvPr/>
        </p:nvPicPr>
        <p:blipFill>
          <a:blip r:embed="rId4"/>
          <a:stretch>
            <a:fillRect/>
          </a:stretch>
        </p:blipFill>
        <p:spPr>
          <a:xfrm>
            <a:off x="0" y="3666836"/>
            <a:ext cx="2160005" cy="3191163"/>
          </a:xfrm>
          <a:prstGeom prst="rect">
            <a:avLst/>
          </a:prstGeom>
        </p:spPr>
      </p:pic>
      <p:graphicFrame>
        <p:nvGraphicFramePr>
          <p:cNvPr id="14" name="Table 13">
            <a:extLst>
              <a:ext uri="{FF2B5EF4-FFF2-40B4-BE49-F238E27FC236}">
                <a16:creationId xmlns:a16="http://schemas.microsoft.com/office/drawing/2014/main" xmlns="" id="{DFA4BD45-BE26-F894-7E24-8EB66636744F}"/>
              </a:ext>
            </a:extLst>
          </p:cNvPr>
          <p:cNvGraphicFramePr>
            <a:graphicFrameLocks noGrp="1"/>
          </p:cNvGraphicFramePr>
          <p:nvPr>
            <p:extLst>
              <p:ext uri="{D42A27DB-BD31-4B8C-83A1-F6EECF244321}">
                <p14:modId xmlns:p14="http://schemas.microsoft.com/office/powerpoint/2010/main" val="3845539891"/>
              </p:ext>
            </p:extLst>
          </p:nvPr>
        </p:nvGraphicFramePr>
        <p:xfrm>
          <a:off x="1366926" y="1071997"/>
          <a:ext cx="5897855" cy="2592194"/>
        </p:xfrm>
        <a:graphic>
          <a:graphicData uri="http://schemas.openxmlformats.org/drawingml/2006/table">
            <a:tbl>
              <a:tblPr firstRow="1" bandRow="1">
                <a:tableStyleId>{5C22544A-7EE6-4342-B048-85BDC9FD1C3A}</a:tableStyleId>
              </a:tblPr>
              <a:tblGrid>
                <a:gridCol w="1055907">
                  <a:extLst>
                    <a:ext uri="{9D8B030D-6E8A-4147-A177-3AD203B41FA5}">
                      <a16:colId xmlns:a16="http://schemas.microsoft.com/office/drawing/2014/main" xmlns="" val="1823977562"/>
                    </a:ext>
                  </a:extLst>
                </a:gridCol>
                <a:gridCol w="3637010">
                  <a:extLst>
                    <a:ext uri="{9D8B030D-6E8A-4147-A177-3AD203B41FA5}">
                      <a16:colId xmlns:a16="http://schemas.microsoft.com/office/drawing/2014/main" xmlns="" val="2409840278"/>
                    </a:ext>
                  </a:extLst>
                </a:gridCol>
                <a:gridCol w="1204938">
                  <a:extLst>
                    <a:ext uri="{9D8B030D-6E8A-4147-A177-3AD203B41FA5}">
                      <a16:colId xmlns:a16="http://schemas.microsoft.com/office/drawing/2014/main" xmlns="" val="1202029550"/>
                    </a:ext>
                  </a:extLst>
                </a:gridCol>
              </a:tblGrid>
              <a:tr h="469554">
                <a:tc>
                  <a:txBody>
                    <a:bodyPr/>
                    <a:lstStyle/>
                    <a:p>
                      <a:r>
                        <a:rPr lang="en-US" sz="1400" dirty="0">
                          <a:latin typeface="+mj-lt"/>
                        </a:rPr>
                        <a:t>  Sr No</a:t>
                      </a:r>
                      <a:endParaRPr lang="en-IN" sz="1400" dirty="0">
                        <a:latin typeface="+mj-lt"/>
                      </a:endParaRPr>
                    </a:p>
                  </a:txBody>
                  <a:tcPr/>
                </a:tc>
                <a:tc>
                  <a:txBody>
                    <a:bodyPr/>
                    <a:lstStyle/>
                    <a:p>
                      <a:pPr algn="ctr"/>
                      <a:r>
                        <a:rPr lang="en-US" sz="1400" dirty="0">
                          <a:latin typeface="+mj-lt"/>
                        </a:rPr>
                        <a:t>  Description ( Technical Staff )</a:t>
                      </a:r>
                      <a:endParaRPr lang="en-IN" sz="1400" dirty="0">
                        <a:latin typeface="+mj-lt"/>
                      </a:endParaRPr>
                    </a:p>
                  </a:txBody>
                  <a:tcPr/>
                </a:tc>
                <a:tc>
                  <a:txBody>
                    <a:bodyPr/>
                    <a:lstStyle/>
                    <a:p>
                      <a:pPr algn="just"/>
                      <a:r>
                        <a:rPr lang="en-US" sz="1400" dirty="0">
                          <a:latin typeface="+mj-lt"/>
                        </a:rPr>
                        <a:t>      Nos</a:t>
                      </a:r>
                      <a:endParaRPr lang="en-IN" sz="1400" dirty="0">
                        <a:latin typeface="+mj-lt"/>
                      </a:endParaRPr>
                    </a:p>
                  </a:txBody>
                  <a:tcPr/>
                </a:tc>
                <a:extLst>
                  <a:ext uri="{0D108BD9-81ED-4DB2-BD59-A6C34878D82A}">
                    <a16:rowId xmlns:a16="http://schemas.microsoft.com/office/drawing/2014/main" xmlns="" val="3442893371"/>
                  </a:ext>
                </a:extLst>
              </a:tr>
              <a:tr h="347341">
                <a:tc>
                  <a:txBody>
                    <a:bodyPr/>
                    <a:lstStyle/>
                    <a:p>
                      <a:pPr algn="ctr"/>
                      <a:r>
                        <a:rPr lang="en-US" sz="1400" b="1" dirty="0">
                          <a:latin typeface="+mj-lt"/>
                        </a:rPr>
                        <a:t>1</a:t>
                      </a:r>
                      <a:endParaRPr lang="en-IN" sz="1400" b="1" dirty="0">
                        <a:latin typeface="+mj-lt"/>
                      </a:endParaRPr>
                    </a:p>
                  </a:txBody>
                  <a:tcPr/>
                </a:tc>
                <a:tc>
                  <a:txBody>
                    <a:bodyPr/>
                    <a:lstStyle/>
                    <a:p>
                      <a:r>
                        <a:rPr lang="en-US" sz="1400" b="1" dirty="0">
                          <a:latin typeface="+mj-lt"/>
                        </a:rPr>
                        <a:t>Plant Head</a:t>
                      </a:r>
                      <a:endParaRPr lang="en-IN" sz="1400" b="1" dirty="0">
                        <a:latin typeface="+mj-lt"/>
                      </a:endParaRPr>
                    </a:p>
                  </a:txBody>
                  <a:tcPr/>
                </a:tc>
                <a:tc>
                  <a:txBody>
                    <a:bodyPr/>
                    <a:lstStyle/>
                    <a:p>
                      <a:pPr algn="l"/>
                      <a:r>
                        <a:rPr lang="en-US" sz="1400" b="1" dirty="0">
                          <a:latin typeface="+mj-lt"/>
                        </a:rPr>
                        <a:t>        1</a:t>
                      </a:r>
                      <a:endParaRPr lang="en-IN" sz="1400" b="1" dirty="0">
                        <a:latin typeface="+mj-lt"/>
                      </a:endParaRPr>
                    </a:p>
                  </a:txBody>
                  <a:tcPr/>
                </a:tc>
                <a:extLst>
                  <a:ext uri="{0D108BD9-81ED-4DB2-BD59-A6C34878D82A}">
                    <a16:rowId xmlns:a16="http://schemas.microsoft.com/office/drawing/2014/main" xmlns="" val="675000309"/>
                  </a:ext>
                </a:extLst>
              </a:tr>
              <a:tr h="347341">
                <a:tc>
                  <a:txBody>
                    <a:bodyPr/>
                    <a:lstStyle/>
                    <a:p>
                      <a:pPr algn="ctr"/>
                      <a:r>
                        <a:rPr lang="en-US" sz="1400" b="1" dirty="0">
                          <a:latin typeface="+mj-lt"/>
                        </a:rPr>
                        <a:t>2</a:t>
                      </a:r>
                      <a:endParaRPr lang="en-IN" sz="1400" b="1" dirty="0">
                        <a:latin typeface="+mj-lt"/>
                      </a:endParaRPr>
                    </a:p>
                  </a:txBody>
                  <a:tcPr/>
                </a:tc>
                <a:tc>
                  <a:txBody>
                    <a:bodyPr/>
                    <a:lstStyle/>
                    <a:p>
                      <a:r>
                        <a:rPr lang="en-US" sz="1400" b="1" dirty="0">
                          <a:latin typeface="+mj-lt"/>
                        </a:rPr>
                        <a:t>Production Engineer</a:t>
                      </a:r>
                      <a:endParaRPr lang="en-IN" sz="1400" b="1" dirty="0">
                        <a:latin typeface="+mj-lt"/>
                      </a:endParaRPr>
                    </a:p>
                  </a:txBody>
                  <a:tcPr/>
                </a:tc>
                <a:tc>
                  <a:txBody>
                    <a:bodyPr/>
                    <a:lstStyle/>
                    <a:p>
                      <a:pPr marL="0" indent="0" algn="l" defTabSz="989013"/>
                      <a:r>
                        <a:rPr lang="en-US" sz="1400" b="1" dirty="0">
                          <a:latin typeface="+mj-lt"/>
                        </a:rPr>
                        <a:t>        2</a:t>
                      </a:r>
                      <a:endParaRPr lang="en-IN" sz="1400" b="1" dirty="0">
                        <a:latin typeface="+mj-lt"/>
                      </a:endParaRPr>
                    </a:p>
                  </a:txBody>
                  <a:tcPr/>
                </a:tc>
                <a:extLst>
                  <a:ext uri="{0D108BD9-81ED-4DB2-BD59-A6C34878D82A}">
                    <a16:rowId xmlns:a16="http://schemas.microsoft.com/office/drawing/2014/main" xmlns="" val="3414800548"/>
                  </a:ext>
                </a:extLst>
              </a:tr>
              <a:tr h="347341">
                <a:tc>
                  <a:txBody>
                    <a:bodyPr/>
                    <a:lstStyle/>
                    <a:p>
                      <a:pPr algn="ctr"/>
                      <a:r>
                        <a:rPr lang="en-US" sz="1400" b="1" dirty="0">
                          <a:latin typeface="+mj-lt"/>
                        </a:rPr>
                        <a:t>3</a:t>
                      </a:r>
                      <a:endParaRPr lang="en-IN" sz="1400" b="1" dirty="0">
                        <a:latin typeface="+mj-lt"/>
                      </a:endParaRPr>
                    </a:p>
                  </a:txBody>
                  <a:tcPr/>
                </a:tc>
                <a:tc>
                  <a:txBody>
                    <a:bodyPr/>
                    <a:lstStyle/>
                    <a:p>
                      <a:r>
                        <a:rPr lang="en-US" sz="1400" b="1" dirty="0">
                          <a:latin typeface="+mj-lt"/>
                        </a:rPr>
                        <a:t>Quality Engineer</a:t>
                      </a:r>
                      <a:endParaRPr lang="en-IN" sz="1400" b="1" dirty="0">
                        <a:latin typeface="+mj-lt"/>
                      </a:endParaRPr>
                    </a:p>
                  </a:txBody>
                  <a:tcPr/>
                </a:tc>
                <a:tc>
                  <a:txBody>
                    <a:bodyPr/>
                    <a:lstStyle/>
                    <a:p>
                      <a:pPr algn="l"/>
                      <a:r>
                        <a:rPr lang="en-US" sz="1400" b="1" dirty="0">
                          <a:latin typeface="+mj-lt"/>
                        </a:rPr>
                        <a:t>        </a:t>
                      </a:r>
                      <a:r>
                        <a:rPr lang="en-US" sz="1400" b="1" dirty="0" smtClean="0">
                          <a:latin typeface="+mj-lt"/>
                        </a:rPr>
                        <a:t>2</a:t>
                      </a:r>
                      <a:endParaRPr lang="en-IN" sz="1400" b="1" dirty="0">
                        <a:latin typeface="+mj-lt"/>
                      </a:endParaRPr>
                    </a:p>
                  </a:txBody>
                  <a:tcPr/>
                </a:tc>
                <a:extLst>
                  <a:ext uri="{0D108BD9-81ED-4DB2-BD59-A6C34878D82A}">
                    <a16:rowId xmlns:a16="http://schemas.microsoft.com/office/drawing/2014/main" xmlns="" val="3911704407"/>
                  </a:ext>
                </a:extLst>
              </a:tr>
              <a:tr h="347341">
                <a:tc>
                  <a:txBody>
                    <a:bodyPr/>
                    <a:lstStyle/>
                    <a:p>
                      <a:pPr algn="ctr"/>
                      <a:r>
                        <a:rPr lang="en-US" sz="1400" b="1" dirty="0">
                          <a:latin typeface="+mj-lt"/>
                        </a:rPr>
                        <a:t>4</a:t>
                      </a:r>
                      <a:endParaRPr lang="en-IN" sz="1400" b="1" dirty="0">
                        <a:latin typeface="+mj-lt"/>
                      </a:endParaRPr>
                    </a:p>
                  </a:txBody>
                  <a:tcPr/>
                </a:tc>
                <a:tc>
                  <a:txBody>
                    <a:bodyPr/>
                    <a:lstStyle/>
                    <a:p>
                      <a:r>
                        <a:rPr lang="en-US" sz="1400" b="1" dirty="0">
                          <a:latin typeface="+mj-lt"/>
                        </a:rPr>
                        <a:t>Purchase Engineer</a:t>
                      </a:r>
                      <a:endParaRPr lang="en-IN" sz="1400" b="1" dirty="0">
                        <a:latin typeface="+mj-lt"/>
                      </a:endParaRPr>
                    </a:p>
                  </a:txBody>
                  <a:tcPr/>
                </a:tc>
                <a:tc>
                  <a:txBody>
                    <a:bodyPr/>
                    <a:lstStyle/>
                    <a:p>
                      <a:pPr algn="l"/>
                      <a:r>
                        <a:rPr lang="en-US" sz="1400" b="1" dirty="0">
                          <a:latin typeface="+mj-lt"/>
                        </a:rPr>
                        <a:t>        1</a:t>
                      </a:r>
                      <a:endParaRPr lang="en-IN" sz="1400" b="1" dirty="0">
                        <a:latin typeface="+mj-lt"/>
                      </a:endParaRPr>
                    </a:p>
                  </a:txBody>
                  <a:tcPr/>
                </a:tc>
                <a:extLst>
                  <a:ext uri="{0D108BD9-81ED-4DB2-BD59-A6C34878D82A}">
                    <a16:rowId xmlns:a16="http://schemas.microsoft.com/office/drawing/2014/main" xmlns="" val="4031312350"/>
                  </a:ext>
                </a:extLst>
              </a:tr>
              <a:tr h="366638">
                <a:tc>
                  <a:txBody>
                    <a:bodyPr/>
                    <a:lstStyle/>
                    <a:p>
                      <a:pPr algn="ctr"/>
                      <a:r>
                        <a:rPr lang="en-US" sz="1400" b="1" dirty="0">
                          <a:latin typeface="+mj-lt"/>
                        </a:rPr>
                        <a:t>5</a:t>
                      </a:r>
                      <a:endParaRPr lang="en-IN" sz="1400" b="1" dirty="0">
                        <a:latin typeface="+mj-lt"/>
                      </a:endParaRPr>
                    </a:p>
                  </a:txBody>
                  <a:tcPr/>
                </a:tc>
                <a:tc>
                  <a:txBody>
                    <a:bodyPr/>
                    <a:lstStyle/>
                    <a:p>
                      <a:r>
                        <a:rPr lang="en-US" sz="1400" b="1" dirty="0">
                          <a:latin typeface="+mj-lt"/>
                        </a:rPr>
                        <a:t>Account Executive</a:t>
                      </a:r>
                      <a:endParaRPr lang="en-IN" sz="1400" b="1" dirty="0">
                        <a:latin typeface="+mj-lt"/>
                      </a:endParaRPr>
                    </a:p>
                  </a:txBody>
                  <a:tcPr/>
                </a:tc>
                <a:tc>
                  <a:txBody>
                    <a:bodyPr/>
                    <a:lstStyle/>
                    <a:p>
                      <a:pPr algn="l"/>
                      <a:r>
                        <a:rPr lang="en-US" sz="1400" b="1" dirty="0">
                          <a:latin typeface="+mj-lt"/>
                        </a:rPr>
                        <a:t>        1</a:t>
                      </a:r>
                      <a:endParaRPr lang="en-IN" sz="1400" b="1" dirty="0">
                        <a:latin typeface="+mj-lt"/>
                      </a:endParaRPr>
                    </a:p>
                  </a:txBody>
                  <a:tcPr/>
                </a:tc>
                <a:extLst>
                  <a:ext uri="{0D108BD9-81ED-4DB2-BD59-A6C34878D82A}">
                    <a16:rowId xmlns:a16="http://schemas.microsoft.com/office/drawing/2014/main" xmlns="" val="2959380616"/>
                  </a:ext>
                </a:extLst>
              </a:tr>
              <a:tr h="366638">
                <a:tc>
                  <a:txBody>
                    <a:bodyPr/>
                    <a:lstStyle/>
                    <a:p>
                      <a:pPr algn="ctr"/>
                      <a:endParaRPr lang="en-IN" sz="1400" b="1" dirty="0">
                        <a:latin typeface="+mj-lt"/>
                      </a:endParaRPr>
                    </a:p>
                  </a:txBody>
                  <a:tcPr/>
                </a:tc>
                <a:tc>
                  <a:txBody>
                    <a:bodyPr/>
                    <a:lstStyle/>
                    <a:p>
                      <a:pPr algn="ctr"/>
                      <a:r>
                        <a:rPr lang="en-US" sz="1400" b="1" dirty="0" smtClean="0">
                          <a:latin typeface="+mj-lt"/>
                        </a:rPr>
                        <a:t>Total</a:t>
                      </a:r>
                      <a:endParaRPr lang="en-IN" sz="1400" b="1" dirty="0">
                        <a:latin typeface="+mj-lt"/>
                      </a:endParaRPr>
                    </a:p>
                  </a:txBody>
                  <a:tcPr/>
                </a:tc>
                <a:tc>
                  <a:txBody>
                    <a:bodyPr/>
                    <a:lstStyle/>
                    <a:p>
                      <a:pPr algn="l"/>
                      <a:r>
                        <a:rPr lang="en-US" sz="1400" b="1" dirty="0" smtClean="0">
                          <a:latin typeface="+mj-lt"/>
                        </a:rPr>
                        <a:t>7</a:t>
                      </a:r>
                      <a:endParaRPr lang="en-IN" sz="1400" b="1" dirty="0">
                        <a:latin typeface="+mj-lt"/>
                      </a:endParaRPr>
                    </a:p>
                  </a:txBody>
                  <a:tcPr/>
                </a:tc>
              </a:tr>
            </a:tbl>
          </a:graphicData>
        </a:graphic>
      </p:graphicFrame>
      <p:graphicFrame>
        <p:nvGraphicFramePr>
          <p:cNvPr id="15" name="Table 14">
            <a:extLst>
              <a:ext uri="{FF2B5EF4-FFF2-40B4-BE49-F238E27FC236}">
                <a16:creationId xmlns:a16="http://schemas.microsoft.com/office/drawing/2014/main" xmlns="" id="{EF854331-AB49-DE36-A759-B9037F04A55A}"/>
              </a:ext>
            </a:extLst>
          </p:cNvPr>
          <p:cNvGraphicFramePr>
            <a:graphicFrameLocks noGrp="1"/>
          </p:cNvGraphicFramePr>
          <p:nvPr>
            <p:extLst>
              <p:ext uri="{D42A27DB-BD31-4B8C-83A1-F6EECF244321}">
                <p14:modId xmlns:p14="http://schemas.microsoft.com/office/powerpoint/2010/main" val="1626858361"/>
              </p:ext>
            </p:extLst>
          </p:nvPr>
        </p:nvGraphicFramePr>
        <p:xfrm>
          <a:off x="5669142" y="4014631"/>
          <a:ext cx="5556678" cy="2726190"/>
        </p:xfrm>
        <a:graphic>
          <a:graphicData uri="http://schemas.openxmlformats.org/drawingml/2006/table">
            <a:tbl>
              <a:tblPr firstRow="1" bandRow="1">
                <a:tableStyleId>{5C22544A-7EE6-4342-B048-85BDC9FD1C3A}</a:tableStyleId>
              </a:tblPr>
              <a:tblGrid>
                <a:gridCol w="994825">
                  <a:extLst>
                    <a:ext uri="{9D8B030D-6E8A-4147-A177-3AD203B41FA5}">
                      <a16:colId xmlns:a16="http://schemas.microsoft.com/office/drawing/2014/main" xmlns="" val="1823977562"/>
                    </a:ext>
                  </a:extLst>
                </a:gridCol>
                <a:gridCol w="3426618">
                  <a:extLst>
                    <a:ext uri="{9D8B030D-6E8A-4147-A177-3AD203B41FA5}">
                      <a16:colId xmlns:a16="http://schemas.microsoft.com/office/drawing/2014/main" xmlns="" val="2409840278"/>
                    </a:ext>
                  </a:extLst>
                </a:gridCol>
                <a:gridCol w="1135235">
                  <a:extLst>
                    <a:ext uri="{9D8B030D-6E8A-4147-A177-3AD203B41FA5}">
                      <a16:colId xmlns:a16="http://schemas.microsoft.com/office/drawing/2014/main" xmlns="" val="1202029550"/>
                    </a:ext>
                  </a:extLst>
                </a:gridCol>
              </a:tblGrid>
              <a:tr h="435474">
                <a:tc>
                  <a:txBody>
                    <a:bodyPr/>
                    <a:lstStyle/>
                    <a:p>
                      <a:r>
                        <a:rPr lang="en-US" sz="1400" dirty="0">
                          <a:latin typeface="+mn-lt"/>
                        </a:rPr>
                        <a:t>  Sr No</a:t>
                      </a:r>
                      <a:endParaRPr lang="en-IN" sz="1400" dirty="0">
                        <a:latin typeface="+mn-lt"/>
                      </a:endParaRPr>
                    </a:p>
                  </a:txBody>
                  <a:tcPr/>
                </a:tc>
                <a:tc>
                  <a:txBody>
                    <a:bodyPr/>
                    <a:lstStyle/>
                    <a:p>
                      <a:pPr algn="ctr"/>
                      <a:r>
                        <a:rPr lang="en-US" sz="1400" dirty="0">
                          <a:latin typeface="+mn-lt"/>
                        </a:rPr>
                        <a:t>    Description  (Operator)</a:t>
                      </a:r>
                      <a:endParaRPr lang="en-IN" sz="1400" dirty="0">
                        <a:latin typeface="+mn-lt"/>
                      </a:endParaRPr>
                    </a:p>
                  </a:txBody>
                  <a:tcPr/>
                </a:tc>
                <a:tc>
                  <a:txBody>
                    <a:bodyPr/>
                    <a:lstStyle/>
                    <a:p>
                      <a:pPr algn="just"/>
                      <a:r>
                        <a:rPr lang="en-US" sz="1400" dirty="0">
                          <a:latin typeface="+mn-lt"/>
                        </a:rPr>
                        <a:t>      Nos</a:t>
                      </a:r>
                      <a:endParaRPr lang="en-IN" sz="1400" dirty="0">
                        <a:latin typeface="+mn-lt"/>
                      </a:endParaRPr>
                    </a:p>
                  </a:txBody>
                  <a:tcPr/>
                </a:tc>
                <a:extLst>
                  <a:ext uri="{0D108BD9-81ED-4DB2-BD59-A6C34878D82A}">
                    <a16:rowId xmlns:a16="http://schemas.microsoft.com/office/drawing/2014/main" xmlns="" val="3442893371"/>
                  </a:ext>
                </a:extLst>
              </a:tr>
              <a:tr h="322132">
                <a:tc>
                  <a:txBody>
                    <a:bodyPr/>
                    <a:lstStyle/>
                    <a:p>
                      <a:pPr algn="ctr"/>
                      <a:r>
                        <a:rPr lang="en-US" sz="1400" b="1" dirty="0">
                          <a:latin typeface="+mn-lt"/>
                        </a:rPr>
                        <a:t>1</a:t>
                      </a:r>
                      <a:endParaRPr lang="en-IN" sz="1400" b="1" dirty="0">
                        <a:latin typeface="+mn-lt"/>
                      </a:endParaRPr>
                    </a:p>
                  </a:txBody>
                  <a:tcPr/>
                </a:tc>
                <a:tc>
                  <a:txBody>
                    <a:bodyPr/>
                    <a:lstStyle/>
                    <a:p>
                      <a:r>
                        <a:rPr lang="en-US" sz="1400" b="1" dirty="0">
                          <a:latin typeface="+mn-lt"/>
                        </a:rPr>
                        <a:t>CNC Programmer</a:t>
                      </a:r>
                      <a:endParaRPr lang="en-IN" sz="1400" b="1" dirty="0">
                        <a:latin typeface="+mn-lt"/>
                      </a:endParaRPr>
                    </a:p>
                  </a:txBody>
                  <a:tcPr/>
                </a:tc>
                <a:tc>
                  <a:txBody>
                    <a:bodyPr/>
                    <a:lstStyle/>
                    <a:p>
                      <a:pPr algn="l"/>
                      <a:r>
                        <a:rPr lang="en-US" sz="1400" b="1" dirty="0">
                          <a:latin typeface="+mn-lt"/>
                        </a:rPr>
                        <a:t>        2</a:t>
                      </a:r>
                      <a:endParaRPr lang="en-IN" sz="1400" b="1" dirty="0">
                        <a:latin typeface="+mn-lt"/>
                      </a:endParaRPr>
                    </a:p>
                  </a:txBody>
                  <a:tcPr/>
                </a:tc>
                <a:extLst>
                  <a:ext uri="{0D108BD9-81ED-4DB2-BD59-A6C34878D82A}">
                    <a16:rowId xmlns:a16="http://schemas.microsoft.com/office/drawing/2014/main" xmlns="" val="281844478"/>
                  </a:ext>
                </a:extLst>
              </a:tr>
              <a:tr h="322132">
                <a:tc>
                  <a:txBody>
                    <a:bodyPr/>
                    <a:lstStyle/>
                    <a:p>
                      <a:pPr algn="ctr"/>
                      <a:r>
                        <a:rPr lang="en-US" sz="1400" b="1" dirty="0">
                          <a:latin typeface="+mn-lt"/>
                        </a:rPr>
                        <a:t>2</a:t>
                      </a:r>
                      <a:endParaRPr lang="en-IN" sz="1400" b="1" dirty="0">
                        <a:latin typeface="+mn-lt"/>
                      </a:endParaRPr>
                    </a:p>
                  </a:txBody>
                  <a:tcPr/>
                </a:tc>
                <a:tc>
                  <a:txBody>
                    <a:bodyPr/>
                    <a:lstStyle/>
                    <a:p>
                      <a:r>
                        <a:rPr lang="en-US" sz="1400" b="1" dirty="0">
                          <a:latin typeface="+mn-lt"/>
                        </a:rPr>
                        <a:t>CNC Operator</a:t>
                      </a:r>
                      <a:endParaRPr lang="en-IN" sz="1400" b="1" dirty="0">
                        <a:latin typeface="+mn-lt"/>
                      </a:endParaRPr>
                    </a:p>
                  </a:txBody>
                  <a:tcPr/>
                </a:tc>
                <a:tc>
                  <a:txBody>
                    <a:bodyPr/>
                    <a:lstStyle/>
                    <a:p>
                      <a:pPr algn="l"/>
                      <a:r>
                        <a:rPr lang="en-US" sz="1400" b="1" dirty="0">
                          <a:latin typeface="+mn-lt"/>
                        </a:rPr>
                        <a:t>        4</a:t>
                      </a:r>
                      <a:endParaRPr lang="en-IN" sz="1400" b="1" dirty="0">
                        <a:latin typeface="+mn-lt"/>
                      </a:endParaRPr>
                    </a:p>
                  </a:txBody>
                  <a:tcPr/>
                </a:tc>
                <a:extLst>
                  <a:ext uri="{0D108BD9-81ED-4DB2-BD59-A6C34878D82A}">
                    <a16:rowId xmlns:a16="http://schemas.microsoft.com/office/drawing/2014/main" xmlns="" val="675000309"/>
                  </a:ext>
                </a:extLst>
              </a:tr>
              <a:tr h="322132">
                <a:tc>
                  <a:txBody>
                    <a:bodyPr/>
                    <a:lstStyle/>
                    <a:p>
                      <a:pPr algn="ctr"/>
                      <a:r>
                        <a:rPr lang="en-US" sz="1400" b="1" dirty="0">
                          <a:latin typeface="+mn-lt"/>
                        </a:rPr>
                        <a:t>3</a:t>
                      </a:r>
                      <a:endParaRPr lang="en-IN" sz="1400" b="1" dirty="0">
                        <a:latin typeface="+mn-lt"/>
                      </a:endParaRPr>
                    </a:p>
                  </a:txBody>
                  <a:tcPr/>
                </a:tc>
                <a:tc>
                  <a:txBody>
                    <a:bodyPr/>
                    <a:lstStyle/>
                    <a:p>
                      <a:r>
                        <a:rPr lang="en-US" sz="1400" b="1" dirty="0">
                          <a:latin typeface="+mn-lt"/>
                        </a:rPr>
                        <a:t>VMC Operator</a:t>
                      </a:r>
                      <a:endParaRPr lang="en-IN" sz="1400" b="1" dirty="0">
                        <a:latin typeface="+mn-lt"/>
                      </a:endParaRPr>
                    </a:p>
                  </a:txBody>
                  <a:tcPr/>
                </a:tc>
                <a:tc>
                  <a:txBody>
                    <a:bodyPr/>
                    <a:lstStyle/>
                    <a:p>
                      <a:pPr algn="l"/>
                      <a:r>
                        <a:rPr lang="en-US" sz="1400" b="1" dirty="0">
                          <a:latin typeface="+mn-lt"/>
                        </a:rPr>
                        <a:t>        4</a:t>
                      </a:r>
                      <a:endParaRPr lang="en-IN" sz="1400" b="1" dirty="0">
                        <a:latin typeface="+mn-lt"/>
                      </a:endParaRPr>
                    </a:p>
                  </a:txBody>
                  <a:tcPr/>
                </a:tc>
                <a:extLst>
                  <a:ext uri="{0D108BD9-81ED-4DB2-BD59-A6C34878D82A}">
                    <a16:rowId xmlns:a16="http://schemas.microsoft.com/office/drawing/2014/main" xmlns="" val="3414800548"/>
                  </a:ext>
                </a:extLst>
              </a:tr>
              <a:tr h="322132">
                <a:tc>
                  <a:txBody>
                    <a:bodyPr/>
                    <a:lstStyle/>
                    <a:p>
                      <a:pPr algn="ctr"/>
                      <a:r>
                        <a:rPr lang="en-US" sz="1400" b="1" dirty="0">
                          <a:latin typeface="+mn-lt"/>
                        </a:rPr>
                        <a:t>4</a:t>
                      </a:r>
                      <a:endParaRPr lang="en-IN" sz="1400" b="1" dirty="0">
                        <a:latin typeface="+mn-lt"/>
                      </a:endParaRPr>
                    </a:p>
                  </a:txBody>
                  <a:tcPr/>
                </a:tc>
                <a:tc>
                  <a:txBody>
                    <a:bodyPr/>
                    <a:lstStyle/>
                    <a:p>
                      <a:r>
                        <a:rPr lang="en-US" sz="1400" b="1" dirty="0">
                          <a:latin typeface="+mn-lt"/>
                        </a:rPr>
                        <a:t>Drill / Tapping Operator</a:t>
                      </a:r>
                      <a:endParaRPr lang="en-IN" sz="1400" b="1" dirty="0">
                        <a:latin typeface="+mn-lt"/>
                      </a:endParaRPr>
                    </a:p>
                  </a:txBody>
                  <a:tcPr/>
                </a:tc>
                <a:tc>
                  <a:txBody>
                    <a:bodyPr/>
                    <a:lstStyle/>
                    <a:p>
                      <a:pPr algn="l"/>
                      <a:r>
                        <a:rPr lang="en-US" sz="1400" b="1" dirty="0">
                          <a:latin typeface="+mn-lt"/>
                        </a:rPr>
                        <a:t>      </a:t>
                      </a:r>
                      <a:r>
                        <a:rPr lang="en-US" sz="1400" b="1" dirty="0" smtClean="0">
                          <a:latin typeface="+mn-lt"/>
                        </a:rPr>
                        <a:t>  9</a:t>
                      </a:r>
                    </a:p>
                  </a:txBody>
                  <a:tcPr/>
                </a:tc>
                <a:extLst>
                  <a:ext uri="{0D108BD9-81ED-4DB2-BD59-A6C34878D82A}">
                    <a16:rowId xmlns:a16="http://schemas.microsoft.com/office/drawing/2014/main" xmlns="" val="3911704407"/>
                  </a:ext>
                </a:extLst>
              </a:tr>
              <a:tr h="322132">
                <a:tc>
                  <a:txBody>
                    <a:bodyPr/>
                    <a:lstStyle/>
                    <a:p>
                      <a:pPr algn="ctr"/>
                      <a:r>
                        <a:rPr lang="en-US" sz="1400" b="1" dirty="0">
                          <a:latin typeface="+mn-lt"/>
                        </a:rPr>
                        <a:t>5</a:t>
                      </a:r>
                      <a:endParaRPr lang="en-IN" sz="1400" b="1" dirty="0">
                        <a:latin typeface="+mn-lt"/>
                      </a:endParaRPr>
                    </a:p>
                  </a:txBody>
                  <a:tcPr/>
                </a:tc>
                <a:tc>
                  <a:txBody>
                    <a:bodyPr/>
                    <a:lstStyle/>
                    <a:p>
                      <a:r>
                        <a:rPr lang="en-US" sz="1400" b="1" dirty="0">
                          <a:latin typeface="+mn-lt"/>
                        </a:rPr>
                        <a:t>Skill Welder</a:t>
                      </a:r>
                      <a:endParaRPr lang="en-IN" sz="1400" b="1" dirty="0">
                        <a:latin typeface="+mn-lt"/>
                      </a:endParaRPr>
                    </a:p>
                  </a:txBody>
                  <a:tcPr/>
                </a:tc>
                <a:tc>
                  <a:txBody>
                    <a:bodyPr/>
                    <a:lstStyle/>
                    <a:p>
                      <a:pPr algn="l"/>
                      <a:r>
                        <a:rPr lang="en-US" sz="1400" b="1" dirty="0">
                          <a:latin typeface="+mn-lt"/>
                        </a:rPr>
                        <a:t>      </a:t>
                      </a:r>
                      <a:r>
                        <a:rPr lang="en-US" sz="1400" b="1" dirty="0" smtClean="0">
                          <a:latin typeface="+mn-lt"/>
                        </a:rPr>
                        <a:t>  6</a:t>
                      </a:r>
                      <a:endParaRPr lang="en-IN" sz="1400" b="1" dirty="0">
                        <a:latin typeface="+mn-lt"/>
                      </a:endParaRPr>
                    </a:p>
                  </a:txBody>
                  <a:tcPr/>
                </a:tc>
                <a:extLst>
                  <a:ext uri="{0D108BD9-81ED-4DB2-BD59-A6C34878D82A}">
                    <a16:rowId xmlns:a16="http://schemas.microsoft.com/office/drawing/2014/main" xmlns="" val="4031312350"/>
                  </a:ext>
                </a:extLst>
              </a:tr>
              <a:tr h="340028">
                <a:tc>
                  <a:txBody>
                    <a:bodyPr/>
                    <a:lstStyle/>
                    <a:p>
                      <a:pPr algn="ctr"/>
                      <a:r>
                        <a:rPr lang="en-US" sz="1400" b="1" dirty="0">
                          <a:latin typeface="+mn-lt"/>
                        </a:rPr>
                        <a:t>6</a:t>
                      </a:r>
                      <a:endParaRPr lang="en-IN" sz="1400" b="1" dirty="0">
                        <a:latin typeface="+mn-lt"/>
                      </a:endParaRPr>
                    </a:p>
                  </a:txBody>
                  <a:tcPr/>
                </a:tc>
                <a:tc>
                  <a:txBody>
                    <a:bodyPr/>
                    <a:lstStyle/>
                    <a:p>
                      <a:r>
                        <a:rPr lang="en-US" sz="1400" b="1" dirty="0">
                          <a:latin typeface="+mn-lt"/>
                        </a:rPr>
                        <a:t>Helper</a:t>
                      </a:r>
                      <a:endParaRPr lang="en-IN" sz="1400" b="1" dirty="0">
                        <a:latin typeface="+mn-lt"/>
                      </a:endParaRPr>
                    </a:p>
                  </a:txBody>
                  <a:tcPr/>
                </a:tc>
                <a:tc>
                  <a:txBody>
                    <a:bodyPr/>
                    <a:lstStyle/>
                    <a:p>
                      <a:pPr algn="l"/>
                      <a:r>
                        <a:rPr lang="en-US" sz="1400" b="1" dirty="0">
                          <a:latin typeface="+mn-lt"/>
                        </a:rPr>
                        <a:t>       </a:t>
                      </a:r>
                      <a:r>
                        <a:rPr lang="en-US" sz="1400" b="1" dirty="0" smtClean="0">
                          <a:latin typeface="+mn-lt"/>
                        </a:rPr>
                        <a:t>10</a:t>
                      </a:r>
                      <a:endParaRPr lang="en-IN" sz="1400" b="1" dirty="0">
                        <a:latin typeface="+mn-lt"/>
                      </a:endParaRPr>
                    </a:p>
                  </a:txBody>
                  <a:tcPr/>
                </a:tc>
                <a:extLst>
                  <a:ext uri="{0D108BD9-81ED-4DB2-BD59-A6C34878D82A}">
                    <a16:rowId xmlns:a16="http://schemas.microsoft.com/office/drawing/2014/main" xmlns="" val="2959380616"/>
                  </a:ext>
                </a:extLst>
              </a:tr>
              <a:tr h="340028">
                <a:tc>
                  <a:txBody>
                    <a:bodyPr/>
                    <a:lstStyle/>
                    <a:p>
                      <a:pPr algn="ctr"/>
                      <a:endParaRPr lang="en-IN" sz="1400" b="1" dirty="0">
                        <a:latin typeface="+mn-lt"/>
                      </a:endParaRPr>
                    </a:p>
                  </a:txBody>
                  <a:tcPr/>
                </a:tc>
                <a:tc>
                  <a:txBody>
                    <a:bodyPr/>
                    <a:lstStyle/>
                    <a:p>
                      <a:pPr algn="ctr"/>
                      <a:r>
                        <a:rPr lang="en-US" sz="1400" b="1" dirty="0" smtClean="0">
                          <a:latin typeface="+mn-lt"/>
                        </a:rPr>
                        <a:t>Total</a:t>
                      </a:r>
                      <a:endParaRPr lang="en-IN" sz="1400" b="1" dirty="0">
                        <a:latin typeface="+mn-lt"/>
                      </a:endParaRPr>
                    </a:p>
                  </a:txBody>
                  <a:tcPr/>
                </a:tc>
                <a:tc>
                  <a:txBody>
                    <a:bodyPr/>
                    <a:lstStyle/>
                    <a:p>
                      <a:pPr algn="l"/>
                      <a:r>
                        <a:rPr lang="en-US" sz="1400" b="1" dirty="0" smtClean="0">
                          <a:latin typeface="+mn-lt"/>
                        </a:rPr>
                        <a:t>35 </a:t>
                      </a:r>
                      <a:endParaRPr lang="en-IN" sz="1400" b="1" dirty="0">
                        <a:latin typeface="+mn-lt"/>
                      </a:endParaRPr>
                    </a:p>
                  </a:txBody>
                  <a:tcPr/>
                </a:tc>
              </a:tr>
            </a:tbl>
          </a:graphicData>
        </a:graphic>
      </p:graphicFrame>
      <p:pic>
        <p:nvPicPr>
          <p:cNvPr id="16" name="Picture 15">
            <a:extLst>
              <a:ext uri="{FF2B5EF4-FFF2-40B4-BE49-F238E27FC236}">
                <a16:creationId xmlns:a16="http://schemas.microsoft.com/office/drawing/2014/main" xmlns="" id="{9F93A2C0-E5F7-F138-A129-320934AE634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33891" y="1071997"/>
            <a:ext cx="3280444" cy="2225556"/>
          </a:xfrm>
          <a:prstGeom prst="rect">
            <a:avLst/>
          </a:prstGeom>
          <a:ln>
            <a:noFill/>
          </a:ln>
          <a:effectLst>
            <a:outerShdw blurRad="190500" algn="tl" rotWithShape="0">
              <a:srgbClr val="000000">
                <a:alpha val="70000"/>
              </a:srgbClr>
            </a:outerShdw>
          </a:effectLst>
        </p:spPr>
      </p:pic>
      <p:pic>
        <p:nvPicPr>
          <p:cNvPr id="17" name="Picture 16">
            <a:extLst>
              <a:ext uri="{FF2B5EF4-FFF2-40B4-BE49-F238E27FC236}">
                <a16:creationId xmlns:a16="http://schemas.microsoft.com/office/drawing/2014/main" xmlns="" id="{98CD07CC-163E-A7F1-B49F-E4D8C52A26D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20273" y="4014631"/>
            <a:ext cx="3468349" cy="2386162"/>
          </a:xfrm>
          <a:prstGeom prst="rect">
            <a:avLst/>
          </a:prstGeom>
          <a:ln>
            <a:noFill/>
          </a:ln>
          <a:effectLst>
            <a:outerShdw blurRad="190500" algn="tl" rotWithShape="0">
              <a:srgbClr val="000000">
                <a:alpha val="70000"/>
              </a:srgbClr>
            </a:outerShdw>
          </a:effectLst>
        </p:spPr>
      </p:pic>
      <p:pic>
        <p:nvPicPr>
          <p:cNvPr id="21" name="Picture 20"/>
          <p:cNvPicPr>
            <a:picLocks noChangeAspect="1"/>
          </p:cNvPicPr>
          <p:nvPr/>
        </p:nvPicPr>
        <p:blipFill rotWithShape="1">
          <a:blip r:embed="rId7" cstate="print">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sp>
        <p:nvSpPr>
          <p:cNvPr id="13" name="TextBox 12"/>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19" name="Picture 18"/>
          <p:cNvPicPr>
            <a:picLocks noChangeAspect="1"/>
          </p:cNvPicPr>
          <p:nvPr/>
        </p:nvPicPr>
        <p:blipFill rotWithShape="1">
          <a:blip r:embed="rId9">
            <a:extLst>
              <a:ext uri="{28A0092B-C50C-407E-A947-70E740481C1C}">
                <a14:useLocalDpi xmlns:a14="http://schemas.microsoft.com/office/drawing/2010/main" val="0"/>
              </a:ext>
            </a:extLst>
          </a:blip>
          <a:srcRect l="17091" t="13530" r="17243" b="21140"/>
          <a:stretch/>
        </p:blipFill>
        <p:spPr>
          <a:xfrm>
            <a:off x="191363" y="5636192"/>
            <a:ext cx="939271" cy="1008000"/>
          </a:xfrm>
          <a:prstGeom prst="rect">
            <a:avLst/>
          </a:prstGeom>
        </p:spPr>
      </p:pic>
    </p:spTree>
    <p:extLst>
      <p:ext uri="{BB962C8B-B14F-4D97-AF65-F5344CB8AC3E}">
        <p14:creationId xmlns:p14="http://schemas.microsoft.com/office/powerpoint/2010/main" val="33017219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179673" y="105167"/>
            <a:ext cx="4297458"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Esteemed Customers </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9" name="Picture 8"/>
          <p:cNvPicPr>
            <a:picLocks noChangeAspect="1"/>
          </p:cNvPicPr>
          <p:nvPr/>
        </p:nvPicPr>
        <p:blipFill>
          <a:blip r:embed="rId3"/>
          <a:stretch>
            <a:fillRect/>
          </a:stretch>
        </p:blipFill>
        <p:spPr>
          <a:xfrm>
            <a:off x="11298407" y="0"/>
            <a:ext cx="638264" cy="6858957"/>
          </a:xfrm>
          <a:prstGeom prst="rect">
            <a:avLst/>
          </a:prstGeom>
        </p:spPr>
      </p:pic>
      <p:sp>
        <p:nvSpPr>
          <p:cNvPr id="10" name="Right Triangle 9"/>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p:cNvPicPr>
            <a:picLocks noChangeAspect="1"/>
          </p:cNvPicPr>
          <p:nvPr/>
        </p:nvPicPr>
        <p:blipFill>
          <a:blip r:embed="rId4"/>
          <a:stretch>
            <a:fillRect/>
          </a:stretch>
        </p:blipFill>
        <p:spPr>
          <a:xfrm>
            <a:off x="0" y="3666836"/>
            <a:ext cx="2160005" cy="3191163"/>
          </a:xfrm>
          <a:prstGeom prst="rect">
            <a:avLst/>
          </a:prstGeom>
        </p:spPr>
      </p:pic>
      <p:pic>
        <p:nvPicPr>
          <p:cNvPr id="12" name="Graphic 4">
            <a:extLst>
              <a:ext uri="{FF2B5EF4-FFF2-40B4-BE49-F238E27FC236}">
                <a16:creationId xmlns:a16="http://schemas.microsoft.com/office/drawing/2014/main" xmlns="" id="{ACA25DD3-89CD-8300-A441-E7B79CFF38DB}"/>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810735" y="1265364"/>
            <a:ext cx="5046368" cy="1455488"/>
          </a:xfrm>
          <a:prstGeom prst="rect">
            <a:avLst/>
          </a:prstGeom>
        </p:spPr>
      </p:pic>
      <p:pic>
        <p:nvPicPr>
          <p:cNvPr id="13" name="Picture 12">
            <a:extLst>
              <a:ext uri="{FF2B5EF4-FFF2-40B4-BE49-F238E27FC236}">
                <a16:creationId xmlns:a16="http://schemas.microsoft.com/office/drawing/2014/main" xmlns="" id="{F50BD6B2-4A09-7578-5A83-A6BA95FD9A3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19549" b="23563"/>
          <a:stretch/>
        </p:blipFill>
        <p:spPr>
          <a:xfrm>
            <a:off x="1647568" y="2720525"/>
            <a:ext cx="4025615" cy="1504006"/>
          </a:xfrm>
          <a:prstGeom prst="rect">
            <a:avLst/>
          </a:prstGeom>
        </p:spPr>
      </p:pic>
      <p:sp>
        <p:nvSpPr>
          <p:cNvPr id="21" name="TextBox 20"/>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23" name="Picture 22"/>
          <p:cNvPicPr>
            <a:picLocks noChangeAspect="1"/>
          </p:cNvPicPr>
          <p:nvPr/>
        </p:nvPicPr>
        <p:blipFill rotWithShape="1">
          <a:blip r:embed="rId8" cstate="print">
            <a:extLst>
              <a:ext uri="{BEBA8EAE-BF5A-486C-A8C5-ECC9F3942E4B}">
                <a14:imgProps xmlns:a14="http://schemas.microsoft.com/office/drawing/2010/main">
                  <a14:imgLayer r:embed="rId9">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7" name="Picture 16"/>
          <p:cNvPicPr>
            <a:picLocks noChangeAspect="1"/>
          </p:cNvPicPr>
          <p:nvPr/>
        </p:nvPicPr>
        <p:blipFill rotWithShape="1">
          <a:blip r:embed="rId10">
            <a:extLst>
              <a:ext uri="{28A0092B-C50C-407E-A947-70E740481C1C}">
                <a14:useLocalDpi xmlns:a14="http://schemas.microsoft.com/office/drawing/2010/main" val="0"/>
              </a:ext>
            </a:extLst>
          </a:blip>
          <a:srcRect l="17091" t="13530" r="17243" b="21140"/>
          <a:stretch/>
        </p:blipFill>
        <p:spPr>
          <a:xfrm>
            <a:off x="156599" y="5636190"/>
            <a:ext cx="1006362" cy="1080000"/>
          </a:xfrm>
          <a:prstGeom prst="rect">
            <a:avLst/>
          </a:prstGeom>
        </p:spPr>
      </p:pic>
      <p:pic>
        <p:nvPicPr>
          <p:cNvPr id="19" name="Picture 1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338486" y="1099219"/>
            <a:ext cx="4148328" cy="1344168"/>
          </a:xfrm>
          <a:prstGeom prst="rect">
            <a:avLst/>
          </a:prstGeom>
        </p:spPr>
      </p:pic>
      <p:pic>
        <p:nvPicPr>
          <p:cNvPr id="4" name="Picture 3"/>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917871" y="2786911"/>
            <a:ext cx="2898425" cy="1991035"/>
          </a:xfrm>
          <a:prstGeom prst="rect">
            <a:avLst/>
          </a:prstGeom>
        </p:spPr>
      </p:pic>
      <p:pic>
        <p:nvPicPr>
          <p:cNvPr id="5" name="Picture 4"/>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538444" y="4578232"/>
            <a:ext cx="3290075" cy="1855519"/>
          </a:xfrm>
          <a:prstGeom prst="rect">
            <a:avLst/>
          </a:prstGeom>
        </p:spPr>
      </p:pic>
      <p:pic>
        <p:nvPicPr>
          <p:cNvPr id="6" name="Picture 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917871" y="4393522"/>
            <a:ext cx="3291184" cy="2040229"/>
          </a:xfrm>
          <a:prstGeom prst="rect">
            <a:avLst/>
          </a:prstGeom>
        </p:spPr>
      </p:pic>
    </p:spTree>
    <p:extLst>
      <p:ext uri="{BB962C8B-B14F-4D97-AF65-F5344CB8AC3E}">
        <p14:creationId xmlns:p14="http://schemas.microsoft.com/office/powerpoint/2010/main" val="9313961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179673" y="105167"/>
            <a:ext cx="4035720"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Products Developed</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9" name="Picture 8"/>
          <p:cNvPicPr>
            <a:picLocks noChangeAspect="1"/>
          </p:cNvPicPr>
          <p:nvPr/>
        </p:nvPicPr>
        <p:blipFill>
          <a:blip r:embed="rId3"/>
          <a:stretch>
            <a:fillRect/>
          </a:stretch>
        </p:blipFill>
        <p:spPr>
          <a:xfrm>
            <a:off x="11298407" y="0"/>
            <a:ext cx="638264" cy="6858957"/>
          </a:xfrm>
          <a:prstGeom prst="rect">
            <a:avLst/>
          </a:prstGeom>
        </p:spPr>
      </p:pic>
      <p:sp>
        <p:nvSpPr>
          <p:cNvPr id="10" name="Right Triangle 9"/>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p:cNvPicPr>
            <a:picLocks noChangeAspect="1"/>
          </p:cNvPicPr>
          <p:nvPr/>
        </p:nvPicPr>
        <p:blipFill>
          <a:blip r:embed="rId4"/>
          <a:stretch>
            <a:fillRect/>
          </a:stretch>
        </p:blipFill>
        <p:spPr>
          <a:xfrm>
            <a:off x="0" y="3666836"/>
            <a:ext cx="2160005" cy="3191163"/>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9544" y="3637687"/>
            <a:ext cx="3498172" cy="2224625"/>
          </a:xfrm>
          <a:prstGeom prst="rect">
            <a:avLst/>
          </a:prstGeom>
          <a:ln>
            <a:noFill/>
          </a:ln>
          <a:effectLst>
            <a:outerShdw blurRad="190500" algn="tl" rotWithShape="0">
              <a:srgbClr val="000000">
                <a:alpha val="70000"/>
              </a:srgbClr>
            </a:outerShdw>
          </a:effectLst>
        </p:spPr>
      </p:pic>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37878" y="977710"/>
            <a:ext cx="3649838" cy="2525501"/>
          </a:xfrm>
          <a:prstGeom prst="rect">
            <a:avLst/>
          </a:prstGeom>
          <a:ln>
            <a:noFill/>
          </a:ln>
          <a:effectLst>
            <a:outerShdw blurRad="190500" algn="tl" rotWithShape="0">
              <a:srgbClr val="000000">
                <a:alpha val="70000"/>
              </a:srgbClr>
            </a:outerShdw>
          </a:effectLst>
        </p:spPr>
      </p:pic>
      <p:pic>
        <p:nvPicPr>
          <p:cNvPr id="17" name="Picture 1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H="1">
            <a:off x="389918" y="977711"/>
            <a:ext cx="2631069" cy="2525501"/>
          </a:xfrm>
          <a:prstGeom prst="rect">
            <a:avLst/>
          </a:prstGeom>
          <a:ln>
            <a:noFill/>
          </a:ln>
          <a:effectLst>
            <a:outerShdw blurRad="190500" algn="tl" rotWithShape="0">
              <a:srgbClr val="000000">
                <a:alpha val="70000"/>
              </a:srgbClr>
            </a:outerShdw>
          </a:effectLst>
        </p:spPr>
      </p:pic>
      <p:pic>
        <p:nvPicPr>
          <p:cNvPr id="20" name="Picture 1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69619" y="977710"/>
            <a:ext cx="3879241" cy="2525501"/>
          </a:xfrm>
          <a:prstGeom prst="rect">
            <a:avLst/>
          </a:prstGeom>
          <a:ln>
            <a:noFill/>
          </a:ln>
          <a:effectLst>
            <a:outerShdw blurRad="190500" algn="tl" rotWithShape="0">
              <a:srgbClr val="000000">
                <a:alpha val="70000"/>
              </a:srgbClr>
            </a:outerShdw>
          </a:effectLst>
        </p:spPr>
      </p:pic>
      <p:pic>
        <p:nvPicPr>
          <p:cNvPr id="21" name="Picture 2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574716" y="3637687"/>
            <a:ext cx="2528882" cy="2224626"/>
          </a:xfrm>
          <a:prstGeom prst="rect">
            <a:avLst/>
          </a:prstGeom>
          <a:ln>
            <a:noFill/>
          </a:ln>
          <a:effectLst>
            <a:outerShdw blurRad="190500" algn="tl" rotWithShape="0">
              <a:srgbClr val="000000">
                <a:alpha val="70000"/>
              </a:srgbClr>
            </a:outerShdw>
          </a:effectLst>
        </p:spPr>
      </p:pic>
      <p:sp>
        <p:nvSpPr>
          <p:cNvPr id="22" name="TextBox 21"/>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24" name="Picture 23"/>
          <p:cNvPicPr>
            <a:picLocks noChangeAspect="1"/>
          </p:cNvPicPr>
          <p:nvPr/>
        </p:nvPicPr>
        <p:blipFill rotWithShape="1">
          <a:blip r:embed="rId10" cstate="print">
            <a:extLst>
              <a:ext uri="{BEBA8EAE-BF5A-486C-A8C5-ECC9F3942E4B}">
                <a14:imgProps xmlns:a14="http://schemas.microsoft.com/office/drawing/2010/main">
                  <a14:imgLayer r:embed="rId11">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2" name="Picture 1"/>
          <p:cNvPicPr>
            <a:picLocks noChangeAspect="1"/>
          </p:cNvPicPr>
          <p:nvPr/>
        </p:nvPicPr>
        <p:blipFill rotWithShape="1">
          <a:blip r:embed="rId12" cstate="print">
            <a:extLst>
              <a:ext uri="{28A0092B-C50C-407E-A947-70E740481C1C}">
                <a14:useLocalDpi xmlns:a14="http://schemas.microsoft.com/office/drawing/2010/main" val="0"/>
              </a:ext>
            </a:extLst>
          </a:blip>
          <a:srcRect t="16576" b="29977"/>
          <a:stretch/>
        </p:blipFill>
        <p:spPr>
          <a:xfrm>
            <a:off x="1553805" y="3637687"/>
            <a:ext cx="2571308" cy="2130552"/>
          </a:xfrm>
          <a:prstGeom prst="rect">
            <a:avLst/>
          </a:prstGeom>
          <a:ln>
            <a:noFill/>
          </a:ln>
          <a:effectLst>
            <a:outerShdw blurRad="190500" algn="tl" rotWithShape="0">
              <a:srgbClr val="000000">
                <a:alpha val="70000"/>
              </a:srgbClr>
            </a:outerShdw>
          </a:effectLst>
        </p:spPr>
      </p:pic>
      <p:pic>
        <p:nvPicPr>
          <p:cNvPr id="19" name="Picture 18"/>
          <p:cNvPicPr>
            <a:picLocks noChangeAspect="1"/>
          </p:cNvPicPr>
          <p:nvPr/>
        </p:nvPicPr>
        <p:blipFill rotWithShape="1">
          <a:blip r:embed="rId13">
            <a:extLst>
              <a:ext uri="{28A0092B-C50C-407E-A947-70E740481C1C}">
                <a14:useLocalDpi xmlns:a14="http://schemas.microsoft.com/office/drawing/2010/main" val="0"/>
              </a:ext>
            </a:extLst>
          </a:blip>
          <a:srcRect l="17091" t="13530" r="17243" b="21140"/>
          <a:stretch/>
        </p:blipFill>
        <p:spPr>
          <a:xfrm>
            <a:off x="171435" y="5560780"/>
            <a:ext cx="940281" cy="1009082"/>
          </a:xfrm>
          <a:prstGeom prst="rect">
            <a:avLst/>
          </a:prstGeom>
        </p:spPr>
      </p:pic>
    </p:spTree>
    <p:extLst>
      <p:ext uri="{BB962C8B-B14F-4D97-AF65-F5344CB8AC3E}">
        <p14:creationId xmlns:p14="http://schemas.microsoft.com/office/powerpoint/2010/main" val="294136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9" name="Picture 8"/>
          <p:cNvPicPr>
            <a:picLocks noChangeAspect="1"/>
          </p:cNvPicPr>
          <p:nvPr/>
        </p:nvPicPr>
        <p:blipFill>
          <a:blip r:embed="rId3"/>
          <a:stretch>
            <a:fillRect/>
          </a:stretch>
        </p:blipFill>
        <p:spPr>
          <a:xfrm>
            <a:off x="11298407" y="0"/>
            <a:ext cx="638264" cy="6858957"/>
          </a:xfrm>
          <a:prstGeom prst="rect">
            <a:avLst/>
          </a:prstGeom>
        </p:spPr>
      </p:pic>
      <p:sp>
        <p:nvSpPr>
          <p:cNvPr id="10" name="Right Triangle 9"/>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179673" y="105167"/>
            <a:ext cx="4035720"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Products Developed</a:t>
            </a:r>
            <a:endParaRPr lang="en-IN" sz="3600" b="1" dirty="0">
              <a:ln/>
              <a:solidFill>
                <a:schemeClr val="accent3"/>
              </a:solidFill>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69473" y="831954"/>
            <a:ext cx="2746688" cy="2419380"/>
          </a:xfrm>
          <a:prstGeom prst="rect">
            <a:avLst/>
          </a:prstGeom>
          <a:ln>
            <a:noFill/>
          </a:ln>
          <a:effectLst>
            <a:outerShdw blurRad="190500" algn="tl" rotWithShape="0">
              <a:srgbClr val="000000">
                <a:alpha val="70000"/>
              </a:srgbClr>
            </a:outerShdw>
          </a:effectLst>
        </p:spPr>
      </p:pic>
      <p:pic>
        <p:nvPicPr>
          <p:cNvPr id="17" name="Picture 16">
            <a:extLst>
              <a:ext uri="{FF2B5EF4-FFF2-40B4-BE49-F238E27FC236}">
                <a16:creationId xmlns:a16="http://schemas.microsoft.com/office/drawing/2014/main" xmlns="" id="{FCB89F9F-D52A-6296-4337-F0CD72A59543}"/>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11951" b="26549"/>
          <a:stretch/>
        </p:blipFill>
        <p:spPr>
          <a:xfrm rot="16200000">
            <a:off x="5500681" y="3411206"/>
            <a:ext cx="2392629" cy="2690446"/>
          </a:xfrm>
          <a:prstGeom prst="rect">
            <a:avLst/>
          </a:prstGeom>
          <a:ln>
            <a:noFill/>
          </a:ln>
          <a:effectLst>
            <a:outerShdw blurRad="190500" algn="tl" rotWithShape="0">
              <a:srgbClr val="000000">
                <a:alpha val="70000"/>
              </a:srgbClr>
            </a:outerShdw>
          </a:effectLst>
        </p:spPr>
      </p:pic>
      <p:pic>
        <p:nvPicPr>
          <p:cNvPr id="20" name="Picture 19">
            <a:extLst>
              <a:ext uri="{FF2B5EF4-FFF2-40B4-BE49-F238E27FC236}">
                <a16:creationId xmlns:a16="http://schemas.microsoft.com/office/drawing/2014/main" xmlns="" id="{22F4A92A-F9F1-4F63-7AB5-9ECC8F48AEC0}"/>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1344" t="11100" r="32920" b="17683"/>
          <a:stretch/>
        </p:blipFill>
        <p:spPr>
          <a:xfrm>
            <a:off x="81029" y="831954"/>
            <a:ext cx="3755082" cy="2419380"/>
          </a:xfrm>
          <a:prstGeom prst="rect">
            <a:avLst/>
          </a:prstGeom>
          <a:ln>
            <a:noFill/>
          </a:ln>
          <a:effectLst>
            <a:outerShdw blurRad="190500" algn="tl" rotWithShape="0">
              <a:srgbClr val="000000">
                <a:alpha val="70000"/>
              </a:srgbClr>
            </a:outerShdw>
          </a:effectLst>
        </p:spPr>
      </p:pic>
      <p:pic>
        <p:nvPicPr>
          <p:cNvPr id="21" name="Picture 20">
            <a:extLst>
              <a:ext uri="{FF2B5EF4-FFF2-40B4-BE49-F238E27FC236}">
                <a16:creationId xmlns:a16="http://schemas.microsoft.com/office/drawing/2014/main" xmlns="" id="{2DB4EE44-C4D6-F537-2F6F-9B8B5D0134D2}"/>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8780" r="28041"/>
          <a:stretch/>
        </p:blipFill>
        <p:spPr>
          <a:xfrm>
            <a:off x="2023005" y="3560114"/>
            <a:ext cx="2872271" cy="2392630"/>
          </a:xfrm>
          <a:prstGeom prst="rect">
            <a:avLst/>
          </a:prstGeom>
          <a:ln>
            <a:noFill/>
          </a:ln>
          <a:effectLst>
            <a:outerShdw blurRad="190500" algn="tl" rotWithShape="0">
              <a:srgbClr val="000000">
                <a:alpha val="70000"/>
              </a:srgbClr>
            </a:outerShdw>
          </a:effectLst>
        </p:spPr>
      </p:pic>
      <p:pic>
        <p:nvPicPr>
          <p:cNvPr id="22" name="Picture 21">
            <a:extLst>
              <a:ext uri="{FF2B5EF4-FFF2-40B4-BE49-F238E27FC236}">
                <a16:creationId xmlns:a16="http://schemas.microsoft.com/office/drawing/2014/main" xmlns="" id="{AEC59B06-1F38-F921-C825-781ED3B552C7}"/>
              </a:ext>
            </a:extLst>
          </p:cNvPr>
          <p:cNvPicPr>
            <a:picLocks noChangeAspect="1"/>
          </p:cNvPicPr>
          <p:nvPr/>
        </p:nvPicPr>
        <p:blipFill rotWithShape="1">
          <a:blip r:embed="rId8" cstate="print">
            <a:extLst>
              <a:ext uri="{BEBA8EAE-BF5A-486C-A8C5-ECC9F3942E4B}">
                <a14:imgProps xmlns:a14="http://schemas.microsoft.com/office/drawing/2010/main">
                  <a14:imgLayer r:embed="rId9">
                    <a14:imgEffect>
                      <a14:colorTemperature colorTemp="8800"/>
                    </a14:imgEffect>
                  </a14:imgLayer>
                </a14:imgProps>
              </a:ext>
              <a:ext uri="{28A0092B-C50C-407E-A947-70E740481C1C}">
                <a14:useLocalDpi xmlns:a14="http://schemas.microsoft.com/office/drawing/2010/main" val="0"/>
              </a:ext>
            </a:extLst>
          </a:blip>
          <a:srcRect l="14152" t="11485" r="8032" b="3739"/>
          <a:stretch/>
        </p:blipFill>
        <p:spPr>
          <a:xfrm>
            <a:off x="7036377" y="823988"/>
            <a:ext cx="4006702" cy="2427345"/>
          </a:xfrm>
          <a:prstGeom prst="rect">
            <a:avLst/>
          </a:prstGeom>
          <a:ln>
            <a:noFill/>
          </a:ln>
          <a:effectLst>
            <a:outerShdw blurRad="190500" algn="tl" rotWithShape="0">
              <a:srgbClr val="000000">
                <a:alpha val="70000"/>
              </a:srgbClr>
            </a:outerShdw>
          </a:effectLst>
        </p:spPr>
      </p:pic>
      <p:pic>
        <p:nvPicPr>
          <p:cNvPr id="25" name="Picture 24">
            <a:extLst>
              <a:ext uri="{FF2B5EF4-FFF2-40B4-BE49-F238E27FC236}">
                <a16:creationId xmlns:a16="http://schemas.microsoft.com/office/drawing/2014/main" xmlns="" id="{8C63E891-BCE6-BCFA-DBCF-CAE98B675A47}"/>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5916" r="17894"/>
          <a:stretch/>
        </p:blipFill>
        <p:spPr>
          <a:xfrm rot="5400000">
            <a:off x="8145415" y="4053125"/>
            <a:ext cx="2392630" cy="1406607"/>
          </a:xfrm>
          <a:prstGeom prst="rect">
            <a:avLst/>
          </a:prstGeom>
          <a:ln>
            <a:noFill/>
          </a:ln>
          <a:effectLst>
            <a:outerShdw blurRad="190500" algn="tl" rotWithShape="0">
              <a:srgbClr val="000000">
                <a:alpha val="70000"/>
              </a:srgbClr>
            </a:outerShdw>
          </a:effectLst>
        </p:spPr>
      </p:pic>
      <p:pic>
        <p:nvPicPr>
          <p:cNvPr id="11" name="Picture 10"/>
          <p:cNvPicPr>
            <a:picLocks noChangeAspect="1"/>
          </p:cNvPicPr>
          <p:nvPr/>
        </p:nvPicPr>
        <p:blipFill>
          <a:blip r:embed="rId11"/>
          <a:stretch>
            <a:fillRect/>
          </a:stretch>
        </p:blipFill>
        <p:spPr>
          <a:xfrm>
            <a:off x="0" y="3666836"/>
            <a:ext cx="2160005" cy="3191163"/>
          </a:xfrm>
          <a:prstGeom prst="rect">
            <a:avLst/>
          </a:prstGeom>
        </p:spPr>
      </p:pic>
      <p:sp>
        <p:nvSpPr>
          <p:cNvPr id="31" name="TextBox 30"/>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33" name="Picture 32"/>
          <p:cNvPicPr>
            <a:picLocks noChangeAspect="1"/>
          </p:cNvPicPr>
          <p:nvPr/>
        </p:nvPicPr>
        <p:blipFill rotWithShape="1">
          <a:blip r:embed="rId12" cstate="print">
            <a:extLst>
              <a:ext uri="{BEBA8EAE-BF5A-486C-A8C5-ECC9F3942E4B}">
                <a14:imgProps xmlns:a14="http://schemas.microsoft.com/office/drawing/2010/main">
                  <a14:imgLayer r:embed="rId13">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6" name="Picture 15"/>
          <p:cNvPicPr>
            <a:picLocks noChangeAspect="1"/>
          </p:cNvPicPr>
          <p:nvPr/>
        </p:nvPicPr>
        <p:blipFill rotWithShape="1">
          <a:blip r:embed="rId14">
            <a:extLst>
              <a:ext uri="{28A0092B-C50C-407E-A947-70E740481C1C}">
                <a14:useLocalDpi xmlns:a14="http://schemas.microsoft.com/office/drawing/2010/main" val="0"/>
              </a:ext>
            </a:extLst>
          </a:blip>
          <a:srcRect l="17091" t="13530" r="17243" b="21140"/>
          <a:stretch/>
        </p:blipFill>
        <p:spPr>
          <a:xfrm>
            <a:off x="157213" y="5605053"/>
            <a:ext cx="1006361" cy="1080000"/>
          </a:xfrm>
          <a:prstGeom prst="rect">
            <a:avLst/>
          </a:prstGeom>
        </p:spPr>
      </p:pic>
    </p:spTree>
    <p:extLst>
      <p:ext uri="{BB962C8B-B14F-4D97-AF65-F5344CB8AC3E}">
        <p14:creationId xmlns:p14="http://schemas.microsoft.com/office/powerpoint/2010/main" val="19509291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9" name="Picture 8"/>
          <p:cNvPicPr>
            <a:picLocks noChangeAspect="1"/>
          </p:cNvPicPr>
          <p:nvPr/>
        </p:nvPicPr>
        <p:blipFill>
          <a:blip r:embed="rId3"/>
          <a:stretch>
            <a:fillRect/>
          </a:stretch>
        </p:blipFill>
        <p:spPr>
          <a:xfrm>
            <a:off x="11298407" y="0"/>
            <a:ext cx="638264" cy="6858957"/>
          </a:xfrm>
          <a:prstGeom prst="rect">
            <a:avLst/>
          </a:prstGeom>
        </p:spPr>
      </p:pic>
      <p:sp>
        <p:nvSpPr>
          <p:cNvPr id="10" name="Right Triangle 9"/>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179673" y="105167"/>
            <a:ext cx="9308126"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Products Developed – Forged Hydraulic Clamps.</a:t>
            </a:r>
            <a:endParaRPr lang="en-IN" sz="3600" b="1" dirty="0">
              <a:ln/>
              <a:solidFill>
                <a:schemeClr val="accent3"/>
              </a:solidFill>
            </a:endParaRPr>
          </a:p>
        </p:txBody>
      </p:sp>
      <p:pic>
        <p:nvPicPr>
          <p:cNvPr id="11" name="Picture 10"/>
          <p:cNvPicPr>
            <a:picLocks noChangeAspect="1"/>
          </p:cNvPicPr>
          <p:nvPr/>
        </p:nvPicPr>
        <p:blipFill>
          <a:blip r:embed="rId4"/>
          <a:stretch>
            <a:fillRect/>
          </a:stretch>
        </p:blipFill>
        <p:spPr>
          <a:xfrm>
            <a:off x="0" y="3666836"/>
            <a:ext cx="2160005" cy="3191163"/>
          </a:xfrm>
          <a:prstGeom prst="rect">
            <a:avLst/>
          </a:prstGeom>
        </p:spPr>
      </p:pic>
      <p:sp>
        <p:nvSpPr>
          <p:cNvPr id="23" name="Rectangle 22">
            <a:extLst>
              <a:ext uri="{FF2B5EF4-FFF2-40B4-BE49-F238E27FC236}">
                <a16:creationId xmlns:a16="http://schemas.microsoft.com/office/drawing/2014/main" xmlns="" id="{28E8C6C5-5259-D6D6-5FB7-26B4DC6CD229}"/>
              </a:ext>
            </a:extLst>
          </p:cNvPr>
          <p:cNvSpPr/>
          <p:nvPr/>
        </p:nvSpPr>
        <p:spPr>
          <a:xfrm>
            <a:off x="1381608" y="1278012"/>
            <a:ext cx="9318642" cy="461665"/>
          </a:xfrm>
          <a:prstGeom prst="rect">
            <a:avLst/>
          </a:prstGeom>
        </p:spPr>
        <p:txBody>
          <a:bodyPr wrap="square">
            <a:spAutoFit/>
          </a:bodyPr>
          <a:lstStyle/>
          <a:p>
            <a:r>
              <a:rPr lang="en-US" sz="2400" b="1" dirty="0">
                <a:solidFill>
                  <a:srgbClr val="660033"/>
                </a:solidFill>
                <a:ea typeface="Times New Roman" pitchFamily="18" charset="0"/>
              </a:rPr>
              <a:t>                                                              </a:t>
            </a:r>
          </a:p>
        </p:txBody>
      </p:sp>
      <p:pic>
        <p:nvPicPr>
          <p:cNvPr id="24" name="Picture 23">
            <a:extLst>
              <a:ext uri="{FF2B5EF4-FFF2-40B4-BE49-F238E27FC236}">
                <a16:creationId xmlns:a16="http://schemas.microsoft.com/office/drawing/2014/main" xmlns="" id="{B36DC0EA-80E2-A591-C67F-AB3A755F820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1667" t="19287" r="32500" b="35546"/>
          <a:stretch/>
        </p:blipFill>
        <p:spPr>
          <a:xfrm>
            <a:off x="179673" y="859378"/>
            <a:ext cx="3215752" cy="1832062"/>
          </a:xfrm>
          <a:prstGeom prst="rect">
            <a:avLst/>
          </a:prstGeom>
          <a:ln>
            <a:noFill/>
          </a:ln>
          <a:effectLst>
            <a:outerShdw blurRad="190500" algn="tl" rotWithShape="0">
              <a:srgbClr val="000000">
                <a:alpha val="70000"/>
              </a:srgbClr>
            </a:outerShdw>
          </a:effectLst>
        </p:spPr>
      </p:pic>
      <p:pic>
        <p:nvPicPr>
          <p:cNvPr id="29" name="Picture 28">
            <a:extLst>
              <a:ext uri="{FF2B5EF4-FFF2-40B4-BE49-F238E27FC236}">
                <a16:creationId xmlns:a16="http://schemas.microsoft.com/office/drawing/2014/main" xmlns="" id="{D944A3AE-E42D-E0A7-73AA-5EF3C0A5408F}"/>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6666" t="17812" r="23334" b="21093"/>
          <a:stretch/>
        </p:blipFill>
        <p:spPr>
          <a:xfrm>
            <a:off x="3968269" y="860583"/>
            <a:ext cx="3215752" cy="1830857"/>
          </a:xfrm>
          <a:prstGeom prst="rect">
            <a:avLst/>
          </a:prstGeom>
          <a:ln>
            <a:noFill/>
          </a:ln>
          <a:effectLst>
            <a:outerShdw blurRad="190500" algn="tl" rotWithShape="0">
              <a:srgbClr val="000000">
                <a:alpha val="70000"/>
              </a:srgbClr>
            </a:outerShdw>
          </a:effectLst>
        </p:spPr>
      </p:pic>
      <p:pic>
        <p:nvPicPr>
          <p:cNvPr id="31" name="Picture 30">
            <a:extLst>
              <a:ext uri="{FF2B5EF4-FFF2-40B4-BE49-F238E27FC236}">
                <a16:creationId xmlns:a16="http://schemas.microsoft.com/office/drawing/2014/main" xmlns="" id="{387E7DFD-7292-82E3-69B3-5CA00A34CE8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8333" t="26549" r="26667" b="27544"/>
          <a:stretch/>
        </p:blipFill>
        <p:spPr>
          <a:xfrm>
            <a:off x="7779593" y="824248"/>
            <a:ext cx="3382724" cy="1830857"/>
          </a:xfrm>
          <a:prstGeom prst="rect">
            <a:avLst/>
          </a:prstGeom>
          <a:ln>
            <a:noFill/>
          </a:ln>
          <a:effectLst>
            <a:outerShdw blurRad="190500" algn="tl" rotWithShape="0">
              <a:srgbClr val="000000">
                <a:alpha val="70000"/>
              </a:srgbClr>
            </a:outerShdw>
          </a:effectLst>
        </p:spPr>
      </p:pic>
      <p:pic>
        <p:nvPicPr>
          <p:cNvPr id="32" name="Picture 31">
            <a:extLst>
              <a:ext uri="{FF2B5EF4-FFF2-40B4-BE49-F238E27FC236}">
                <a16:creationId xmlns:a16="http://schemas.microsoft.com/office/drawing/2014/main" xmlns="" id="{B1C2E849-B10A-6B60-5F57-D43D66F9099B}"/>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5833" t="17812" r="30000" b="24706"/>
          <a:stretch/>
        </p:blipFill>
        <p:spPr>
          <a:xfrm>
            <a:off x="775418" y="2967901"/>
            <a:ext cx="3215753" cy="1717561"/>
          </a:xfrm>
          <a:prstGeom prst="rect">
            <a:avLst/>
          </a:prstGeom>
          <a:ln>
            <a:noFill/>
          </a:ln>
          <a:effectLst>
            <a:outerShdw blurRad="190500" algn="tl" rotWithShape="0">
              <a:srgbClr val="000000">
                <a:alpha val="70000"/>
              </a:srgbClr>
            </a:outerShdw>
          </a:effectLst>
        </p:spPr>
      </p:pic>
      <p:pic>
        <p:nvPicPr>
          <p:cNvPr id="33" name="Picture 32">
            <a:extLst>
              <a:ext uri="{FF2B5EF4-FFF2-40B4-BE49-F238E27FC236}">
                <a16:creationId xmlns:a16="http://schemas.microsoft.com/office/drawing/2014/main" xmlns="" id="{29A4D950-7DDA-C853-0C67-FBFE4A365239}"/>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4167" t="21093" r="30000" b="31933"/>
          <a:stretch/>
        </p:blipFill>
        <p:spPr>
          <a:xfrm>
            <a:off x="4264247" y="2964654"/>
            <a:ext cx="3215753" cy="1717561"/>
          </a:xfrm>
          <a:prstGeom prst="rect">
            <a:avLst/>
          </a:prstGeom>
          <a:ln>
            <a:noFill/>
          </a:ln>
          <a:effectLst>
            <a:outerShdw blurRad="190500" algn="tl" rotWithShape="0">
              <a:srgbClr val="000000">
                <a:alpha val="70000"/>
              </a:srgbClr>
            </a:outerShdw>
          </a:effectLst>
        </p:spPr>
      </p:pic>
      <p:pic>
        <p:nvPicPr>
          <p:cNvPr id="34" name="Picture 33">
            <a:extLst>
              <a:ext uri="{FF2B5EF4-FFF2-40B4-BE49-F238E27FC236}">
                <a16:creationId xmlns:a16="http://schemas.microsoft.com/office/drawing/2014/main" xmlns="" id="{E308584C-8A7E-0E55-BF6D-9B56809C6AD3}"/>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31077" t="19226" r="20744" b="31885"/>
          <a:stretch/>
        </p:blipFill>
        <p:spPr>
          <a:xfrm rot="16200000">
            <a:off x="8611709" y="2132071"/>
            <a:ext cx="1711065" cy="3382728"/>
          </a:xfrm>
          <a:prstGeom prst="rect">
            <a:avLst/>
          </a:prstGeom>
          <a:ln>
            <a:noFill/>
          </a:ln>
          <a:effectLst>
            <a:outerShdw blurRad="190500" algn="tl" rotWithShape="0">
              <a:srgbClr val="000000">
                <a:alpha val="70000"/>
              </a:srgbClr>
            </a:outerShdw>
          </a:effectLst>
        </p:spPr>
      </p:pic>
      <p:pic>
        <p:nvPicPr>
          <p:cNvPr id="35" name="Picture 34">
            <a:extLst>
              <a:ext uri="{FF2B5EF4-FFF2-40B4-BE49-F238E27FC236}">
                <a16:creationId xmlns:a16="http://schemas.microsoft.com/office/drawing/2014/main" xmlns="" id="{815B64AC-B522-4E8E-B708-A7CC51614B49}"/>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33137" t="14444" r="21896" b="24814"/>
          <a:stretch/>
        </p:blipFill>
        <p:spPr>
          <a:xfrm rot="16200000">
            <a:off x="5538952" y="4308856"/>
            <a:ext cx="1595606" cy="2994679"/>
          </a:xfrm>
          <a:prstGeom prst="rect">
            <a:avLst/>
          </a:prstGeom>
          <a:ln>
            <a:noFill/>
          </a:ln>
          <a:effectLst>
            <a:outerShdw blurRad="190500" algn="tl" rotWithShape="0">
              <a:srgbClr val="000000">
                <a:alpha val="70000"/>
              </a:srgbClr>
            </a:outerShdw>
          </a:effectLst>
        </p:spPr>
      </p:pic>
      <p:pic>
        <p:nvPicPr>
          <p:cNvPr id="36" name="Picture 35">
            <a:extLst>
              <a:ext uri="{FF2B5EF4-FFF2-40B4-BE49-F238E27FC236}">
                <a16:creationId xmlns:a16="http://schemas.microsoft.com/office/drawing/2014/main" xmlns="" id="{28860EDC-63F5-403E-5157-717150F6C53E}"/>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21896" t="32222" r="25073" b="20371"/>
          <a:stretch/>
        </p:blipFill>
        <p:spPr>
          <a:xfrm rot="5400000">
            <a:off x="8747593" y="4308855"/>
            <a:ext cx="1595609" cy="2994684"/>
          </a:xfrm>
          <a:prstGeom prst="rect">
            <a:avLst/>
          </a:prstGeom>
          <a:ln>
            <a:noFill/>
          </a:ln>
          <a:effectLst>
            <a:outerShdw blurRad="190500" algn="tl" rotWithShape="0">
              <a:srgbClr val="000000">
                <a:alpha val="70000"/>
              </a:srgbClr>
            </a:outerShdw>
          </a:effectLst>
        </p:spPr>
      </p:pic>
      <p:sp>
        <p:nvSpPr>
          <p:cNvPr id="38" name="TextBox 37"/>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40" name="Picture 39"/>
          <p:cNvPicPr>
            <a:picLocks noChangeAspect="1"/>
          </p:cNvPicPr>
          <p:nvPr/>
        </p:nvPicPr>
        <p:blipFill rotWithShape="1">
          <a:blip r:embed="rId13" cstate="print">
            <a:extLst>
              <a:ext uri="{BEBA8EAE-BF5A-486C-A8C5-ECC9F3942E4B}">
                <a14:imgProps xmlns:a14="http://schemas.microsoft.com/office/drawing/2010/main">
                  <a14:imgLayer r:embed="rId14">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9" name="Picture 18">
            <a:extLst>
              <a:ext uri="{FF2B5EF4-FFF2-40B4-BE49-F238E27FC236}">
                <a16:creationId xmlns:a16="http://schemas.microsoft.com/office/drawing/2014/main" xmlns="" id="{B42257FA-DF41-4434-DD36-9467EF970855}"/>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23658" t="33121" r="42056" b="33009"/>
          <a:stretch/>
        </p:blipFill>
        <p:spPr>
          <a:xfrm>
            <a:off x="1922826" y="5059075"/>
            <a:ext cx="2674125" cy="1490060"/>
          </a:xfrm>
          <a:prstGeom prst="rect">
            <a:avLst/>
          </a:prstGeom>
          <a:ln>
            <a:noFill/>
          </a:ln>
          <a:effectLst>
            <a:outerShdw blurRad="190500" algn="tl" rotWithShape="0">
              <a:srgbClr val="000000">
                <a:alpha val="70000"/>
              </a:srgbClr>
            </a:outerShdw>
          </a:effectLst>
        </p:spPr>
      </p:pic>
      <p:pic>
        <p:nvPicPr>
          <p:cNvPr id="20" name="Picture 19"/>
          <p:cNvPicPr>
            <a:picLocks noChangeAspect="1"/>
          </p:cNvPicPr>
          <p:nvPr/>
        </p:nvPicPr>
        <p:blipFill rotWithShape="1">
          <a:blip r:embed="rId16">
            <a:extLst>
              <a:ext uri="{28A0092B-C50C-407E-A947-70E740481C1C}">
                <a14:useLocalDpi xmlns:a14="http://schemas.microsoft.com/office/drawing/2010/main" val="0"/>
              </a:ext>
            </a:extLst>
          </a:blip>
          <a:srcRect l="17091" t="13530" r="17243" b="21140"/>
          <a:stretch/>
        </p:blipFill>
        <p:spPr>
          <a:xfrm>
            <a:off x="174230" y="5623701"/>
            <a:ext cx="1006904" cy="1080000"/>
          </a:xfrm>
          <a:prstGeom prst="rect">
            <a:avLst/>
          </a:prstGeom>
        </p:spPr>
      </p:pic>
    </p:spTree>
    <p:extLst>
      <p:ext uri="{BB962C8B-B14F-4D97-AF65-F5344CB8AC3E}">
        <p14:creationId xmlns:p14="http://schemas.microsoft.com/office/powerpoint/2010/main" val="14387612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9" name="Picture 8"/>
          <p:cNvPicPr>
            <a:picLocks noChangeAspect="1"/>
          </p:cNvPicPr>
          <p:nvPr/>
        </p:nvPicPr>
        <p:blipFill>
          <a:blip r:embed="rId3"/>
          <a:stretch>
            <a:fillRect/>
          </a:stretch>
        </p:blipFill>
        <p:spPr>
          <a:xfrm>
            <a:off x="11298407" y="0"/>
            <a:ext cx="638264" cy="6858957"/>
          </a:xfrm>
          <a:prstGeom prst="rect">
            <a:avLst/>
          </a:prstGeom>
        </p:spPr>
      </p:pic>
      <p:sp>
        <p:nvSpPr>
          <p:cNvPr id="10" name="Right Triangle 9"/>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179673" y="105167"/>
            <a:ext cx="4035720"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Products Developed</a:t>
            </a:r>
            <a:endParaRPr lang="en-IN" sz="3600" b="1" dirty="0">
              <a:ln/>
              <a:solidFill>
                <a:schemeClr val="accent3"/>
              </a:solidFill>
            </a:endParaRPr>
          </a:p>
        </p:txBody>
      </p:sp>
      <p:pic>
        <p:nvPicPr>
          <p:cNvPr id="11" name="Picture 10"/>
          <p:cNvPicPr>
            <a:picLocks noChangeAspect="1"/>
          </p:cNvPicPr>
          <p:nvPr/>
        </p:nvPicPr>
        <p:blipFill>
          <a:blip r:embed="rId4"/>
          <a:stretch>
            <a:fillRect/>
          </a:stretch>
        </p:blipFill>
        <p:spPr>
          <a:xfrm>
            <a:off x="0" y="3666836"/>
            <a:ext cx="2160005" cy="3191163"/>
          </a:xfrm>
          <a:prstGeom prst="rect">
            <a:avLst/>
          </a:prstGeom>
        </p:spPr>
      </p:pic>
      <p:grpSp>
        <p:nvGrpSpPr>
          <p:cNvPr id="18" name="Group 17">
            <a:extLst>
              <a:ext uri="{FF2B5EF4-FFF2-40B4-BE49-F238E27FC236}">
                <a16:creationId xmlns:a16="http://schemas.microsoft.com/office/drawing/2014/main" xmlns="" id="{25E06AF5-8E98-AF74-CDB7-28BBB2CE2A66}"/>
              </a:ext>
            </a:extLst>
          </p:cNvPr>
          <p:cNvGrpSpPr/>
          <p:nvPr/>
        </p:nvGrpSpPr>
        <p:grpSpPr>
          <a:xfrm>
            <a:off x="2087418" y="1108364"/>
            <a:ext cx="9028247" cy="5384800"/>
            <a:chOff x="402763" y="1490540"/>
            <a:chExt cx="8512638" cy="5148191"/>
          </a:xfrm>
        </p:grpSpPr>
        <p:pic>
          <p:nvPicPr>
            <p:cNvPr id="20" name="Picture 19">
              <a:extLst>
                <a:ext uri="{FF2B5EF4-FFF2-40B4-BE49-F238E27FC236}">
                  <a16:creationId xmlns:a16="http://schemas.microsoft.com/office/drawing/2014/main" xmlns="" id="{F51FD57C-E043-006C-C511-7FA34756942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7227" t="26667" r="3644" b="36667"/>
            <a:stretch/>
          </p:blipFill>
          <p:spPr>
            <a:xfrm>
              <a:off x="402763" y="1490540"/>
              <a:ext cx="2819400" cy="2394293"/>
            </a:xfrm>
            <a:prstGeom prst="rect">
              <a:avLst/>
            </a:prstGeom>
            <a:ln>
              <a:noFill/>
            </a:ln>
            <a:effectLst>
              <a:outerShdw blurRad="190500" algn="tl" rotWithShape="0">
                <a:srgbClr val="000000">
                  <a:alpha val="70000"/>
                </a:srgbClr>
              </a:outerShdw>
            </a:effectLst>
          </p:spPr>
        </p:pic>
        <p:pic>
          <p:nvPicPr>
            <p:cNvPr id="21" name="Picture 20">
              <a:extLst>
                <a:ext uri="{FF2B5EF4-FFF2-40B4-BE49-F238E27FC236}">
                  <a16:creationId xmlns:a16="http://schemas.microsoft.com/office/drawing/2014/main" xmlns="" id="{D777AAAE-9783-BA33-4748-FEBEB5D9608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23947" r="6425" b="31093"/>
            <a:stretch/>
          </p:blipFill>
          <p:spPr>
            <a:xfrm>
              <a:off x="3533949" y="1490540"/>
              <a:ext cx="2638251" cy="2394293"/>
            </a:xfrm>
            <a:prstGeom prst="rect">
              <a:avLst/>
            </a:prstGeom>
            <a:ln>
              <a:noFill/>
            </a:ln>
            <a:effectLst>
              <a:outerShdw blurRad="190500" algn="tl" rotWithShape="0">
                <a:srgbClr val="000000">
                  <a:alpha val="70000"/>
                </a:srgbClr>
              </a:outerShdw>
            </a:effectLst>
          </p:spPr>
        </p:pic>
        <p:pic>
          <p:nvPicPr>
            <p:cNvPr id="22" name="Picture 21">
              <a:extLst>
                <a:ext uri="{FF2B5EF4-FFF2-40B4-BE49-F238E27FC236}">
                  <a16:creationId xmlns:a16="http://schemas.microsoft.com/office/drawing/2014/main" xmlns="" id="{38BB0255-1037-3CA4-0759-BFE6E21A3D2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2222" b="30081"/>
            <a:stretch/>
          </p:blipFill>
          <p:spPr>
            <a:xfrm>
              <a:off x="3548729" y="4119442"/>
              <a:ext cx="2638251" cy="2519289"/>
            </a:xfrm>
            <a:prstGeom prst="rect">
              <a:avLst/>
            </a:prstGeom>
            <a:ln>
              <a:noFill/>
            </a:ln>
            <a:effectLst>
              <a:outerShdw blurRad="190500" algn="tl" rotWithShape="0">
                <a:srgbClr val="000000">
                  <a:alpha val="70000"/>
                </a:srgbClr>
              </a:outerShdw>
            </a:effectLst>
          </p:spPr>
        </p:pic>
        <p:pic>
          <p:nvPicPr>
            <p:cNvPr id="25" name="Picture 24">
              <a:extLst>
                <a:ext uri="{FF2B5EF4-FFF2-40B4-BE49-F238E27FC236}">
                  <a16:creationId xmlns:a16="http://schemas.microsoft.com/office/drawing/2014/main" xmlns="" id="{7121F503-07C4-29E3-21A5-3CC8CDFEC462}"/>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27062" b="32938"/>
            <a:stretch/>
          </p:blipFill>
          <p:spPr>
            <a:xfrm>
              <a:off x="402764" y="4119442"/>
              <a:ext cx="2819400" cy="2519289"/>
            </a:xfrm>
            <a:prstGeom prst="rect">
              <a:avLst/>
            </a:prstGeom>
            <a:ln>
              <a:noFill/>
            </a:ln>
            <a:effectLst>
              <a:outerShdw blurRad="190500" algn="tl" rotWithShape="0">
                <a:srgbClr val="000000">
                  <a:alpha val="70000"/>
                </a:srgbClr>
              </a:outerShdw>
            </a:effectLst>
          </p:spPr>
        </p:pic>
        <p:pic>
          <p:nvPicPr>
            <p:cNvPr id="26" name="Picture 25">
              <a:extLst>
                <a:ext uri="{FF2B5EF4-FFF2-40B4-BE49-F238E27FC236}">
                  <a16:creationId xmlns:a16="http://schemas.microsoft.com/office/drawing/2014/main" xmlns="" id="{2FE67D77-E81A-0E86-1B5E-02ADF35A00CE}"/>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23566" b="31093"/>
            <a:stretch/>
          </p:blipFill>
          <p:spPr>
            <a:xfrm>
              <a:off x="6483986" y="1490540"/>
              <a:ext cx="2431415" cy="2394293"/>
            </a:xfrm>
            <a:prstGeom prst="rect">
              <a:avLst/>
            </a:prstGeom>
            <a:ln>
              <a:noFill/>
            </a:ln>
            <a:effectLst>
              <a:outerShdw blurRad="190500" algn="tl" rotWithShape="0">
                <a:srgbClr val="000000">
                  <a:alpha val="70000"/>
                </a:srgbClr>
              </a:outerShdw>
            </a:effectLst>
          </p:spPr>
        </p:pic>
        <p:pic>
          <p:nvPicPr>
            <p:cNvPr id="27" name="Picture 26">
              <a:extLst>
                <a:ext uri="{FF2B5EF4-FFF2-40B4-BE49-F238E27FC236}">
                  <a16:creationId xmlns:a16="http://schemas.microsoft.com/office/drawing/2014/main" xmlns="" id="{5F01A817-6941-B0B4-6B2E-3C1615DB7477}"/>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259" t="26018" r="259" b="32237"/>
            <a:stretch/>
          </p:blipFill>
          <p:spPr>
            <a:xfrm>
              <a:off x="6483986" y="4103030"/>
              <a:ext cx="2431415" cy="2519289"/>
            </a:xfrm>
            <a:prstGeom prst="rect">
              <a:avLst/>
            </a:prstGeom>
            <a:ln>
              <a:noFill/>
            </a:ln>
            <a:effectLst>
              <a:outerShdw blurRad="190500" algn="tl" rotWithShape="0">
                <a:srgbClr val="000000">
                  <a:alpha val="70000"/>
                </a:srgbClr>
              </a:outerShdw>
            </a:effectLst>
          </p:spPr>
        </p:pic>
      </p:grpSp>
      <p:sp>
        <p:nvSpPr>
          <p:cNvPr id="28" name="TextBox 27"/>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37" name="Picture 36"/>
          <p:cNvPicPr>
            <a:picLocks noChangeAspect="1"/>
          </p:cNvPicPr>
          <p:nvPr/>
        </p:nvPicPr>
        <p:blipFill rotWithShape="1">
          <a:blip r:embed="rId11" cstate="print">
            <a:extLst>
              <a:ext uri="{BEBA8EAE-BF5A-486C-A8C5-ECC9F3942E4B}">
                <a14:imgProps xmlns:a14="http://schemas.microsoft.com/office/drawing/2010/main">
                  <a14:imgLayer r:embed="rId12">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7" name="Picture 16"/>
          <p:cNvPicPr>
            <a:picLocks noChangeAspect="1"/>
          </p:cNvPicPr>
          <p:nvPr/>
        </p:nvPicPr>
        <p:blipFill rotWithShape="1">
          <a:blip r:embed="rId13">
            <a:extLst>
              <a:ext uri="{28A0092B-C50C-407E-A947-70E740481C1C}">
                <a14:useLocalDpi xmlns:a14="http://schemas.microsoft.com/office/drawing/2010/main" val="0"/>
              </a:ext>
            </a:extLst>
          </a:blip>
          <a:srcRect l="17091" t="13530" r="17243" b="21140"/>
          <a:stretch/>
        </p:blipFill>
        <p:spPr>
          <a:xfrm>
            <a:off x="134858" y="5602876"/>
            <a:ext cx="1006363" cy="1080000"/>
          </a:xfrm>
          <a:prstGeom prst="rect">
            <a:avLst/>
          </a:prstGeom>
        </p:spPr>
      </p:pic>
    </p:spTree>
    <p:extLst>
      <p:ext uri="{BB962C8B-B14F-4D97-AF65-F5344CB8AC3E}">
        <p14:creationId xmlns:p14="http://schemas.microsoft.com/office/powerpoint/2010/main" val="27566926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9" name="Picture 8"/>
          <p:cNvPicPr>
            <a:picLocks noChangeAspect="1"/>
          </p:cNvPicPr>
          <p:nvPr/>
        </p:nvPicPr>
        <p:blipFill>
          <a:blip r:embed="rId3"/>
          <a:stretch>
            <a:fillRect/>
          </a:stretch>
        </p:blipFill>
        <p:spPr>
          <a:xfrm>
            <a:off x="11298407" y="0"/>
            <a:ext cx="638264" cy="6858957"/>
          </a:xfrm>
          <a:prstGeom prst="rect">
            <a:avLst/>
          </a:prstGeom>
        </p:spPr>
      </p:pic>
      <p:sp>
        <p:nvSpPr>
          <p:cNvPr id="10" name="Right Triangle 9"/>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179673" y="105167"/>
            <a:ext cx="4035720"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Products Developed</a:t>
            </a:r>
            <a:endParaRPr lang="en-IN" sz="3600" b="1" dirty="0">
              <a:ln/>
              <a:solidFill>
                <a:schemeClr val="accent3"/>
              </a:solidFill>
            </a:endParaRPr>
          </a:p>
        </p:txBody>
      </p:sp>
      <p:pic>
        <p:nvPicPr>
          <p:cNvPr id="11" name="Picture 10"/>
          <p:cNvPicPr>
            <a:picLocks noChangeAspect="1"/>
          </p:cNvPicPr>
          <p:nvPr/>
        </p:nvPicPr>
        <p:blipFill>
          <a:blip r:embed="rId4"/>
          <a:stretch>
            <a:fillRect/>
          </a:stretch>
        </p:blipFill>
        <p:spPr>
          <a:xfrm>
            <a:off x="0" y="3666836"/>
            <a:ext cx="2160005" cy="3191163"/>
          </a:xfrm>
          <a:prstGeom prst="rect">
            <a:avLst/>
          </a:prstGeom>
        </p:spPr>
      </p:pic>
      <p:grpSp>
        <p:nvGrpSpPr>
          <p:cNvPr id="17" name="Group 16">
            <a:extLst>
              <a:ext uri="{FF2B5EF4-FFF2-40B4-BE49-F238E27FC236}">
                <a16:creationId xmlns:a16="http://schemas.microsoft.com/office/drawing/2014/main" xmlns="" id="{688B7809-42BE-884C-5B0B-041DB1692B99}"/>
              </a:ext>
            </a:extLst>
          </p:cNvPr>
          <p:cNvGrpSpPr/>
          <p:nvPr/>
        </p:nvGrpSpPr>
        <p:grpSpPr>
          <a:xfrm>
            <a:off x="2087418" y="992169"/>
            <a:ext cx="8955660" cy="5547176"/>
            <a:chOff x="208722" y="835150"/>
            <a:chExt cx="7383354" cy="4182254"/>
          </a:xfrm>
        </p:grpSpPr>
        <p:pic>
          <p:nvPicPr>
            <p:cNvPr id="23" name="Picture 22">
              <a:extLst>
                <a:ext uri="{FF2B5EF4-FFF2-40B4-BE49-F238E27FC236}">
                  <a16:creationId xmlns:a16="http://schemas.microsoft.com/office/drawing/2014/main" xmlns="" id="{B8BF2AF8-4F8B-9C02-A99A-41EC39DBA69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25159" b="29548"/>
            <a:stretch/>
          </p:blipFill>
          <p:spPr>
            <a:xfrm>
              <a:off x="2673626" y="835150"/>
              <a:ext cx="2228460" cy="1802348"/>
            </a:xfrm>
            <a:prstGeom prst="rect">
              <a:avLst/>
            </a:prstGeom>
            <a:ln>
              <a:noFill/>
            </a:ln>
            <a:effectLst>
              <a:outerShdw blurRad="190500" algn="tl" rotWithShape="0">
                <a:srgbClr val="000000">
                  <a:alpha val="70000"/>
                </a:srgbClr>
              </a:outerShdw>
            </a:effectLst>
          </p:spPr>
        </p:pic>
        <p:pic>
          <p:nvPicPr>
            <p:cNvPr id="24" name="Picture 23">
              <a:extLst>
                <a:ext uri="{FF2B5EF4-FFF2-40B4-BE49-F238E27FC236}">
                  <a16:creationId xmlns:a16="http://schemas.microsoft.com/office/drawing/2014/main" xmlns="" id="{812D563B-AF54-A53D-D8E3-9639859B9E3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18218" b="28978"/>
            <a:stretch/>
          </p:blipFill>
          <p:spPr>
            <a:xfrm>
              <a:off x="208722" y="2916059"/>
              <a:ext cx="2181135" cy="2101345"/>
            </a:xfrm>
            <a:prstGeom prst="rect">
              <a:avLst/>
            </a:prstGeom>
            <a:ln>
              <a:noFill/>
            </a:ln>
            <a:effectLst>
              <a:outerShdw blurRad="190500" algn="tl" rotWithShape="0">
                <a:srgbClr val="000000">
                  <a:alpha val="70000"/>
                </a:srgbClr>
              </a:outerShdw>
            </a:effectLst>
          </p:spPr>
        </p:pic>
        <p:pic>
          <p:nvPicPr>
            <p:cNvPr id="28" name="Picture 27">
              <a:extLst>
                <a:ext uri="{FF2B5EF4-FFF2-40B4-BE49-F238E27FC236}">
                  <a16:creationId xmlns:a16="http://schemas.microsoft.com/office/drawing/2014/main" xmlns="" id="{D91AAF36-DA18-1044-2812-C05FECB5A27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6080" t="9058" r="29753" b="19650"/>
            <a:stretch/>
          </p:blipFill>
          <p:spPr>
            <a:xfrm>
              <a:off x="5178962" y="835150"/>
              <a:ext cx="2413114" cy="1802348"/>
            </a:xfrm>
            <a:prstGeom prst="rect">
              <a:avLst/>
            </a:prstGeom>
            <a:ln>
              <a:noFill/>
            </a:ln>
            <a:effectLst>
              <a:outerShdw blurRad="190500" algn="tl" rotWithShape="0">
                <a:srgbClr val="000000">
                  <a:alpha val="70000"/>
                </a:srgbClr>
              </a:outerShdw>
            </a:effectLst>
          </p:spPr>
        </p:pic>
        <p:pic>
          <p:nvPicPr>
            <p:cNvPr id="29" name="Picture 28">
              <a:extLst>
                <a:ext uri="{FF2B5EF4-FFF2-40B4-BE49-F238E27FC236}">
                  <a16:creationId xmlns:a16="http://schemas.microsoft.com/office/drawing/2014/main" xmlns="" id="{EBF93E31-E4A7-B7A3-202F-A997021FB749}"/>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28262" r="30976" b="27869"/>
            <a:stretch/>
          </p:blipFill>
          <p:spPr>
            <a:xfrm>
              <a:off x="2670180" y="2926298"/>
              <a:ext cx="2228459" cy="2089071"/>
            </a:xfrm>
            <a:prstGeom prst="rect">
              <a:avLst/>
            </a:prstGeom>
            <a:ln>
              <a:noFill/>
            </a:ln>
            <a:effectLst>
              <a:outerShdw blurRad="190500" algn="tl" rotWithShape="0">
                <a:srgbClr val="000000">
                  <a:alpha val="70000"/>
                </a:srgbClr>
              </a:outerShdw>
            </a:effectLst>
          </p:spPr>
        </p:pic>
        <p:pic>
          <p:nvPicPr>
            <p:cNvPr id="30" name="Picture 29">
              <a:extLst>
                <a:ext uri="{FF2B5EF4-FFF2-40B4-BE49-F238E27FC236}">
                  <a16:creationId xmlns:a16="http://schemas.microsoft.com/office/drawing/2014/main" xmlns="" id="{EF1EE4D2-0104-EE94-0A17-2750DE42F636}"/>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18471" r="32704"/>
            <a:stretch/>
          </p:blipFill>
          <p:spPr>
            <a:xfrm>
              <a:off x="208722" y="835150"/>
              <a:ext cx="2188027" cy="1802348"/>
            </a:xfrm>
            <a:prstGeom prst="rect">
              <a:avLst/>
            </a:prstGeom>
            <a:ln>
              <a:noFill/>
            </a:ln>
            <a:effectLst>
              <a:outerShdw blurRad="190500" algn="tl" rotWithShape="0">
                <a:srgbClr val="000000">
                  <a:alpha val="70000"/>
                </a:srgbClr>
              </a:outerShdw>
            </a:effectLst>
          </p:spPr>
        </p:pic>
        <p:pic>
          <p:nvPicPr>
            <p:cNvPr id="31" name="Picture 30">
              <a:extLst>
                <a:ext uri="{FF2B5EF4-FFF2-40B4-BE49-F238E27FC236}">
                  <a16:creationId xmlns:a16="http://schemas.microsoft.com/office/drawing/2014/main" xmlns="" id="{F3A60F0E-56A7-B479-B90F-F0A72DE680C9}"/>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18751" t="10497" r="9165" b="14865"/>
            <a:stretch/>
          </p:blipFill>
          <p:spPr>
            <a:xfrm>
              <a:off x="5178961" y="2948013"/>
              <a:ext cx="2413114" cy="2067356"/>
            </a:xfrm>
            <a:prstGeom prst="rect">
              <a:avLst/>
            </a:prstGeom>
            <a:ln>
              <a:noFill/>
            </a:ln>
            <a:effectLst>
              <a:outerShdw blurRad="190500" algn="tl" rotWithShape="0">
                <a:srgbClr val="000000">
                  <a:alpha val="70000"/>
                </a:srgbClr>
              </a:outerShdw>
            </a:effectLst>
          </p:spPr>
        </p:pic>
      </p:grpSp>
      <p:sp>
        <p:nvSpPr>
          <p:cNvPr id="32" name="TextBox 31"/>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34" name="Picture 33"/>
          <p:cNvPicPr>
            <a:picLocks noChangeAspect="1"/>
          </p:cNvPicPr>
          <p:nvPr/>
        </p:nvPicPr>
        <p:blipFill rotWithShape="1">
          <a:blip r:embed="rId11" cstate="print">
            <a:extLst>
              <a:ext uri="{BEBA8EAE-BF5A-486C-A8C5-ECC9F3942E4B}">
                <a14:imgProps xmlns:a14="http://schemas.microsoft.com/office/drawing/2010/main">
                  <a14:imgLayer r:embed="rId12">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8" name="Picture 17"/>
          <p:cNvPicPr>
            <a:picLocks noChangeAspect="1"/>
          </p:cNvPicPr>
          <p:nvPr/>
        </p:nvPicPr>
        <p:blipFill rotWithShape="1">
          <a:blip r:embed="rId13">
            <a:extLst>
              <a:ext uri="{28A0092B-C50C-407E-A947-70E740481C1C}">
                <a14:useLocalDpi xmlns:a14="http://schemas.microsoft.com/office/drawing/2010/main" val="0"/>
              </a:ext>
            </a:extLst>
          </a:blip>
          <a:srcRect l="17091" t="13530" r="17243" b="21140"/>
          <a:stretch/>
        </p:blipFill>
        <p:spPr>
          <a:xfrm>
            <a:off x="161384" y="5618446"/>
            <a:ext cx="1006363" cy="1080000"/>
          </a:xfrm>
          <a:prstGeom prst="rect">
            <a:avLst/>
          </a:prstGeom>
        </p:spPr>
      </p:pic>
    </p:spTree>
    <p:extLst>
      <p:ext uri="{BB962C8B-B14F-4D97-AF65-F5344CB8AC3E}">
        <p14:creationId xmlns:p14="http://schemas.microsoft.com/office/powerpoint/2010/main" val="27879646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9" name="Picture 8"/>
          <p:cNvPicPr>
            <a:picLocks noChangeAspect="1"/>
          </p:cNvPicPr>
          <p:nvPr/>
        </p:nvPicPr>
        <p:blipFill>
          <a:blip r:embed="rId3"/>
          <a:stretch>
            <a:fillRect/>
          </a:stretch>
        </p:blipFill>
        <p:spPr>
          <a:xfrm>
            <a:off x="11298407" y="0"/>
            <a:ext cx="638264" cy="6858957"/>
          </a:xfrm>
          <a:prstGeom prst="rect">
            <a:avLst/>
          </a:prstGeom>
        </p:spPr>
      </p:pic>
      <p:sp>
        <p:nvSpPr>
          <p:cNvPr id="10" name="Right Triangle 9"/>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179673" y="105167"/>
            <a:ext cx="9035102"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Products Developed – Rubber &amp; </a:t>
            </a:r>
            <a:r>
              <a:rPr lang="en-IN" sz="3600" b="1" dirty="0">
                <a:ln/>
                <a:solidFill>
                  <a:schemeClr val="accent3"/>
                </a:solidFill>
              </a:rPr>
              <a:t>P</a:t>
            </a:r>
            <a:r>
              <a:rPr lang="en-IN" sz="3600" b="1" dirty="0" smtClean="0">
                <a:ln/>
                <a:solidFill>
                  <a:schemeClr val="accent3"/>
                </a:solidFill>
              </a:rPr>
              <a:t>lastic Saddle</a:t>
            </a:r>
            <a:endParaRPr lang="en-IN" sz="3600" b="1" dirty="0">
              <a:ln/>
              <a:solidFill>
                <a:schemeClr val="accent3"/>
              </a:solidFill>
            </a:endParaRPr>
          </a:p>
        </p:txBody>
      </p:sp>
      <p:pic>
        <p:nvPicPr>
          <p:cNvPr id="11" name="Picture 10"/>
          <p:cNvPicPr>
            <a:picLocks noChangeAspect="1"/>
          </p:cNvPicPr>
          <p:nvPr/>
        </p:nvPicPr>
        <p:blipFill>
          <a:blip r:embed="rId4"/>
          <a:stretch>
            <a:fillRect/>
          </a:stretch>
        </p:blipFill>
        <p:spPr>
          <a:xfrm>
            <a:off x="0" y="3666836"/>
            <a:ext cx="2160005" cy="3191163"/>
          </a:xfrm>
          <a:prstGeom prst="rect">
            <a:avLst/>
          </a:prstGeom>
        </p:spPr>
      </p:pic>
      <p:sp>
        <p:nvSpPr>
          <p:cNvPr id="32" name="TextBox 31"/>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34" name="Picture 33"/>
          <p:cNvPicPr>
            <a:picLocks noChangeAspect="1"/>
          </p:cNvPicPr>
          <p:nvPr/>
        </p:nvPicPr>
        <p:blipFill rotWithShape="1">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8" name="Picture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60828" y="3822759"/>
            <a:ext cx="2477842" cy="2879316"/>
          </a:xfrm>
          <a:prstGeom prst="rect">
            <a:avLst/>
          </a:prstGeom>
          <a:ln>
            <a:noFill/>
          </a:ln>
          <a:effectLst>
            <a:outerShdw blurRad="190500" algn="tl" rotWithShape="0">
              <a:srgbClr val="000000">
                <a:alpha val="70000"/>
              </a:srgbClr>
            </a:outerShdw>
          </a:effectLst>
        </p:spPr>
      </p:pic>
      <p:pic>
        <p:nvPicPr>
          <p:cNvPr id="19" name="Picture 1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20624" y="935118"/>
            <a:ext cx="3681144" cy="2755978"/>
          </a:xfrm>
          <a:prstGeom prst="rect">
            <a:avLst/>
          </a:prstGeom>
          <a:ln>
            <a:noFill/>
          </a:ln>
          <a:effectLst>
            <a:outerShdw blurRad="190500" algn="tl" rotWithShape="0">
              <a:srgbClr val="000000">
                <a:alpha val="70000"/>
              </a:srgbClr>
            </a:outerShdw>
          </a:effectLst>
        </p:spPr>
      </p:pic>
      <p:pic>
        <p:nvPicPr>
          <p:cNvPr id="2" name="Picture 1"/>
          <p:cNvPicPr>
            <a:picLocks noChangeAspect="1"/>
          </p:cNvPicPr>
          <p:nvPr/>
        </p:nvPicPr>
        <p:blipFill rotWithShape="1">
          <a:blip r:embed="rId9" cstate="print">
            <a:extLst>
              <a:ext uri="{28A0092B-C50C-407E-A947-70E740481C1C}">
                <a14:useLocalDpi xmlns:a14="http://schemas.microsoft.com/office/drawing/2010/main" val="0"/>
              </a:ext>
            </a:extLst>
          </a:blip>
          <a:srcRect l="27063" t="12410" r="23747" b="20855"/>
          <a:stretch/>
        </p:blipFill>
        <p:spPr>
          <a:xfrm flipV="1">
            <a:off x="5842338" y="941836"/>
            <a:ext cx="1372278" cy="3922771"/>
          </a:xfrm>
          <a:prstGeom prst="rect">
            <a:avLst/>
          </a:prstGeom>
          <a:ln>
            <a:noFill/>
          </a:ln>
          <a:effectLst>
            <a:outerShdw blurRad="190500" algn="tl" rotWithShape="0">
              <a:srgbClr val="000000">
                <a:alpha val="70000"/>
              </a:srgbClr>
            </a:outerShdw>
          </a:effectLst>
        </p:spPr>
      </p:pic>
      <p:pic>
        <p:nvPicPr>
          <p:cNvPr id="3" name="Picture 2"/>
          <p:cNvPicPr>
            <a:picLocks noChangeAspect="1"/>
          </p:cNvPicPr>
          <p:nvPr/>
        </p:nvPicPr>
        <p:blipFill rotWithShape="1">
          <a:blip r:embed="rId10">
            <a:extLst>
              <a:ext uri="{28A0092B-C50C-407E-A947-70E740481C1C}">
                <a14:useLocalDpi xmlns:a14="http://schemas.microsoft.com/office/drawing/2010/main" val="0"/>
              </a:ext>
            </a:extLst>
          </a:blip>
          <a:srcRect l="31068" t="20267" r="29472" b="23874"/>
          <a:stretch/>
        </p:blipFill>
        <p:spPr>
          <a:xfrm>
            <a:off x="7753074" y="941838"/>
            <a:ext cx="1481329" cy="3922770"/>
          </a:xfrm>
          <a:prstGeom prst="rect">
            <a:avLst/>
          </a:prstGeom>
          <a:ln>
            <a:noFill/>
          </a:ln>
          <a:effectLst>
            <a:outerShdw blurRad="190500" algn="tl" rotWithShape="0">
              <a:srgbClr val="000000">
                <a:alpha val="70000"/>
              </a:srgbClr>
            </a:outerShdw>
          </a:effectLst>
        </p:spPr>
      </p:pic>
      <p:pic>
        <p:nvPicPr>
          <p:cNvPr id="4" name="Picture 3"/>
          <p:cNvPicPr>
            <a:picLocks noChangeAspect="1"/>
          </p:cNvPicPr>
          <p:nvPr/>
        </p:nvPicPr>
        <p:blipFill rotWithShape="1">
          <a:blip r:embed="rId11">
            <a:extLst>
              <a:ext uri="{28A0092B-C50C-407E-A947-70E740481C1C}">
                <a14:useLocalDpi xmlns:a14="http://schemas.microsoft.com/office/drawing/2010/main" val="0"/>
              </a:ext>
            </a:extLst>
          </a:blip>
          <a:srcRect l="32640" t="6812" r="31563" b="14308"/>
          <a:stretch/>
        </p:blipFill>
        <p:spPr>
          <a:xfrm>
            <a:off x="9510243" y="935118"/>
            <a:ext cx="1380288" cy="4032899"/>
          </a:xfrm>
          <a:prstGeom prst="rect">
            <a:avLst/>
          </a:prstGeom>
          <a:ln>
            <a:noFill/>
          </a:ln>
          <a:effectLst>
            <a:outerShdw blurRad="190500" algn="tl" rotWithShape="0">
              <a:srgbClr val="000000">
                <a:alpha val="70000"/>
              </a:srgbClr>
            </a:outerShdw>
          </a:effectLst>
        </p:spPr>
      </p:pic>
      <p:pic>
        <p:nvPicPr>
          <p:cNvPr id="15" name="Picture 14"/>
          <p:cNvPicPr>
            <a:picLocks noChangeAspect="1"/>
          </p:cNvPicPr>
          <p:nvPr/>
        </p:nvPicPr>
        <p:blipFill rotWithShape="1">
          <a:blip r:embed="rId12">
            <a:extLst>
              <a:ext uri="{28A0092B-C50C-407E-A947-70E740481C1C}">
                <a14:useLocalDpi xmlns:a14="http://schemas.microsoft.com/office/drawing/2010/main" val="0"/>
              </a:ext>
            </a:extLst>
          </a:blip>
          <a:srcRect l="17091" t="13530" r="17243" b="21140"/>
          <a:stretch/>
        </p:blipFill>
        <p:spPr>
          <a:xfrm>
            <a:off x="170528" y="5634922"/>
            <a:ext cx="1006363" cy="1080000"/>
          </a:xfrm>
          <a:prstGeom prst="rect">
            <a:avLst/>
          </a:prstGeom>
        </p:spPr>
      </p:pic>
    </p:spTree>
    <p:extLst>
      <p:ext uri="{BB962C8B-B14F-4D97-AF65-F5344CB8AC3E}">
        <p14:creationId xmlns:p14="http://schemas.microsoft.com/office/powerpoint/2010/main" val="12586647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179673" y="105167"/>
            <a:ext cx="3775329"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dirty="0" smtClean="0">
                <a:ln/>
                <a:solidFill>
                  <a:schemeClr val="accent3"/>
                </a:solidFill>
              </a:rPr>
              <a:t>Projected Business</a:t>
            </a:r>
            <a:endParaRPr lang="en-IN" sz="3600" b="1" dirty="0">
              <a:ln/>
              <a:solidFill>
                <a:schemeClr val="accent3"/>
              </a:solidFill>
            </a:endParaRPr>
          </a:p>
        </p:txBody>
      </p:sp>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9" name="Picture 8"/>
          <p:cNvPicPr>
            <a:picLocks noChangeAspect="1"/>
          </p:cNvPicPr>
          <p:nvPr/>
        </p:nvPicPr>
        <p:blipFill>
          <a:blip r:embed="rId3"/>
          <a:stretch>
            <a:fillRect/>
          </a:stretch>
        </p:blipFill>
        <p:spPr>
          <a:xfrm>
            <a:off x="11298407" y="0"/>
            <a:ext cx="638264" cy="6858957"/>
          </a:xfrm>
          <a:prstGeom prst="rect">
            <a:avLst/>
          </a:prstGeom>
        </p:spPr>
      </p:pic>
      <p:sp>
        <p:nvSpPr>
          <p:cNvPr id="10" name="Right Triangle 9"/>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p:cNvPicPr>
            <a:picLocks noChangeAspect="1"/>
          </p:cNvPicPr>
          <p:nvPr/>
        </p:nvPicPr>
        <p:blipFill>
          <a:blip r:embed="rId4"/>
          <a:stretch>
            <a:fillRect/>
          </a:stretch>
        </p:blipFill>
        <p:spPr>
          <a:xfrm>
            <a:off x="0" y="3666836"/>
            <a:ext cx="2160005" cy="3191163"/>
          </a:xfrm>
          <a:prstGeom prst="rect">
            <a:avLst/>
          </a:prstGeom>
        </p:spPr>
      </p:pic>
      <p:graphicFrame>
        <p:nvGraphicFramePr>
          <p:cNvPr id="15" name="Content Placeholder 4">
            <a:extLst>
              <a:ext uri="{FF2B5EF4-FFF2-40B4-BE49-F238E27FC236}">
                <a16:creationId xmlns:a16="http://schemas.microsoft.com/office/drawing/2014/main" xmlns="" id="{77371051-7F27-0048-97F9-9975129E6FD8}"/>
              </a:ext>
            </a:extLst>
          </p:cNvPr>
          <p:cNvGraphicFramePr>
            <a:graphicFrameLocks/>
          </p:cNvGraphicFramePr>
          <p:nvPr>
            <p:extLst>
              <p:ext uri="{D42A27DB-BD31-4B8C-83A1-F6EECF244321}">
                <p14:modId xmlns:p14="http://schemas.microsoft.com/office/powerpoint/2010/main" val="3924707875"/>
              </p:ext>
            </p:extLst>
          </p:nvPr>
        </p:nvGraphicFramePr>
        <p:xfrm>
          <a:off x="1728546" y="1373332"/>
          <a:ext cx="9642448" cy="5138304"/>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22" name="Picture 21"/>
          <p:cNvPicPr>
            <a:picLocks noChangeAspect="1"/>
          </p:cNvPicPr>
          <p:nvPr/>
        </p:nvPicPr>
        <p:blipFill rotWithShape="1">
          <a:blip r:embed="rId6" cstate="print">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10322557" y="-19683"/>
            <a:ext cx="910053" cy="578484"/>
          </a:xfrm>
          <a:prstGeom prst="rect">
            <a:avLst/>
          </a:prstGeom>
        </p:spPr>
      </p:pic>
      <p:pic>
        <p:nvPicPr>
          <p:cNvPr id="12" name="Picture 11"/>
          <p:cNvPicPr>
            <a:picLocks noChangeAspect="1"/>
          </p:cNvPicPr>
          <p:nvPr/>
        </p:nvPicPr>
        <p:blipFill rotWithShape="1">
          <a:blip r:embed="rId8">
            <a:extLst>
              <a:ext uri="{28A0092B-C50C-407E-A947-70E740481C1C}">
                <a14:useLocalDpi xmlns:a14="http://schemas.microsoft.com/office/drawing/2010/main" val="0"/>
              </a:ext>
            </a:extLst>
          </a:blip>
          <a:srcRect l="17091" t="13530" r="17243" b="21140"/>
          <a:stretch/>
        </p:blipFill>
        <p:spPr>
          <a:xfrm>
            <a:off x="156854" y="5638628"/>
            <a:ext cx="1006363" cy="1080000"/>
          </a:xfrm>
          <a:prstGeom prst="rect">
            <a:avLst/>
          </a:prstGeom>
        </p:spPr>
      </p:pic>
    </p:spTree>
    <p:extLst>
      <p:ext uri="{BB962C8B-B14F-4D97-AF65-F5344CB8AC3E}">
        <p14:creationId xmlns:p14="http://schemas.microsoft.com/office/powerpoint/2010/main" val="17542136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1430000" y="0"/>
            <a:ext cx="762000" cy="6858957"/>
          </a:xfrm>
          <a:prstGeom prst="rect">
            <a:avLst/>
          </a:prstGeom>
        </p:spPr>
      </p:pic>
      <p:pic>
        <p:nvPicPr>
          <p:cNvPr id="14" name="Picture 13"/>
          <p:cNvPicPr>
            <a:picLocks noChangeAspect="1"/>
          </p:cNvPicPr>
          <p:nvPr/>
        </p:nvPicPr>
        <p:blipFill>
          <a:blip r:embed="rId3"/>
          <a:stretch>
            <a:fillRect/>
          </a:stretch>
        </p:blipFill>
        <p:spPr>
          <a:xfrm>
            <a:off x="11298407" y="0"/>
            <a:ext cx="638264" cy="6858957"/>
          </a:xfrm>
          <a:prstGeom prst="rect">
            <a:avLst/>
          </a:prstGeom>
        </p:spPr>
      </p:pic>
      <p:sp>
        <p:nvSpPr>
          <p:cNvPr id="13" name="Right Triangle 12"/>
          <p:cNvSpPr/>
          <p:nvPr/>
        </p:nvSpPr>
        <p:spPr>
          <a:xfrm>
            <a:off x="0" y="3666836"/>
            <a:ext cx="2087418" cy="3191164"/>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p:cNvPicPr>
            <a:picLocks noChangeAspect="1"/>
          </p:cNvPicPr>
          <p:nvPr/>
        </p:nvPicPr>
        <p:blipFill>
          <a:blip r:embed="rId4"/>
          <a:stretch>
            <a:fillRect/>
          </a:stretch>
        </p:blipFill>
        <p:spPr>
          <a:xfrm>
            <a:off x="0" y="3666836"/>
            <a:ext cx="2160005" cy="3191163"/>
          </a:xfrm>
          <a:prstGeom prst="rect">
            <a:avLst/>
          </a:prstGeom>
        </p:spPr>
      </p:pic>
      <p:pic>
        <p:nvPicPr>
          <p:cNvPr id="17" name="Picture 16"/>
          <p:cNvPicPr>
            <a:picLocks noChangeAspect="1"/>
          </p:cNvPicPr>
          <p:nvPr/>
        </p:nvPicPr>
        <p:blipFill rotWithShape="1">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l="14366" t="14648" r="12957" b="16056"/>
          <a:stretch/>
        </p:blipFill>
        <p:spPr>
          <a:xfrm>
            <a:off x="230256" y="105166"/>
            <a:ext cx="2048780" cy="1302327"/>
          </a:xfrm>
          <a:prstGeom prst="rect">
            <a:avLst/>
          </a:prstGeom>
        </p:spPr>
      </p:pic>
      <p:grpSp>
        <p:nvGrpSpPr>
          <p:cNvPr id="5" name="Group 4"/>
          <p:cNvGrpSpPr/>
          <p:nvPr/>
        </p:nvGrpSpPr>
        <p:grpSpPr>
          <a:xfrm>
            <a:off x="4572590" y="2384764"/>
            <a:ext cx="6598376" cy="3405775"/>
            <a:chOff x="4572590" y="2384764"/>
            <a:chExt cx="6598376" cy="3405775"/>
          </a:xfrm>
        </p:grpSpPr>
        <p:grpSp>
          <p:nvGrpSpPr>
            <p:cNvPr id="21" name="Group 20"/>
            <p:cNvGrpSpPr/>
            <p:nvPr/>
          </p:nvGrpSpPr>
          <p:grpSpPr>
            <a:xfrm>
              <a:off x="4572590" y="2384764"/>
              <a:ext cx="6598376" cy="3405775"/>
              <a:chOff x="3811376" y="1521164"/>
              <a:chExt cx="6598376" cy="3405775"/>
            </a:xfrm>
          </p:grpSpPr>
          <p:grpSp>
            <p:nvGrpSpPr>
              <p:cNvPr id="7" name="Group 6"/>
              <p:cNvGrpSpPr/>
              <p:nvPr/>
            </p:nvGrpSpPr>
            <p:grpSpPr>
              <a:xfrm>
                <a:off x="3811376" y="1521164"/>
                <a:ext cx="6598376" cy="3126006"/>
                <a:chOff x="2794892" y="1907244"/>
                <a:chExt cx="6598376" cy="3126006"/>
              </a:xfrm>
            </p:grpSpPr>
            <p:sp>
              <p:nvSpPr>
                <p:cNvPr id="2" name="TextBox 1"/>
                <p:cNvSpPr txBox="1"/>
                <p:nvPr/>
              </p:nvSpPr>
              <p:spPr>
                <a:xfrm>
                  <a:off x="2794892" y="1907244"/>
                  <a:ext cx="3017173" cy="369332"/>
                </a:xfrm>
                <a:prstGeom prst="rect">
                  <a:avLst/>
                </a:prstGeom>
                <a:noFill/>
              </p:spPr>
              <p:txBody>
                <a:bodyPr wrap="none" rtlCol="0">
                  <a:spAutoFit/>
                </a:bodyPr>
                <a:lstStyle/>
                <a:p>
                  <a:r>
                    <a:rPr lang="en-IN" dirty="0" smtClean="0"/>
                    <a:t>Company Address 		:</a:t>
                  </a:r>
                  <a:endParaRPr lang="en-IN" dirty="0"/>
                </a:p>
              </p:txBody>
            </p:sp>
            <p:sp>
              <p:nvSpPr>
                <p:cNvPr id="11" name="TextBox 10"/>
                <p:cNvSpPr txBox="1"/>
                <p:nvPr/>
              </p:nvSpPr>
              <p:spPr>
                <a:xfrm>
                  <a:off x="2794892" y="4018989"/>
                  <a:ext cx="3070071" cy="369332"/>
                </a:xfrm>
                <a:prstGeom prst="rect">
                  <a:avLst/>
                </a:prstGeom>
                <a:noFill/>
              </p:spPr>
              <p:txBody>
                <a:bodyPr wrap="none" rtlCol="0">
                  <a:spAutoFit/>
                </a:bodyPr>
                <a:lstStyle/>
                <a:p>
                  <a:r>
                    <a:rPr lang="en-IN" dirty="0" smtClean="0"/>
                    <a:t>Email 			: </a:t>
                  </a:r>
                  <a:endParaRPr lang="en-IN" dirty="0"/>
                </a:p>
              </p:txBody>
            </p:sp>
            <p:sp>
              <p:nvSpPr>
                <p:cNvPr id="12" name="TextBox 11"/>
                <p:cNvSpPr txBox="1"/>
                <p:nvPr/>
              </p:nvSpPr>
              <p:spPr>
                <a:xfrm>
                  <a:off x="2794892" y="4663918"/>
                  <a:ext cx="3070071" cy="369332"/>
                </a:xfrm>
                <a:prstGeom prst="rect">
                  <a:avLst/>
                </a:prstGeom>
                <a:noFill/>
              </p:spPr>
              <p:txBody>
                <a:bodyPr wrap="none" rtlCol="0">
                  <a:spAutoFit/>
                </a:bodyPr>
                <a:lstStyle/>
                <a:p>
                  <a:r>
                    <a:rPr lang="en-IN" dirty="0" smtClean="0"/>
                    <a:t>Contact No 		: </a:t>
                  </a:r>
                  <a:endParaRPr lang="en-IN" dirty="0"/>
                </a:p>
              </p:txBody>
            </p:sp>
            <p:sp>
              <p:nvSpPr>
                <p:cNvPr id="3" name="Rectangle 2"/>
                <p:cNvSpPr/>
                <p:nvPr/>
              </p:nvSpPr>
              <p:spPr>
                <a:xfrm>
                  <a:off x="6033892" y="3853504"/>
                  <a:ext cx="3359376" cy="646331"/>
                </a:xfrm>
                <a:prstGeom prst="rect">
                  <a:avLst/>
                </a:prstGeom>
              </p:spPr>
              <p:txBody>
                <a:bodyPr wrap="square">
                  <a:spAutoFit/>
                </a:bodyPr>
                <a:lstStyle/>
                <a:p>
                  <a:r>
                    <a:rPr lang="en-US" i="1" dirty="0" smtClean="0"/>
                    <a:t>development@gtechent.com</a:t>
                  </a:r>
                  <a:endParaRPr lang="en-US" i="1" dirty="0"/>
                </a:p>
                <a:p>
                  <a:r>
                    <a:rPr lang="en-US" i="1" dirty="0" smtClean="0"/>
                    <a:t>gtechenterprises21@gmail.com</a:t>
                  </a:r>
                  <a:endParaRPr lang="en-US" i="1" dirty="0"/>
                </a:p>
              </p:txBody>
            </p:sp>
          </p:grpSp>
          <p:sp>
            <p:nvSpPr>
              <p:cNvPr id="20" name="Rectangle 19"/>
              <p:cNvSpPr/>
              <p:nvPr/>
            </p:nvSpPr>
            <p:spPr>
              <a:xfrm>
                <a:off x="7050376" y="4280608"/>
                <a:ext cx="3342640" cy="646331"/>
              </a:xfrm>
              <a:prstGeom prst="rect">
                <a:avLst/>
              </a:prstGeom>
            </p:spPr>
            <p:txBody>
              <a:bodyPr wrap="square">
                <a:spAutoFit/>
              </a:bodyPr>
              <a:lstStyle/>
              <a:p>
                <a:r>
                  <a:rPr lang="en-US" i="1" dirty="0"/>
                  <a:t>Dr. Ganesh Jadhav - 8087510160</a:t>
                </a:r>
              </a:p>
              <a:p>
                <a:r>
                  <a:rPr lang="en-US" i="1" dirty="0" smtClean="0"/>
                  <a:t>Mr. Parag Patil - 9021774809</a:t>
                </a:r>
                <a:endParaRPr lang="en-US" i="1" dirty="0"/>
              </a:p>
            </p:txBody>
          </p:sp>
        </p:grpSp>
        <p:sp>
          <p:nvSpPr>
            <p:cNvPr id="4" name="Rectangle 3"/>
            <p:cNvSpPr/>
            <p:nvPr/>
          </p:nvSpPr>
          <p:spPr>
            <a:xfrm>
              <a:off x="7811590" y="2384764"/>
              <a:ext cx="3295199" cy="1477328"/>
            </a:xfrm>
            <a:prstGeom prst="rect">
              <a:avLst/>
            </a:prstGeom>
          </p:spPr>
          <p:txBody>
            <a:bodyPr wrap="square">
              <a:spAutoFit/>
            </a:bodyPr>
            <a:lstStyle/>
            <a:p>
              <a:pPr defTabSz="1122363"/>
              <a:r>
                <a:rPr lang="en-US" dirty="0" smtClean="0"/>
                <a:t>Gat No. 1652</a:t>
              </a:r>
            </a:p>
            <a:p>
              <a:pPr defTabSz="1122363"/>
              <a:r>
                <a:rPr lang="en-US" dirty="0" smtClean="0"/>
                <a:t>Patil Nagar, Behind MNGL Pump,</a:t>
              </a:r>
              <a:endParaRPr lang="en-US" dirty="0"/>
            </a:p>
            <a:p>
              <a:pPr defTabSz="1122363"/>
              <a:r>
                <a:rPr lang="en-US" dirty="0" smtClean="0"/>
                <a:t>Dehu </a:t>
              </a:r>
              <a:r>
                <a:rPr lang="en-US" dirty="0"/>
                <a:t>- Alandi Road, </a:t>
              </a:r>
            </a:p>
            <a:p>
              <a:pPr defTabSz="1122363"/>
              <a:r>
                <a:rPr lang="en-US" dirty="0" smtClean="0"/>
                <a:t>Chikhali, </a:t>
              </a:r>
              <a:r>
                <a:rPr lang="en-US" dirty="0"/>
                <a:t>Pune - 411062, </a:t>
              </a:r>
            </a:p>
            <a:p>
              <a:pPr defTabSz="1122363"/>
              <a:r>
                <a:rPr lang="en-US" dirty="0"/>
                <a:t>India  </a:t>
              </a:r>
            </a:p>
          </p:txBody>
        </p:sp>
      </p:grpSp>
      <p:sp>
        <p:nvSpPr>
          <p:cNvPr id="22" name="TextBox 21"/>
          <p:cNvSpPr txBox="1"/>
          <p:nvPr/>
        </p:nvSpPr>
        <p:spPr>
          <a:xfrm>
            <a:off x="4572591" y="1157818"/>
            <a:ext cx="4765374" cy="892552"/>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nSpc>
                <a:spcPct val="130000"/>
              </a:lnSpc>
            </a:pPr>
            <a:r>
              <a:rPr lang="en-IN" sz="4000" b="1" spc="260" dirty="0" smtClean="0">
                <a:ln/>
                <a:solidFill>
                  <a:schemeClr val="accent3"/>
                </a:solidFill>
              </a:rPr>
              <a:t>GTech Enterprises</a:t>
            </a:r>
            <a:endParaRPr lang="en-IN" sz="4000" b="1" spc="260" dirty="0">
              <a:ln/>
              <a:solidFill>
                <a:schemeClr val="accent3"/>
              </a:solidFill>
            </a:endParaRPr>
          </a:p>
        </p:txBody>
      </p:sp>
      <p:sp>
        <p:nvSpPr>
          <p:cNvPr id="23" name="TextBox 22"/>
          <p:cNvSpPr txBox="1"/>
          <p:nvPr/>
        </p:nvSpPr>
        <p:spPr>
          <a:xfrm rot="16200000">
            <a:off x="10520674" y="1290332"/>
            <a:ext cx="2831997"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IN" sz="2400" b="1" spc="50" dirty="0" smtClean="0">
                <a:ln w="0"/>
                <a:solidFill>
                  <a:schemeClr val="bg2"/>
                </a:solidFill>
                <a:effectLst>
                  <a:innerShdw blurRad="63500" dist="50800" dir="13500000">
                    <a:srgbClr val="000000">
                      <a:alpha val="50000"/>
                    </a:srgbClr>
                  </a:innerShdw>
                </a:effectLst>
              </a:rPr>
              <a:t>GTech Enterprises</a:t>
            </a:r>
            <a:endParaRPr lang="en-IN" sz="2400" b="1" spc="50" dirty="0">
              <a:ln w="0"/>
              <a:solidFill>
                <a:schemeClr val="bg2"/>
              </a:solidFill>
              <a:effectLst>
                <a:innerShdw blurRad="63500" dist="50800" dir="13500000">
                  <a:srgbClr val="000000">
                    <a:alpha val="50000"/>
                  </a:srgbClr>
                </a:innerShdw>
              </a:effectLst>
            </a:endParaRPr>
          </a:p>
        </p:txBody>
      </p:sp>
      <p:pic>
        <p:nvPicPr>
          <p:cNvPr id="24" name="Picture 23"/>
          <p:cNvPicPr>
            <a:picLocks noChangeAspect="1"/>
          </p:cNvPicPr>
          <p:nvPr/>
        </p:nvPicPr>
        <p:blipFill rotWithShape="1">
          <a:blip r:embed="rId7">
            <a:extLst>
              <a:ext uri="{28A0092B-C50C-407E-A947-70E740481C1C}">
                <a14:useLocalDpi xmlns:a14="http://schemas.microsoft.com/office/drawing/2010/main" val="0"/>
              </a:ext>
            </a:extLst>
          </a:blip>
          <a:srcRect l="17091" t="13530" r="17243" b="21140"/>
          <a:stretch/>
        </p:blipFill>
        <p:spPr>
          <a:xfrm>
            <a:off x="157102" y="5639860"/>
            <a:ext cx="1006362" cy="1080000"/>
          </a:xfrm>
          <a:prstGeom prst="rect">
            <a:avLst/>
          </a:prstGeom>
        </p:spPr>
      </p:pic>
      <p:sp>
        <p:nvSpPr>
          <p:cNvPr id="19" name="TextBox 18"/>
          <p:cNvSpPr txBox="1"/>
          <p:nvPr/>
        </p:nvSpPr>
        <p:spPr>
          <a:xfrm>
            <a:off x="4572590" y="3935153"/>
            <a:ext cx="3070071" cy="369332"/>
          </a:xfrm>
          <a:prstGeom prst="rect">
            <a:avLst/>
          </a:prstGeom>
          <a:noFill/>
        </p:spPr>
        <p:txBody>
          <a:bodyPr wrap="none" rtlCol="0">
            <a:spAutoFit/>
          </a:bodyPr>
          <a:lstStyle/>
          <a:p>
            <a:r>
              <a:rPr lang="en-IN" dirty="0" err="1" smtClean="0"/>
              <a:t>Gst</a:t>
            </a:r>
            <a:r>
              <a:rPr lang="en-IN" dirty="0" smtClean="0"/>
              <a:t> No.			: </a:t>
            </a:r>
            <a:endParaRPr lang="en-IN" dirty="0"/>
          </a:p>
        </p:txBody>
      </p:sp>
      <p:sp>
        <p:nvSpPr>
          <p:cNvPr id="25" name="TextBox 24"/>
          <p:cNvSpPr txBox="1"/>
          <p:nvPr/>
        </p:nvSpPr>
        <p:spPr>
          <a:xfrm>
            <a:off x="7857793" y="3893559"/>
            <a:ext cx="1924181" cy="369332"/>
          </a:xfrm>
          <a:prstGeom prst="rect">
            <a:avLst/>
          </a:prstGeom>
          <a:noFill/>
        </p:spPr>
        <p:txBody>
          <a:bodyPr wrap="none" rtlCol="0">
            <a:spAutoFit/>
          </a:bodyPr>
          <a:lstStyle/>
          <a:p>
            <a:r>
              <a:rPr lang="en-IN" dirty="0" smtClean="0"/>
              <a:t>27ARAPJ5794R1ZX</a:t>
            </a:r>
            <a:endParaRPr lang="en-IN" dirty="0"/>
          </a:p>
        </p:txBody>
      </p:sp>
    </p:spTree>
    <p:extLst>
      <p:ext uri="{BB962C8B-B14F-4D97-AF65-F5344CB8AC3E}">
        <p14:creationId xmlns:p14="http://schemas.microsoft.com/office/powerpoint/2010/main" val="289928231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788</TotalTime>
  <Words>1001</Words>
  <Application>Microsoft Office PowerPoint</Application>
  <PresentationFormat>Widescreen</PresentationFormat>
  <Paragraphs>289</Paragraphs>
  <Slides>21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Links</vt:lpstr>
      </vt:variant>
      <vt:variant>
        <vt:i4>3</vt:i4>
      </vt:variant>
      <vt:variant>
        <vt:lpstr>Slide Titles</vt:lpstr>
      </vt:variant>
      <vt:variant>
        <vt:i4>21</vt:i4>
      </vt:variant>
    </vt:vector>
  </HeadingPairs>
  <TitlesOfParts>
    <vt:vector size="31" baseType="lpstr">
      <vt:lpstr>Arial</vt:lpstr>
      <vt:lpstr>Calibri</vt:lpstr>
      <vt:lpstr>Calibri Light</vt:lpstr>
      <vt:lpstr>Ink Free</vt:lpstr>
      <vt:lpstr>Times New Roman</vt:lpstr>
      <vt:lpstr>Tw Cen MT (Body)</vt:lpstr>
      <vt:lpstr>Office Theme</vt:lpstr>
      <vt:lpstr>D:\PARAG PATIL\Gtech Certificates\Gtech Enterprises ISO 9001-2015.pdf</vt:lpstr>
      <vt:lpstr>D:\PARAG PATIL\Gtech Certificates\Gtech Enterprises 3834.pdf</vt:lpstr>
      <vt:lpstr>D:\PARAG PATIL\Gtech Certificates\Gtech Enterprises ISO 14001-2015.pdf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INDIA</cp:lastModifiedBy>
  <cp:revision>93</cp:revision>
  <dcterms:created xsi:type="dcterms:W3CDTF">2025-03-24T10:09:49Z</dcterms:created>
  <dcterms:modified xsi:type="dcterms:W3CDTF">2026-08-05T11:43:08Z</dcterms:modified>
</cp:coreProperties>
</file>